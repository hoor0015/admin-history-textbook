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324" r:id="rId4"/>
    <p:sldId id="336" r:id="rId5"/>
    <p:sldId id="350" r:id="rId6"/>
    <p:sldId id="351" r:id="rId7"/>
    <p:sldId id="352" r:id="rId8"/>
    <p:sldId id="353" r:id="rId9"/>
    <p:sldId id="354" r:id="rId10"/>
    <p:sldId id="339" r:id="rId11"/>
    <p:sldId id="355" r:id="rId12"/>
    <p:sldId id="356" r:id="rId13"/>
    <p:sldId id="25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2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기말고사 안내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9856067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12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월요일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한울관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B104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시험시간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(~11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객관식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단답형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OX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AI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활용 가능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오픈북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시험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노트북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활용가능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휴대폰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각종 메신저 사용 불가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행정국가 시대의 등장과 규범적 역할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년대는 대공황과 뉴딜 정책으로 정부의 기능이 급격히 확장되면서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기존의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이원론이 붕괴하고 행정의 정치적 역할이 부각되었던 시기임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E.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펜들턴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 Pendleton Herring):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(Public Interest)"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개념을 규범이자 운영 원리로 체계화함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행정을 정치적 합의가 규칙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판정으로 번역되는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전환축으로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보았으며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관료는 집단 간의 차이를 조정하는 큰 부담을 진다고 설명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관료의 역할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관료는 법률이 한정하는 범위 내에서 국가 목적에 대한 자신의 해석을 기록해야 하는 재량을 행사하며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텍스트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콘텍스트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해석학적 결합으로 공익 판단을 낳는 행위임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CF140-E839-F968-F8BD-78EB1E35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275A78-AAD2-2ED1-2F99-D25BA1EE925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93C027-BEF6-0685-CC6A-A0F12FD4CD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A0DDD-8C3C-00A0-16EC-3EA0FBC7E61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4C05F-D8E9-8056-32B3-C3DB920D5BDD}"/>
              </a:ext>
            </a:extLst>
          </p:cNvPr>
          <p:cNvSpPr txBox="1"/>
          <p:nvPr/>
        </p:nvSpPr>
        <p:spPr>
          <a:xfrm>
            <a:off x="1235998" y="757300"/>
            <a:ext cx="610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효율성의 추구와 조직 합리화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BBB75D-7BF1-FF46-AB88-DA3B04C3A6A4}"/>
              </a:ext>
            </a:extLst>
          </p:cNvPr>
          <p:cNvSpPr txBox="1"/>
          <p:nvPr/>
        </p:nvSpPr>
        <p:spPr>
          <a:xfrm>
            <a:off x="1079999" y="1671814"/>
            <a:ext cx="10390741" cy="335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 후반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 1950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관리와 행태주의의 시기로 행정을 과학적이고 효율적인 관리의 문제로 환원하고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이론적 토대를 확립하거나 비판하는 노력이 중심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루서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굴릭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(Luther Gulick):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고전적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이론은 대규모 사업의 분업 단위들 위에 부과되는 ‘조정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(co-ordination)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구조’에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관한 것이었음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최고책임자의 기능을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POSDCORB 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정식화했으며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명령 일원화의 원칙을 명령을 받는 쪽의 책임 명료성을 확보하는 방법으로 강조함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0A0413-608E-05F3-0729-51727003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C40F1B-DE9A-AAAB-F05F-55A910CFFF5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5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62B1-883C-E8B8-8009-4E3DCCE29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44E0A55-9093-7E79-EA42-87322F18AAA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B704A4-B3E2-28ED-2FD8-66E04C5E8C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14F0FC-D7E1-28D8-E27D-5F92E8476FD8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A02B2A-6AAF-F154-29E7-D6CD9AA1404B}"/>
              </a:ext>
            </a:extLst>
          </p:cNvPr>
          <p:cNvSpPr txBox="1"/>
          <p:nvPr/>
        </p:nvSpPr>
        <p:spPr>
          <a:xfrm>
            <a:off x="1235998" y="757300"/>
            <a:ext cx="610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효율성의 추구와 조직 합리화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0233A-6B39-9930-9987-C18A5FC88C3D}"/>
              </a:ext>
            </a:extLst>
          </p:cNvPr>
          <p:cNvSpPr txBox="1"/>
          <p:nvPr/>
        </p:nvSpPr>
        <p:spPr>
          <a:xfrm>
            <a:off x="1079999" y="1671814"/>
            <a:ext cx="10390741" cy="335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허버트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사이먼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(Herbert A. Simon)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굴릭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등이 제시한 행정의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실제로는 상충하여 어떤 상황에서도 적용될 수 있는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격언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(proverbs)"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불과하다고 비판하며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이론은 반증 가능성을 가져야 한다고 주장함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제한된 합리성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(bounded rationality)"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제시하며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 행정적 인간은 이상적인 경제적 인간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(economic man)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달리 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시간의 제약 하에서 만족화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(satisficing)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추구한다고 보았음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458CB77-347B-63A4-6548-656DFF7BA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9DE127B-2FEA-CE3E-873D-4F58126681A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940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A58DA-355E-05FB-B379-BD981CD4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9E859D0-DEB3-052B-3AC5-76C76DDEB43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DBB192-C6A5-1162-D275-A5B72CF1963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E1971E-EB3A-9533-9347-5082732ACC6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D259DE-8EB7-2B02-CFC6-B8DABD2D2884}"/>
              </a:ext>
            </a:extLst>
          </p:cNvPr>
          <p:cNvSpPr txBox="1"/>
          <p:nvPr/>
        </p:nvSpPr>
        <p:spPr>
          <a:xfrm>
            <a:off x="1235998" y="757300"/>
            <a:ext cx="610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효율성의 추구와 조직 합리화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D3023A-7689-995D-D813-BA37E16086AF}"/>
              </a:ext>
            </a:extLst>
          </p:cNvPr>
          <p:cNvSpPr txBox="1"/>
          <p:nvPr/>
        </p:nvSpPr>
        <p:spPr>
          <a:xfrm>
            <a:off x="1079999" y="1671814"/>
            <a:ext cx="10390741" cy="335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로버트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K.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머튼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(Robert K. Merton)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머튼은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관료제의 병리 현상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형식주의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개인의 일탈이 아니라 구조적 결과로 이해되어야 한다고 분석하였음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‘훈련된 무능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(trained incapacity)’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개념을 통해 과거에 성공했던 기술이나 습관이 변화된 환경에서 부적절한 반응을 초래하는 메커니즘을 설명했으며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 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(Goal Displacement)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절차 준수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성과 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대체하여 형식주의를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심화시키는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과정이라고 보았음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9848F8F-E6DD-5B64-B51C-9DB07D77C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F95A76F-36F5-DBAF-0671-82E43BFAA44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28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47C23-EF88-43FF-6980-BFCA1370C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70D30F4-FA30-D95D-3261-551F2571DF1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25F333-714D-2575-3A79-BBB04B052F8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369E12-2C96-ECE5-D629-3AE46A52E2E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7B21E2-3F96-04AD-871F-7782EB14CBD2}"/>
              </a:ext>
            </a:extLst>
          </p:cNvPr>
          <p:cNvSpPr txBox="1"/>
          <p:nvPr/>
        </p:nvSpPr>
        <p:spPr>
          <a:xfrm>
            <a:off x="1235997" y="757300"/>
            <a:ext cx="6384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정책과 예산의 합리화 노력과 현실적 비판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FF43D8-E390-B816-B3BA-169750CEEBEB}"/>
              </a:ext>
            </a:extLst>
          </p:cNvPr>
          <p:cNvSpPr txBox="1"/>
          <p:nvPr/>
        </p:nvSpPr>
        <p:spPr>
          <a:xfrm>
            <a:off x="1079999" y="1671814"/>
            <a:ext cx="10390741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1950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 후반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 1960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년대는 거대해진 정부가 합리적인 정책결정과 재정 운영을 하도록 돕기 위해 경제학적 분석 기법이 적극 도입되었지만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동시에 그 한계에 대한 실무적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비판도 강화되었던 시기임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찰스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E.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린드블롬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(Charles E. Lindblom)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총체주의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뿌리’ 방식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인간의 지적 능력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제약 때문에 사실상 불가능하며 비현실적이라고 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정책결정이 기본 전제에서 조금씩 바꾸어 나가는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연속적 제한 비교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점진주의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가지’ 방식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통해 이루어진다고 주장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좋은 정책의 기준은 목표에 대한 논리적 적합성보다는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의견을 달리하는 참여자들 사이의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정도가 주된 시험 기준이 된다고 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79FCCD6-8433-7B2B-5635-AE557A664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98DAD34-45D7-1926-72E0-C5B55B30B54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61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33823-759D-4557-9673-C8E399EE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1F87D50-EB40-CA3C-E746-6A7E60EAEB6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14FFFD-016E-A20D-9914-5A4A9C6699D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26E0D1-C0B7-6C4A-25F7-78A6D539EF36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E5F7E1-298E-DC41-4A08-D0074A1D739B}"/>
              </a:ext>
            </a:extLst>
          </p:cNvPr>
          <p:cNvSpPr txBox="1"/>
          <p:nvPr/>
        </p:nvSpPr>
        <p:spPr>
          <a:xfrm>
            <a:off x="1235997" y="757300"/>
            <a:ext cx="6384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정책과 예산의 합리화 노력과 현실적 비판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060167-6049-2295-4735-4AB5FC6A82A3}"/>
              </a:ext>
            </a:extLst>
          </p:cNvPr>
          <p:cNvSpPr txBox="1"/>
          <p:nvPr/>
        </p:nvSpPr>
        <p:spPr>
          <a:xfrm>
            <a:off x="1079999" y="1671814"/>
            <a:ext cx="10390741" cy="335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앨런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시크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(Allen Schick)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예산의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 진화를 통해 기획과 정책분석에 대해서 살펴봄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제도는 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(Control, 1935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품목별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(Management, 1930s-1950s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성과주의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(Planning, 1960s~ PPBS)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단계로 분류하며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 지향성이 예산을 목적 지향적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teletic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이며 하향식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(Top-down)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결정 과정으로 바꾸려 했다고 분석함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PPBS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예산 결정을 정당화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(justification)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(analysis)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이동시키는 것을 목표로 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E2371AA-D25D-4790-3760-99C08072B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9D74A4A-728F-AE41-3E44-DB986FEDAE1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673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D4DB4-1A03-784F-3ADA-BC98D9C8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89D269D-85CA-65FF-5E84-BF2B75D3B48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C6C950-E273-DE65-B1A3-AADE6E18FF4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871304-7301-AE44-CDC7-B155DCE3B8E4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2FEFEE-2223-6CAE-683F-57B164A05882}"/>
              </a:ext>
            </a:extLst>
          </p:cNvPr>
          <p:cNvSpPr txBox="1"/>
          <p:nvPr/>
        </p:nvSpPr>
        <p:spPr>
          <a:xfrm>
            <a:off x="1235997" y="757300"/>
            <a:ext cx="6384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정책과 예산의 합리화 노력과 현실적 비판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A4C07B-10A9-3410-01D3-6BF1A878B6EA}"/>
              </a:ext>
            </a:extLst>
          </p:cNvPr>
          <p:cNvSpPr txBox="1"/>
          <p:nvPr/>
        </p:nvSpPr>
        <p:spPr>
          <a:xfrm>
            <a:off x="1079999" y="1671814"/>
            <a:ext cx="10390741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예즈켈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드로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(Yehezkel Dror)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시스템 분석의 비판과 정책 분석을 정립함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린드블롬의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점증주의가 보수적이고 혁신이 부족하다고 비판하는 동시에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PPB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함께 도입된 시스템 분석이 계량화에 대한 집착과 정치적 실현 가능성을 무시하는 한계가 있다고 통렬히 비판함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경제적 분석과 정치적 행위의 특수성을 결합하고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창의성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암묵적 지식과 같은 초합리적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(extra-rational)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요소를 포함하는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(Policy Analysis)'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이라는 새로운 전문직 역할을 제안함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문제 해결 지향성을 과학적으로 뒷받침하려는 노력이었음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3F12E5C-D7A3-EF49-A772-FB6B5A8C0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B5340E0-B164-E21E-7EDD-1F627BC4351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731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90831-9FE4-7E2E-A94D-2E6794661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25693-8A31-78BD-0DC2-0E94C75D29B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EEA7F4-36DD-AAF5-B98E-38E35E291FF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0FB04-0E69-B5CD-A293-D62E184743C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47550A-8A7A-99BB-1C79-F2ACC5655264}"/>
              </a:ext>
            </a:extLst>
          </p:cNvPr>
          <p:cNvSpPr txBox="1"/>
          <p:nvPr/>
        </p:nvSpPr>
        <p:spPr>
          <a:xfrm>
            <a:off x="1235998" y="757300"/>
            <a:ext cx="5558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신행정학의 등장과 규범적 전환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9ABDE-E92A-EE46-75E5-3643B9451D58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1960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 후반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미국의 사회적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베트남 전쟁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인종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빈곤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행정학이 적절히 대응하지 못했다는 반성이 일어나면서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가치와 규범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형평성을 강조하는 신행정학이 등장함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드와이트 왈도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(Dwight Waldo)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1968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Minnowbrook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Conference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통해 청년 학자들과 함께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"Relevant Administration"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담론을 촉진하며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NPA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지적 토대를 제공함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NPA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담론은 기존의 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관리적 접근을 넘어 사회적 형평성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(equity),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(participation),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(change)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등을 강조하는 특징을 가짐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46DBE7-484B-47DD-211D-68048B651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E315467-7B95-F8E5-4437-E50C8246123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649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AFB1-EB9D-248D-F413-EAADD4B1A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C9F332D-3FFB-7BDE-97F7-91C79466632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D7F432-2CAD-0EAC-F3F3-511415B73B3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420F16-BBA8-7AF5-BCAD-E0F4649F67C0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0C0C48-A442-0F4A-5240-6F2AC1DB9673}"/>
              </a:ext>
            </a:extLst>
          </p:cNvPr>
          <p:cNvSpPr txBox="1"/>
          <p:nvPr/>
        </p:nvSpPr>
        <p:spPr>
          <a:xfrm>
            <a:off x="1235998" y="757300"/>
            <a:ext cx="5558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신행정학의 등장과 규범적 전환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BE22F2-9978-29D2-B9FF-7203D56DDF24}"/>
              </a:ext>
            </a:extLst>
          </p:cNvPr>
          <p:cNvSpPr txBox="1"/>
          <p:nvPr/>
        </p:nvSpPr>
        <p:spPr>
          <a:xfrm>
            <a:off x="1079999" y="1671814"/>
            <a:ext cx="10390741" cy="2797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왈도는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행정학이 단순히 관리 기술이 아닌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 변혁과 민주적 책임성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(democratic accountability)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고민하는 학문으로 변화해야 한다고 주장함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단순히 수단이 아니라 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(value)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정치적 과제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(political task)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라는 인식 전환의 틀도 제시함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프레드릭슨의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신행정학에 대해서는 수요일 영상에서 살펴볼 예정임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087BE35-98EF-859E-C748-0B5347F13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2A1B5A7-E3D2-20E3-B925-E08BD787F9F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733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7FDE-25E1-2BF0-61D5-5D20BB97C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B6D4EA3-FAD7-28A9-B6A1-9EBEDC1CD52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EB1651-9284-9B53-4818-61D895374D0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64BB09-9FD1-6DAA-D2DE-AB48A8B2543B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DC79FE-7B69-7CED-384D-A211F9BAE665}"/>
              </a:ext>
            </a:extLst>
          </p:cNvPr>
          <p:cNvSpPr txBox="1"/>
          <p:nvPr/>
        </p:nvSpPr>
        <p:spPr>
          <a:xfrm>
            <a:off x="1235998" y="757300"/>
            <a:ext cx="5558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예시문제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5E8F3CA-F6BD-DAF2-8399-FC6100E9D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9712B3-F613-3A58-DB4B-16FB91C8069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D43AA94-F15B-B4C5-F51A-86E572F68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939018"/>
              </p:ext>
            </p:extLst>
          </p:nvPr>
        </p:nvGraphicFramePr>
        <p:xfrm>
          <a:off x="1235998" y="1523674"/>
          <a:ext cx="4358557" cy="4255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8557">
                  <a:extLst>
                    <a:ext uri="{9D8B030D-6E8A-4147-A177-3AD203B41FA5}">
                      <a16:colId xmlns:a16="http://schemas.microsoft.com/office/drawing/2014/main" val="591672007"/>
                    </a:ext>
                  </a:extLst>
                </a:gridCol>
              </a:tblGrid>
              <a:tr h="4255931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“격언의 인용 가능성을 크게 높여주는 사실 하나는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격언이 거의 언제나 서로 모순되는 짝으로 존재한다는 점이다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 ‘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돌다리도 두들겨 보고 건너라’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—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그런데 ‘망설이는 자는 실패한다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.’ …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격언은 설득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정치적 논쟁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모든 수사의 형식에서 큰 도움이 된다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그러나 격언을 과학적 이론의 토대로 삼고자 할 때 상황은 그리 즐겁지 않다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격언이 표현하는 명제가 부족해서가 아니라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너무나 많은 것을 ‘</a:t>
                      </a:r>
                      <a:r>
                        <a:rPr lang="ko-KR" altLang="en-US" sz="1400" b="0" dirty="0" err="1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증명’해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 버리기 때문이다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과학적 이론은 무엇이 참인지뿐 아니라 무엇이 거짓인지도 말해 주어야 한다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 …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오늘날 행정이론을 구성하는 명제들의 대부분은 안타깝게도 격언의 이러한 결함을 공유한다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거의 모든 ‘</a:t>
                      </a:r>
                      <a:r>
                        <a:rPr lang="ko-KR" altLang="en-US" sz="1400" b="0" dirty="0" err="1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원리’마다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 똑같이 그럴듯하고 수용 가능한 모순 원리를 하나씩 찾을 수 있다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짝을 이룬 두 원리는 정확히 반대되는 조직적 권고로 이끌 텐데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이론에는 어느 쪽을 적용해야 </a:t>
                      </a:r>
                      <a:r>
                        <a:rPr lang="ko-KR" altLang="en-US" sz="1400" b="0" dirty="0" err="1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옳은지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 가리키는 것이 없다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.”</a:t>
                      </a:r>
                      <a:endParaRPr lang="ko-KR" altLang="en-US" sz="1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460854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2040773-41AA-92BA-D909-D46749A5C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46835"/>
              </p:ext>
            </p:extLst>
          </p:nvPr>
        </p:nvGraphicFramePr>
        <p:xfrm>
          <a:off x="5910347" y="1001649"/>
          <a:ext cx="6069135" cy="4854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9135">
                  <a:extLst>
                    <a:ext uri="{9D8B030D-6E8A-4147-A177-3AD203B41FA5}">
                      <a16:colId xmlns:a16="http://schemas.microsoft.com/office/drawing/2014/main" val="591672007"/>
                    </a:ext>
                  </a:extLst>
                </a:gridCol>
              </a:tblGrid>
              <a:tr h="4839478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1. </a:t>
                      </a:r>
                      <a:r>
                        <a:rPr lang="ko-KR" altLang="en-US" sz="1400" b="1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글쓴이가 격언의 문제점을 지적하는 핵심 이유로 가장 적절한 것은</a:t>
                      </a:r>
                      <a:r>
                        <a:rPr lang="en-US" altLang="ko-KR" sz="1400" b="1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?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격언은 일상적 사례를 기반으로 해 경험적 일반화가 어렵다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격언은 서로 다른 가치판단을 전제로 구성되어 해석이 주관적일 수 있다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격언은 서로 모순되는 형태로 존재하여 과학적 이론 구성에 기여하지 못한다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격언은 시대적 맥락에 따라 의미가 계속 변하여 안정적인 지침이 될 수 없다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격언은 설득 수단으로는 유용하나 실제 행정 운영에서는 거의 쓰이지 않는다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400" b="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2. </a:t>
                      </a:r>
                      <a:r>
                        <a:rPr lang="ko-KR" altLang="en-US" sz="1400" b="1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제시문에 나타난 글쓴이의 관점으로 볼 때</a:t>
                      </a:r>
                      <a:r>
                        <a:rPr lang="en-US" altLang="ko-KR" sz="1400" b="1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, </a:t>
                      </a:r>
                      <a:r>
                        <a:rPr lang="ko-KR" altLang="en-US" sz="1400" b="1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다음 중 행정 원리의 문제점에 대한 설명으로 가장 적절한 것은</a:t>
                      </a:r>
                      <a:r>
                        <a:rPr lang="en-US" altLang="ko-KR" sz="1400" b="1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?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행정 원리는 경험적 검증이 가능하므로 격언보다 신뢰도가 높다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행정 원리는 명확한 적용 지침을 제공하여 조직 설계의 난점을 해결한다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행정 원리들은 서로 충돌하지 않기 때문에 특정 상황에서 선택이 쉽다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행정 원리들은 격언과 마찬가지로 상충되는 명제를 포함해 실천적 지침이 되기 어렵다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행정 원리는 과학적 이론과 달리 참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·</a:t>
                      </a:r>
                      <a:r>
                        <a:rPr lang="ko-KR" altLang="en-US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거짓의 구분이 필요하지 않다</a:t>
                      </a:r>
                      <a:r>
                        <a:rPr lang="en-US" altLang="ko-KR" sz="1400" b="0" dirty="0">
                          <a:solidFill>
                            <a:srgbClr val="404040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  <a:cs typeface="KoPubWorld돋움체 Bold" panose="020B0600000101010101" charset="-127"/>
                        </a:rPr>
                        <a:t>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460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84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4748</TotalTime>
  <Words>1180</Words>
  <Application>Microsoft Office PowerPoint</Application>
  <PresentationFormat>와이드스크린</PresentationFormat>
  <Paragraphs>67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1216</cp:revision>
  <dcterms:created xsi:type="dcterms:W3CDTF">2025-03-10T02:54:00Z</dcterms:created>
  <dcterms:modified xsi:type="dcterms:W3CDTF">2025-11-30T06:19:15Z</dcterms:modified>
</cp:coreProperties>
</file>