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65" r:id="rId3"/>
    <p:sldId id="324" r:id="rId4"/>
    <p:sldId id="323" r:id="rId5"/>
    <p:sldId id="314" r:id="rId6"/>
    <p:sldId id="315" r:id="rId7"/>
    <p:sldId id="330" r:id="rId8"/>
    <p:sldId id="329" r:id="rId9"/>
    <p:sldId id="316" r:id="rId10"/>
    <p:sldId id="331" r:id="rId11"/>
    <p:sldId id="326" r:id="rId12"/>
    <p:sldId id="328" r:id="rId13"/>
    <p:sldId id="327" r:id="rId14"/>
    <p:sldId id="318" r:id="rId15"/>
    <p:sldId id="322" r:id="rId16"/>
    <p:sldId id="332" r:id="rId17"/>
    <p:sldId id="333" r:id="rId18"/>
    <p:sldId id="25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루서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굴릭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6383119" cy="453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루서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헬시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굴릭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(Luther H. Gulick III, 1892–1993).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컬럼비아대 ‘도시행정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(Eaton)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석좌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 교수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공공행정연구소 소장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뉴욕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시정부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자문과 연방행정 개혁에도 영향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『Papers on the Science of Administration』(1937)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공동편집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굴릭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어위크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안의 핵심 논문이 바로 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Notes on the Theory of Organization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(POSDCORB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루서 귤릭 (사회과학자) - 위키백과, 우리 모두의 백과사전">
            <a:extLst>
              <a:ext uri="{FF2B5EF4-FFF2-40B4-BE49-F238E27FC236}">
                <a16:creationId xmlns:a16="http://schemas.microsoft.com/office/drawing/2014/main" id="{24E0ABF2-BF96-2971-2FDF-95A939945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452" y="1902577"/>
            <a:ext cx="3243648" cy="305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루서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굴릭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Notes on the Theory of Organization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(1937):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조정의 결합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통솔의 범위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지휘일원화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동질성 원리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POSDCORB(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정식화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뉴욕시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행정개혁 실천가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설계와 ‘집행부 스태프화’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논리를 현장에 접목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‘과학적 조직’ 전통을 집대성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페욜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라일리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어위크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굴릭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라인의 고전 이론을 국가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지방행정 맥락으로 이식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이후 사이먼의 비판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격언들”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에도 불구하고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 메타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거버넌스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전략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PMO·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딜리버리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유닛 설계의 이론적 문법을 제공했다는 재평가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6CEE-6DDC-D066-5398-CD94448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88200A-4639-3BCE-1B9F-BF26BA3E28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C0912-D3F9-0D5B-E5CB-F78B6C6AB2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97742-F2CE-4675-6BFE-52341BFD3D8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44E28-CAAA-E22A-66CC-AAF674A68AE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분업과 조정의 결합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2C46E-0CEB-8DD5-3B22-8E2CC1BDCCCB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“대규모이거나 복잡한 모든 사업은 이를 추진하기 위해 많은 사람을 필요로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조직 이론은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 사업의 분업 단위들 위에 부과되는 ‘조정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(co-ordination)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구조’에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관한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 목적은 ‘일을 나누는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것’이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나뉜 일을 다시 결합하는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조정’은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상호의존 과업을 시간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우선순위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표준으로 결박하는 장치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조직은 결합 규칙의 집합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(governance)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위계만이 아니라 절차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 아키텍처로 구현 →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굴릭은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효율을 ‘개별 작업의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결합 과정의 품질로 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7541C55-13CD-AE90-8ED8-1A17AAEE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5F1030-7440-BD23-8A61-DA5BD6B822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97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왜 분업을 하는가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?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“사람들은 성정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능력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기술에서 서로 다르며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 사람이 동시에 두 곳에 있을 수 없기 때문이다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지식과 기술의 범위가 너무 넓어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 사람이 일생 동안 그 가운데 극히 일부만을 알 수 있기 때문이다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분업은 인지적 한계와 전문지식의 팽창을 제도화하는 기술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전문화는 학습 곡선을 가팔라지게 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품질 분산을 줄여 신뢰성을 높임 → ‘전문성의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깊이’가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커지고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분업의 부작용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부분 최적화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필연적으로 발생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조정 설계 필요 → 조직 경쟁력 ‘재능의 총합’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&lt;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역할 경계와 인터페이스 설계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2825-8801-0F46-DE56-A915584C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414DC9-1CBB-E071-069F-3E763F97B23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509C18-53EA-9E06-FC45-F642A56B4C3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FF883-952A-4371-FB6E-C31545D75AA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CB976-A9BF-3A4F-B05C-56AA84B6AEB4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구두공장 예시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전환비용과 숙련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3A51D-69B2-7851-EA38-CEE72B17DB91}"/>
              </a:ext>
            </a:extLst>
          </p:cNvPr>
          <p:cNvSpPr txBox="1"/>
          <p:nvPr/>
        </p:nvSpPr>
        <p:spPr>
          <a:xfrm>
            <a:off x="1079999" y="1671814"/>
            <a:ext cx="10390741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“이 방식에는 두 가지 큰 이득이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첫째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전문화를 촉진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둘째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칼에서 펀치로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바늘과 송곳에서 망치로 바꾸고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전환에 드는 시간이 사라진다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생산성은 전환비용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장소 변경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줄일수록 상승 → 표준화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배치 최적화는 흐름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(flow)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효율을 통해 낭비를 제거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 기술이 아닌 작업 순서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루틴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안정화가 학습의 단위 → 숙련은 조직적 맥락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훈련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생성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5877581-EDDE-1894-E4C9-C9E3B5685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54237A-6642-BB22-16E8-CD3785D926D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235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6D8E-F7FC-346F-74CE-B74843E2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4BB7B10-DB17-47C7-D232-DB13AC67C4C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FB1F90-3DDF-5D7C-6C7C-F6C99D159D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96759-4C1A-6725-ED13-DFC97317678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60569-2F38-E836-6D1A-AAB3F38B29C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도구와 전문화의 심화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CE1B2-CF06-A39C-C384-810E486A706A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“기계의 도입은 분업을 더욱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심화시킨다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전문화된 숙련은 기계나 도구에만 국한되지 않는다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다루는 재료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과학지식 응용 전문직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에서도 자연스럽게 분화한다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 도입은 역할 세분화와 상호의존도를 동시 증대 → 전문성은 도구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기계뿐 아니라 재료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 위에서 분기됨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과업 구조가 복잡할수록 표준 운영절차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(SOP)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전문성 간 번역 규칙이 핵심 인프라가 됨 → 기술 혁신은 조직도 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신규 역할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팀 경계 재설정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내생적으로 유발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관리자 역할은 전문가를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통치’가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조율’하는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것임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25958C-A614-03F3-2333-A0062B35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2E4064-7E16-7EBB-FD63-DA2BF7285A6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772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5511-3BC0-5684-BD69-7763DD6E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72919-28D0-DB3B-F09E-12FF5518B11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718E5-FFD2-B994-457C-54BD7E84F1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780A0-4906-C1A2-5207-B8E2495027A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5E8BC-708C-FFAB-90A9-5242D0B17CE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분업의 한계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I: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사람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시간 임계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25C0C-9216-6DEB-ADEF-2AA5BF341E5D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“분업은 무한정 밀어붙일 수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셋은 분명한 한계다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첫째는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(man-hour)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단위의 물량에서 생긴다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과대 세분화는 유휴 시간과 조정 오버헤드를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폭증시킴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작업 단위가 전일 작업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(full-time load)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못 미치면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비용이 편익을 초과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소규모 팀에서는 다기능 롤이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대규모 시스템에서는 세분화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조정이 유리함 → 최적 세분화는 업무량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변동성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표준화 수준의 함수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분업의 한계는 조정비용의 한계체증으로 가시화됨 → 결국 규모의 균형이 관건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E3B067-2146-B6F1-3880-C35240A7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39375AF-9073-BDBD-BC4C-6750CAFBD0D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1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80FB-96E6-3EEF-106E-D5987B33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41A375-16A0-5198-0811-AD26EA531C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7812A6-0340-B183-29E2-3BCF0DB8269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72C2-77E3-3978-A51F-3E1D9F367B0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57C49-EC34-A8AA-87D0-6B14093DD1F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분업의 한계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II: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관행 경계와 유기성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31C6-B60E-FD30-FD6C-5777E1E1B5E9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“둘째 한계는 특정 시공간의 기술 수준과 관행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셋째 한계는 세분이 물리적 분할을 넘어 유기적 분할을 건드려서는 안 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 경계는 세분화의 실행 가능성을 제한함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노동시장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유기적 활동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강결합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루틴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자르기 자체가 손실이 되는 경우가 많음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표준화가 정도가 낮고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상호피드백이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빠른 과업의 경우 자율적인 팀이 유리함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분해 기준은 ‘과업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유사성’이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상호작용 구조를 고려해서 이루어져야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848FC7-6CBC-62DA-0539-8DC61B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C6DAC0-4344-37EA-931C-E6DEFB5CA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34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CE0E-ECA5-A9F6-3A78-6F7D12C9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67BBF1-5022-9A52-AAF5-14A756BF28A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E002B4-0508-DD5F-C77B-BAE8E724F9B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D9D5D3-2528-E72A-833C-32450F4F96B2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99601-DFDA-0E08-751A-64DB773FC95C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조정의 두 경로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구조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vs.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신념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2171BD-191C-C5D6-34DC-F6F5E23F7A34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“조직에 의한 조정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아이디어의 지배에 의한 조정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둘은 배타적이지 않다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외부 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내부 조정 장치임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구조가 약하면 과도한 영웅주의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 헌신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의존하게 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신념이 약하면 미시 규칙 남발로 창의와 속도가 저하됨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 실패는 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문화 어느 한쪽의 결핍이 아니라 비대칭에서 발생함 → ‘무엇을 할까’ 보다 ‘어떻게 함께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할까’가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중요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D8713E-4C46-112C-8712-EE854264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812B06D-2C89-5264-6CB7-E0C9D46E2BF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272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AD03-9DCC-11ED-8F79-652A065C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196C124-A435-2767-8B15-46CAE7E449C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700A93-B17D-3A7A-3A7B-98EB085E650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16B5A5-19D6-6C1E-4A6F-548BFFF6EDE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21FF2-3EBF-8817-BD9B-9FAEF70C0463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통솔 범위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(Span of Control)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2A5A91-4932-1A5D-130F-F3E12AD18E93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“인간의 손이 피아노에서 펼 수 있는 건반 수가 제한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최고책임자는 소수의 직속만 효과적으로 다룰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통솔범위는 정보 처리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에너지의 함수임 → 이질성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변동성이 높을수록 직속 수를 줄이고 층을 늘리고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균질적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표준화된 환경에서는 넓은 범위의 통솔도 가능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최적’은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정수값이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상황 의존적 영역임 → 통솔범위 설계는 보고 깊이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결정 권한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회의 주기 등과 함께 다뤄야 하는 문제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관리자는 ‘더 많은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부하’가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더 좋은 접촉점을 가져야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DBC322-1FD1-5DB0-6821-4C721ABD7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31313A9-9A3D-A1ED-085F-F5DC0DDE39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424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61193-BE04-23A0-559F-028C9ECD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6FBE534-0C13-209B-F95B-BBE876DA789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392EB8-DE7B-66B7-647E-25A293308E21}"/>
              </a:ext>
            </a:extLst>
          </p:cNvPr>
          <p:cNvSpPr/>
          <p:nvPr/>
        </p:nvSpPr>
        <p:spPr>
          <a:xfrm>
            <a:off x="395860" y="720000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BEF440-C8F6-02CB-65B2-9DDB75EA6713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8AABD-E752-9733-1DE2-7B37418BF4E7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명령 일원화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(Unity of Command)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8B596-279B-4427-9E7E-16C98127BA46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“한 사람은 두 주인을 섬길 수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명령 일원화는 명령을 내리는 쪽이 아니라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받는 쪽에 관한 원리다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다중 상관은 역할 충돌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 회피를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구조화함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명령의 일관성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책임의 명료성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받는 쪽’ 관점은 현장의 인지적 부하를 핵심 변수로 삼음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명령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일원화는 책임 경로의 단순화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매커니즘이자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현장의 인지적 부하를 줄이는 방법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의사결정의 ‘한 점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수렴’이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없으면 조정 비용이 폭증함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80AD68D-1F40-2BA2-9529-035160034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686A400-2878-67E7-23D6-B9AE59790B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791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374DA-52AA-9947-67C5-F54D73E9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DB1550-991D-A3C7-0A6F-43309AF76AB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CAB8AE-4915-9A03-679E-0F13644FD4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55EE2E-B071-1331-A924-4F3082839717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E0CAC-741B-EC92-F680-A5F269CD3FAB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동질성 원리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(Homogeneity):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하나의 흐름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AB726-F96C-9C72-9585-25622F20B43F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“조직은 위아래로 하나의 흐름이어야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전문성에 기초한 단위에는 비전문가가 기술적 지도권을 행사할 수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 단위 위에 비전문가를 두면 권위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 불일치가 발생하게 됨 → 동질성은 전문성 정렬과 목적 정렬의 결합을 뜻함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하나의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흐름’은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절차만이 아니라 판단 기준의 일관성을 요구함 → 교차 기능 통합은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조정층에서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기술권은 전문 라인에서 맡아야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핵심은 기술 지휘권과 행정 조정권의 경계를 설정하는 작업임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E766AB9-376E-A840-6222-AC1069907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0405B6B-5651-187A-5D34-4CDDCF95E87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11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88E37-5942-CDDC-72D0-5E35CAA7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A50C8DF-1023-2124-B504-6400A6552EA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341D4-E068-1AA2-2FC4-F947CAF9403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4DE3D0-7B27-DF19-1A0F-D24647756329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6F0FA-CD7A-BA27-33C9-D9A4A7200EF2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Caveamus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Expertum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전문가를 경계하라’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64D1D9-2CCD-68EA-98D6-CE9AA14BBC59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“그의 기술이 구원의 길이기 때문이다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전문가의 제자리는 말하자면 수중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(on tap)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이지 정상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(on top)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아니다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민주주의의 정당성은 여기에 깃든다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전문가주의는 정치적 판단을 대체할 수 없음 → 지식 권위는 민주적 위임과 결합될 때만 공익이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전문가는 범위를 넘어서 보편 권능을 주장하기 쉽기 때문에 역할 경계가 필요함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‘지식으로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다스림’이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‘지식으로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봉사’하는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체계 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‘on tap’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원칙은 전문성과 민주정당성의 분업을 의미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AE3E145-7785-5969-7C09-3EA7D9DF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F60FEBB-100C-D6A4-73A4-DA17D8C0BD9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23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5D0B-B85A-9701-9193-26C65CD7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663D78E-B149-6DB5-D1F6-7751D587C0E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9A9D4C-0879-ED7D-48B8-B1B679A8494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63AD09-9485-9C7A-A5A1-801FE9F47B2A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1E5AF-862C-33CA-71C2-E28E50D043AE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Top-down &amp; Bottom-up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이원 최적화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6BCDBC-F3BB-0E8A-8B0A-8EF25198113F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“실무에서는 두 방향을 함께 취해야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정상에서의 첫 분할에는 통솔범위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하부에서의 첫 집합에는 동질성 원리를 적용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중앙에서 접합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Top-down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관리 가능성을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Bottom-up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기능 합리성을 보장함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두 흐름이 어긋나면 추가 분할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집합으로 단계적 접합을 수행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접합’은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정책 의도와 운영 현실의 해상도를 맞추는 행위임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설계는 이상형이 아니라 제약 하 최적화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(satisficing)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작업임 → 재조직은 구조 도면 교체가 아니라 결합 규칙의 재설계에 해당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B9D105-70F1-9BF9-41F5-90516CBF9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5E076EE-9BC6-080E-F576-7AFE744845D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567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91391-804A-9259-673B-A57533DA9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605D436-48A6-7484-1EB1-DB7864EE836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3A9859-3A69-EEFD-06CC-7C6A8CC0DD1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EDE25C-60D7-0E4E-714E-81A9F9DD7034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92E29D-6ED2-E915-27D2-8F7E1FF3059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집행부 스태프화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CA9CBB-ED99-C30B-4278-C8E3AF645AA5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“부시장들은 부서의 꼭대기가 아니라 시장실의 분신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효과적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접점’을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서너 곱절로 늘리는 것이었다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최고책임자의 병목은 접촉점의 희소성에서 발생 → 스태프화는 ‘라인의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정점’이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수반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首班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확장된 손발을 만들게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최상층 스태프는 정책결정 개입이 아니라 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피드백이 주요 임무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핵심 성과는 조정 속도와 조정 품질의 구조적 제고임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21B68A2-FE35-16C3-2418-8472D1272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EB6A0C1-1BFA-A170-30DF-E223C50AC11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217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3CADE-819C-98A1-7F68-F2269F910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4AE3A3-3E8B-083F-319A-D25BEC72022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4DCA90-14D7-DB51-8EDD-76589887B25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79F3B5-008F-AD32-5DFB-4BE04BB4FC36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A916B2-BADA-68FA-C3DB-2B85B557DF31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POSDCORB: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최고책임자의 기능을 모듈화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8D0CFE-6501-EB66-B13E-484D34BA8948}"/>
              </a:ext>
            </a:extLst>
          </p:cNvPr>
          <p:cNvSpPr txBox="1"/>
          <p:nvPr/>
        </p:nvSpPr>
        <p:spPr>
          <a:xfrm>
            <a:off x="1079999" y="1671814"/>
            <a:ext cx="10390741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“최고책임자는 무슨 일을 하는가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POSDCORB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그 답이다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일곱 요소를 집행부 내부의 하부분으로 따로 조직할 수 있다는 결론이 따른다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POSDCORB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기능 분해 명세서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복잡성이 커질수록 이 기능은 집행부 내부로 제도화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전담화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스태프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분리로 전문성과 행정의 일관성을 동시에 달성 가능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최고책임자의 일은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결정’이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결정이 가능해지는 조건의 조직화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성과는 특정 개인의 역량이 아닌 구조의 질에서 발생함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DEF2387-2F56-E8E4-26ED-209088E65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CD001FE-583F-C4E4-6318-2922D320C06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387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4332</TotalTime>
  <Words>1423</Words>
  <Application>Microsoft Office PowerPoint</Application>
  <PresentationFormat>와이드스크린</PresentationFormat>
  <Paragraphs>103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630</cp:revision>
  <dcterms:created xsi:type="dcterms:W3CDTF">2025-03-10T02:54:00Z</dcterms:created>
  <dcterms:modified xsi:type="dcterms:W3CDTF">2025-11-04T04:14:42Z</dcterms:modified>
</cp:coreProperties>
</file>