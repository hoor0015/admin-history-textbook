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66" r:id="rId5"/>
    <p:sldId id="267" r:id="rId6"/>
    <p:sldId id="268" r:id="rId7"/>
    <p:sldId id="259" r:id="rId8"/>
    <p:sldId id="269" r:id="rId9"/>
    <p:sldId id="271" r:id="rId10"/>
    <p:sldId id="270" r:id="rId11"/>
    <p:sldId id="272" r:id="rId12"/>
    <p:sldId id="273" r:id="rId13"/>
    <p:sldId id="274" r:id="rId14"/>
    <p:sldId id="275" r:id="rId15"/>
    <p:sldId id="25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7ED6-69D5-2188-C34F-D746BC5C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A98682-2018-0BAA-A9A5-4B1CA37BD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75CDB3-F875-09CE-0E1B-EA0A8415A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4EA018-DEA4-A81C-2ED7-9E8321883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88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EB49-C3CC-0183-1087-CC517E9E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30CF49-1729-B67B-EC0F-CE08D70A7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2AC733-9EEC-E2A5-4A63-0FAB175E8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CDFAAB-A7A5-9E64-8FE2-4D6C19988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089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4234-4E56-80F2-A9C9-0D9B1A5E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A44A5B-4D30-2F4A-E566-AA58540F9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0D581F-BE5C-F9E4-D14D-39004DE5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C5016A-2130-A23F-0DEA-4CC870B87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49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6B18-CACC-808C-F053-C8F0C721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67EA1A-1000-82D3-E7BB-79367A533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CBCCAA-8E22-8D15-F169-A477F42D4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CFADEA-75E4-4A46-6C1D-CC58A5710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68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41DB8-73C4-B2B2-2E3A-957BE934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6B6C2A-CDDE-BF7C-0C07-BBA2005D4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81B46-6667-77CB-2CCA-2807811D7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F49FEB-88C9-B473-3BA8-ACB18CEC9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079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99D3-D576-0CEF-2AA6-08250B5C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A60A78-8CEB-7A3C-F8DE-2AB1C2551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DA7E77-3D30-947D-C77F-4E0418EBA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CC7F80-9AE8-AF2D-3407-4AB0BD5C1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95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기원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108000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근대 서구 학문의 산물이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인류 문명 초기부터 존재해 온 보편적 실천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고대 이집트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바빌로니아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농업 생산 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 징수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군사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대규모 건축 사업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관료제를 제도화하여 국가 운영 체계 확립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제국의 흥망은 군사력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 못지않게 재정과 행정 역량에 의해 좌우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단순한 보조 장치가 아니라 문명 유지와 국가 존속의 핵심 기반으로 작동해옴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D45278-EEA9-0F14-0C05-120AA72D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행정의 기원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관리사상의 역사적 연속성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알렉산더 대왕의 참모제도 → 베네치아 병기창의 조립라인 → 마키아벨리의 리더십 이론 → 애덤 스미스의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분업론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오언과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배비지의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복지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 원리→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 사고는 시대와 문명을 넘어 연속적으로 발전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재정과 행정 역량의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전쟁의 힘줄은 무한한 돈이다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전쟁과 국가 운영의 토대는 결국 재정과 행정 능력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행정과 문명의 결합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제국의 흥망은 군사력이나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행정 제도의 성패에 달려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단순한 기술이 아니라 국가 존망의 구조적 요인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3F8E8AE-ADE2-26EA-1A98-E51BAED6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6844-1397-5E75-67FB-8E365D85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C2B063E-1DC4-0232-7F61-07207AA292E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CECCB4-7F84-F90B-AE2B-684083DDED6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C1F3C5-8BBA-C9AE-98F6-58B4C1A19E8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C90056-AF16-452D-5AFD-21D03873329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중국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최초의 행정국가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2D4FF-8CFA-0020-240E-B4D1761358A7}"/>
              </a:ext>
            </a:extLst>
          </p:cNvPr>
          <p:cNvSpPr txBox="1"/>
          <p:nvPr/>
        </p:nvSpPr>
        <p:spPr>
          <a:xfrm>
            <a:off x="1080000" y="1671816"/>
            <a:ext cx="10800000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중국은 세계 최초로 균일하고 다층적인 중앙집권 관료제 창출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뛰어난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군사 전통은 있었으나 지속적 중앙관료제는 부재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중국의 관료제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전제적 성격에도 불구하고 세계 인구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1/4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천 년 이상 통합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전쟁을 통해 수많은 정치 단위를 단일 국가로 통합할 수 있었던 동인은 훈련된 관료와 행정가가 이를 뒷받침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C2A276D-8BC7-5C0A-FC06-968B0B40B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0387137-DC8A-DBB0-EBF3-A9B28ECA4DC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01B75E-4F62-ABAE-E63B-CA05065F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7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E93F0-B67F-7A1F-26A7-ED1EDA5C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09DC5E2-B009-5CD4-12D0-DFDA97C6E25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982EC2-A421-15EB-D23B-08669A968A7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CCDD1-605B-B887-847E-701957838D68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42B74F-5256-EC2D-EB9B-45DF4CA2B5BC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중국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최초의 행정국가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6D5B2-C057-C0FB-1D8B-812E7CB1922B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중국은 최초로 ‘사대부 관료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士大夫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창출 → 지식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교육을 독점한 행정 엘리트 계급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마음으로 수고하는 자는 남을 다스리고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힘으로 수고하는 자는 다스림을 받는다”→ 지적 노동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통치 정당성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 사상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정치의 본질은 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德治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무력이 아닌 도덕적 정당성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통치자는 백성에게 도덕적 모범을 보여야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제국적 관료제의 운영 원리와 결합되어 국가 통치의 정당성을 뒷받침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BAA1FEC-94D2-573E-82B6-006E77E3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E2B55C-459A-EF6E-F262-D8DED80D776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98D34F4-C015-0F65-07F7-146E3D84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88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6E8C-53DC-BDF8-AB3D-561CDB26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7E2007E-08AA-F140-3B3D-25A80E29598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E7D6DA-8618-8831-6FCF-2A8ECB9D461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1EEBF-2A47-47FB-7671-39BE3442090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81081F-DABB-52DF-5A78-F0ADF36027BF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중국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최초의 행정국가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D340B-D77F-58CB-8FFD-854E1F62FB8C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기원전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세기 이후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제국 통치 이념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과거제도의 철학적 기반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세기까지 중국 행정 운영의 정당성 구조 유지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권위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정당화뿐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아니라 책임성과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응답성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요구의 근거로도 작동 → 권위주의와 민주적 긴장 공존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시사점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국가는 군사력만으로 존속할 수 없고 행정 역량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재정이 필요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교육과 제도를 통해 형성된 지식 엘리트는 행정 안정성의 핵심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결합의 유교 전통은 오늘날 중국 행정 체제에서도 여전히 작동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8469D47-32B7-CC06-2CAF-DCE68500A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8A7EEBC-2EA5-01D8-40A3-82584FCD3B1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7EA446-94E5-FFB1-A85C-45CCB44D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00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BC18-D20A-C41C-B6CC-7E7C1D60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00E3A3-347E-2EC6-2522-C278CE92B2A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557CA0-2AC8-F1A4-89C2-9C77885350A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156B29-6D30-8630-EB0C-24F9EB08B8D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공자의 정치사상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AE03D-7E1B-7EF1-198F-7E3960589976}"/>
              </a:ext>
            </a:extLst>
          </p:cNvPr>
          <p:cNvSpPr txBox="1"/>
          <p:nvPr/>
        </p:nvSpPr>
        <p:spPr>
          <a:xfrm>
            <a:off x="1080000" y="1671816"/>
            <a:ext cx="1080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공자의 비전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 수양 → 천하의 평화와 조화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大同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 사회는 본질적으로 질서를 원하고 다스림을 받도록 준비됨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올바른 지도자가 있으면 정부는 식물이 비를 맞고 무성하게 자라듯 번영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맹자의 비유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가뭄의 곡식이 비를 맞아 되살아나듯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백성은 올바른 통치자에게 즉각 반응하고 응답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핵심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억압이 아니라 도덕적 리더십 → 자발적 복종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580F6F-FDE1-4AAE-CAAF-EED9EE24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2C7652-235D-73D0-5748-9284027AA4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EF001D-BF34-BD1B-F756-140CDD32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50FC4-FA54-6BD9-5E19-B4578CF8CE4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18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8EE3-6063-F9F5-9A06-FB21C570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6DE7173-AACC-B6CC-F812-68A78A54884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DE37C-D7E2-FD89-D33B-64EB71D2C12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914196-8371-3C02-E2CD-26D00950D9A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공자의 정치사상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D24B07-F9BF-61B9-8DC6-4780B65A97D0}"/>
              </a:ext>
            </a:extLst>
          </p:cNvPr>
          <p:cNvSpPr txBox="1"/>
          <p:nvPr/>
        </p:nvSpPr>
        <p:spPr>
          <a:xfrm>
            <a:off x="1080000" y="1671816"/>
            <a:ext cx="1080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인간은 태어나면서부터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붕우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관계 속에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관계는 하늘이 부여한 의무 → 충실히 수행하면 사회 안정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통치 기반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제도보다 도덕적 의무와 사회적 관계망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중국인의 질서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복종 성향과 결합 → 유교적 행정철학으로 체계화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공자의 관점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왕위 없는 왕” → 옛 성군들의 모델 존중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 혁신보다 올바른 인재 등용이 핵심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사람이 곧 정부다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인물이 있으면 번영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없으면 붕괴”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191B503-CE06-4B3A-C2C0-2A72D711B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9224FEF-A48B-2888-728A-AFF30D44410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9E1655-8FCD-07F2-199C-60E3BB2B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21C0A-9BD3-96D8-ED3D-003CE1265254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82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80D4-FC44-BACA-A2EE-44B1460A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213CEC0-562A-2754-A3A9-DAED18F82B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F09634-FEF5-889D-8A11-4101C247517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BA779-D541-FA23-7665-C05AA360C9A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정명의 원리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7CB1D9-A9B8-545C-5C09-DE1AB0248848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子路第十三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&gt;03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必也正名乎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! …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名不正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則言不順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言不順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則事不成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事不成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則禮樂不興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禮樂不興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則刑罰不中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刑罰不中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則民無所錯手足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故君子名之必可言也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言之必可行也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君子於其言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無所苟而已矣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자로가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여쭈었다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공자께서 말씀하셨다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반드시 명분을 바로잡겠다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명분이 바르지 못하면 말이 사리에 맞지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백성들은 살아갈 방도가 없다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군자는 명분을 세우면 반드시 그에 대해 말을 할 수 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말을 하면 반드시 실천을 할 수 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개념과 용어가 흐트러지면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설계 → 집행 → 평가 체계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도미노처럼 무너짐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BD75C93-A1F6-FCFE-A7AD-B63A9055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03ED95-C8BE-45A8-8131-6BDC90B45FB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3E50A4C-75CB-660C-49DC-0CAEC71A9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23DE0-89A6-A831-A711-ABB0E8CF62A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122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B394-80E8-8E35-39BA-1054E440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9720F78-DF79-12C5-43D0-F4AA3E62B01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D24859-057F-33D6-9D01-88D9948A86C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599D0-A95D-15A7-8CF5-0A357C17DCF1}"/>
              </a:ext>
            </a:extLst>
          </p:cNvPr>
          <p:cNvSpPr txBox="1"/>
          <p:nvPr/>
        </p:nvSpPr>
        <p:spPr>
          <a:xfrm>
            <a:off x="1235999" y="757300"/>
            <a:ext cx="463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지도자의 솔선수범과 자기 수양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13D238-F8F5-9859-D540-64B1EBA84086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子路第十三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&gt;06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其身正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不令而行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其身不正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雖令不從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공자께서 말씀하셨다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자기 자신이 올바르면 명령을 내리지 않아도 자발적으로 행하고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자기 자신이 올바르지 않으면 명령을 내려도 따르지 않는다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子路第十三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苟正其身矣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於從政乎何有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不能正其身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如正人何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공자께서 말씀하셨다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진실로 그 자신을 바르게 한다면 정치를 하는 데 무슨 문제가 있겠는가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자신을 바르게 하지 못한다면 어떻게 남을 바르게 하겠는가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Tone at the top: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지도자의 규범적 모범이 조직문화를 결정한다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9174431-2787-FA7C-D928-1A071148A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E9FBEC0-7485-327D-8F70-0877181BA0B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563B04F-3EB8-481D-FB41-C6A35E59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71516-D34E-2B6F-86C4-5D3B3FA7ED4C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6779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1FEB-2522-F91E-8E0B-449B6D36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170FE2-0E25-1CC4-53FA-9C7AE1D3F73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019D0A-5CA5-CAB7-ABD5-8A63ACB3721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DC205-F12F-9635-DF14-860262825AC9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민생의 단계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3D8860-30B4-EE3A-CC94-EBD07D89DDBE}"/>
              </a:ext>
            </a:extLst>
          </p:cNvPr>
          <p:cNvSpPr txBox="1"/>
          <p:nvPr/>
        </p:nvSpPr>
        <p:spPr>
          <a:xfrm>
            <a:off x="1080000" y="1671816"/>
            <a:ext cx="10800000" cy="294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子路第十三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&gt;09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庶矣哉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!” …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富之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旣富矣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又何加焉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敎之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공자께서 말씀하셨다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백성들이 많구나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!” …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부유하게 해 주어야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…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부유하게 된 다음에는 또 무엇을 더 해주어야 합니까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그들을 가르쳐야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개발국가론의 언어로 번역하면 성장 기반 위 인적자본 축적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우선순위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물적 토대가 갖춰져야 교육과 도덕의 효과가 지속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확산됨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5C8154B-23DE-8E61-AF1B-A2FEB2A14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F728287-1084-78DF-BF41-7F881C125C4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4CD907-9B40-3F43-BCED-1F6CC5C8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1609D-5FBA-7193-4B36-F503864DF661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382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E8B49-20EF-40EF-5A7D-27F57E14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0B29C0E-F165-BDDD-42A0-96E25B800C3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88B4E9-F482-4B2A-8516-8DFE401172C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F30177-3C37-5C5C-19BE-DF139FE9D149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통치의 미덕과 악덕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B0D15B-F3E6-2470-FE17-E948E0816CD6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堯曰第二十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&gt;02“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君子惠而不費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勞而不怨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欲而不貪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泰而不驕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威而不猛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 …“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不敎而殺謂之虐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不戒視成謂之暴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慢令致期謂之賊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… </a:t>
            </a:r>
            <a:r>
              <a:rPr lang="zh-TW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出納之吝謂之有司</a:t>
            </a:r>
            <a:r>
              <a:rPr lang="en-US" altLang="zh-TW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다섯가지 미덕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은혜는 베풀되 낭비하지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일을 시키되 원망을 사지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뜻을 이루되 탐욕스럽지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여유로우면서도 교만하지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권위는 있으되 사납지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네가지 악덕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가르침 없이 처벌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경고 없이 결과판단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태만한 지시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기한재촉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분배의 인색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오늘날 행정윤리의 공정성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예측가능성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온화한 권위로 해석할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8E6A249-AB88-4173-B8A2-BEF5CB2B9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F6CE6B6-E236-DDEF-3EB1-D7B72121E49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5046B2-65CD-391A-2EBE-56286EC0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DDCFC-77D9-304D-7413-16C15152C704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532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3BC7-030B-BC25-3848-EB2649A9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6C4D9-4C90-6B5F-C043-103832EA1A4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B7E95E-8F4B-4131-D4C3-540C0D626BE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68C83B-3418-679B-3D79-8E97F9197FE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장기적 안목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18555-327A-8120-926F-F1235033128F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子路第十三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&gt;11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善人爲邦百年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亦可以勝殘去殺矣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誠哉是言也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!”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공자께서 말씀하셨다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선한 사람이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백년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동안 나라를 다스린다면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잔악한 사람들을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교화시키고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사형할 일이 없게 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子路第十三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子曰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如有王者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必世而後仁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공자께서 말씀하셨다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만일 왕도정치를 행하는 사람이 있다 하더라도 한 세대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뒤에야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풍속이 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해질 것이다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제도개혁은 단기 성과가 아니라 세대 단위의 축적으로 완성됨 → 행정은 사회적 신뢰를 축적하는 장기 게임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88D9BD9-C44A-DAB1-20CE-CC34F73A1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9E28353-75FE-208A-0D22-94375F29406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58865D-0F97-5A04-23C7-2B407C00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D5FF3-E27A-0694-EA9B-A73FB8365E48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5571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17C2-223E-F59B-F9CD-BA999F4B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CA7ADE-0B63-E1B4-AF9E-495B20DAAE9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4BA63C-A58A-2BB3-5554-B5241F7F96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B11EFC-148D-EDB9-38CD-D6E743124EC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0EE64-D488-443F-F923-9BE52EAB4625}"/>
              </a:ext>
            </a:extLst>
          </p:cNvPr>
          <p:cNvSpPr txBox="1"/>
          <p:nvPr/>
        </p:nvSpPr>
        <p:spPr>
          <a:xfrm>
            <a:off x="1080000" y="1671816"/>
            <a:ext cx="10800000" cy="294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단순한 기술적 장치가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존망을 좌우하는 구조적 요인임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한국 행정에서 드러나는 정명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正名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 명칭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제도와 실제 기능의 불일치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유명무실한 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직책의 형식화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수사와 실제 집행 성과 간의 괴리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지도자의 도덕적 모범과 제도적 장치 중 무엇이 더 중요한가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단기적으로는 제도의 설계가 필요하나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장기적으로는 지도자의 도덕성과 본보기가 제도의 실효성을 좌우할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6DBF4D-0AB0-2888-A8CB-7982D0BA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A68B4C0-C32E-DFFE-0267-173B95DA65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D188BA-631C-3CE4-B11C-18E95BA99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C2CE6-2900-36FA-EB57-E9B44EEE1A01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8594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1131</Words>
  <Application>Microsoft Office PowerPoint</Application>
  <PresentationFormat>와이드스크린</PresentationFormat>
  <Paragraphs>99</Paragraphs>
  <Slides>15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54</cp:revision>
  <dcterms:created xsi:type="dcterms:W3CDTF">2025-03-10T02:54:00Z</dcterms:created>
  <dcterms:modified xsi:type="dcterms:W3CDTF">2025-09-01T06:21:33Z</dcterms:modified>
</cp:coreProperties>
</file>