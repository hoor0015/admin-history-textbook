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65" r:id="rId3"/>
    <p:sldId id="324" r:id="rId4"/>
    <p:sldId id="336" r:id="rId5"/>
    <p:sldId id="339" r:id="rId6"/>
    <p:sldId id="334" r:id="rId7"/>
    <p:sldId id="323" r:id="rId8"/>
    <p:sldId id="340" r:id="rId9"/>
    <p:sldId id="314" r:id="rId10"/>
    <p:sldId id="337" r:id="rId11"/>
    <p:sldId id="349" r:id="rId12"/>
    <p:sldId id="330" r:id="rId13"/>
    <p:sldId id="329" r:id="rId14"/>
    <p:sldId id="316" r:id="rId15"/>
    <p:sldId id="331" r:id="rId16"/>
    <p:sldId id="341" r:id="rId17"/>
    <p:sldId id="342" r:id="rId18"/>
    <p:sldId id="343" r:id="rId19"/>
    <p:sldId id="258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드로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6383119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드로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(1928-)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이스라엘 예루살렘 히브리대학교 정치학 명예교수로 미국 랜드 연구소 및 허드슨 연구소 컨설턴트를 역임함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정책과학의 아버지 중 한명으로 불리며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해롤드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라스웰의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뒤를 이어 정책학을 독자적인 학문 분과로 정립하는데 기여함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단순한 합리성을 넘어선 초합리성의 중요성을 강조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Yehezkel Dror - Wikipedia">
            <a:extLst>
              <a:ext uri="{FF2B5EF4-FFF2-40B4-BE49-F238E27FC236}">
                <a16:creationId xmlns:a16="http://schemas.microsoft.com/office/drawing/2014/main" id="{080C2EC7-B30D-1FB7-E7FA-9E167131F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725" y="1552849"/>
            <a:ext cx="2577496" cy="397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E12E-ADA0-7259-2468-47250DD8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CB95F5-AE74-2386-0187-A01D5949FA3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BE5E5-7FA3-9322-9C8F-35F44E099AE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9073B-E4C0-C55E-62F1-69A6BC9EABB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D850C-E30F-F7A9-32E0-AF61EABF360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드로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310425-0E19-C9CC-3615-51232541E795}"/>
              </a:ext>
            </a:extLst>
          </p:cNvPr>
          <p:cNvSpPr txBox="1"/>
          <p:nvPr/>
        </p:nvSpPr>
        <p:spPr>
          <a:xfrm>
            <a:off x="1079999" y="1671814"/>
            <a:ext cx="10390741" cy="335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린드블롬의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점증주의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(Muddling Through)'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지나치게 보수적이고 혁신이 부족하다고 비판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순수한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 모형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인간의 인지적 한계와 정치적 현실을 무시한다고 비판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최적모형을 통해 합리적 요소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경제적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초합리적 요소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창의성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리더십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결합을 주장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점증주의보다는 혁신적이지만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순수 합리주의보다는 현실적인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길을 모색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3706CF-52F4-DA56-5AAC-3E7DBA9D5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D881C1-CADA-71FE-54FF-705A17B829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4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CF140-E839-F968-F8BD-78EB1E353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0275A78-AAD2-2ED1-2F99-D25BA1EE925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93C027-BEF6-0685-CC6A-A0F12FD4CD4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A0DDD-8C3C-00A0-16EC-3EA0FBC7E61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54C05F-D8E9-8056-32B3-C3DB920D5BDD}"/>
              </a:ext>
            </a:extLst>
          </p:cNvPr>
          <p:cNvSpPr txBox="1"/>
          <p:nvPr/>
        </p:nvSpPr>
        <p:spPr>
          <a:xfrm>
            <a:off x="1235998" y="757300"/>
            <a:ext cx="610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드로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BBB75D-7BF1-FF46-AB88-DA3B04C3A6A4}"/>
              </a:ext>
            </a:extLst>
          </p:cNvPr>
          <p:cNvSpPr txBox="1"/>
          <p:nvPr/>
        </p:nvSpPr>
        <p:spPr>
          <a:xfrm>
            <a:off x="1079999" y="1671814"/>
            <a:ext cx="10390741" cy="335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 정부에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시스템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(Systems Analysis)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도입되면서 경제학적 접근이 행정을 지배하던 시기에 경제학 중심의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시스템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가진 한계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 무시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계량화 집착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통렬히 비판 → 「정책분석가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 서비스에서의 새로운 전문직 역할」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이를 보완하기 위해 정치학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직관을 결합한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＇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(Policy Analysis)＇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이라는 새로운 전문직 역할을 제안함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오늘날 우리가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분석가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라고 부르는 직업의 정체성을 확립한 문헌</a:t>
            </a:r>
            <a:endParaRPr lang="ko-KR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B0A0413-608E-05F3-0729-517270038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EC40F1B-DE9A-AAAB-F05F-55A910CFFF5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357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90831-9FE4-7E2E-A94D-2E6794661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825693-8A31-78BD-0DC2-0E94C75D29B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EEA7F4-36DD-AAF5-B98E-38E35E291FF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20FB04-0E69-B5CD-A293-D62E184743CF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47550A-8A7A-99BB-1C79-F2ACC5655264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경제학의 공공 의사결정 침공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49ABDE-E92A-EE46-75E5-3643B9451D58}"/>
              </a:ext>
            </a:extLst>
          </p:cNvPr>
          <p:cNvSpPr txBox="1"/>
          <p:nvPr/>
        </p:nvSpPr>
        <p:spPr>
          <a:xfrm>
            <a:off x="1079999" y="1671814"/>
            <a:ext cx="10390741" cy="390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본질적으로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개혁은 경제학에 의한 공공 의사결정의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침공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의미합니다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의사결정에 대한 경제학적 접근 방식은 모든 결정을 대안들 사이의 자원 배분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즉 경제적 문제로 봅니다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경제학의 침공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(Invasion): PPB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시스템 분석의 도입은 단순한 기법 변화가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경제학적 사고방식이 행정 전반을 장악하는 현상임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것은 자원 배분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경제학자들은 외교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 문제 등 모든 복잡한 이슈를 단순히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한정된 자원을 어떻게 효율적으로 배분할 것인가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문제로 환원시켜 버림</a:t>
            </a:r>
            <a:endParaRPr lang="ko-KR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46DBE7-484B-47DD-211D-68048B651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E315467-7B95-F8E5-4437-E50C8246123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64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E9EB-C508-CBC3-A40E-FDEAEF112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177E2DF-2BFE-199A-764E-AC047FED327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58E36-AEBE-77B4-546D-FF6330E626F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8407C3-AD88-11E8-2513-9D9040F2CF2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84D32E-4F6F-5A72-19C9-B9A48B2AEC37}"/>
              </a:ext>
            </a:extLst>
          </p:cNvPr>
          <p:cNvSpPr txBox="1"/>
          <p:nvPr/>
        </p:nvSpPr>
        <p:spPr>
          <a:xfrm>
            <a:off x="1235998" y="757300"/>
            <a:ext cx="6178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시스템 분석의 명과 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FD909C-BB21-4FF6-42FF-E4A43AF262FF}"/>
              </a:ext>
            </a:extLst>
          </p:cNvPr>
          <p:cNvSpPr txBox="1"/>
          <p:nvPr/>
        </p:nvSpPr>
        <p:spPr>
          <a:xfrm>
            <a:off x="1079999" y="1671814"/>
            <a:ext cx="10390741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경제학에 의한 공공 의사결정의 침공은 피할 수 없으면서도 유익하지만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위험을 수반합니다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 정책 결정의 많은 비판적 요소들을 적절하게 다루지 못하고 그로 인해 의사결정의 왜곡이 발생할 수 있기 때문에 위험을 수반합니다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주먹구구식 행정을 탈피하고 합리적 이론을 제공한다는 점에서 유익함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경제학적 도구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비용편익분석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 측정할 수 없는 정치적 가치나 사회적 형평성 등을 무시함으로써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오히려 왜곡된 결정을 내릴 위험이 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8961059-FE81-D1DC-D4A7-4A368C224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004E0E6-D418-F93C-C360-A4B9B6EFB38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876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6CEE-6DDC-D066-5398-CD94448F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888200A-4639-3BCE-1B9F-BF26BA3E283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9C0912-D3F9-0D5B-E5CB-F78B6C6AB2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97742-F2CE-4675-6BFE-52341BFD3D8A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44E28-CAAA-E22A-66CC-AAF674A68AE7}"/>
              </a:ext>
            </a:extLst>
          </p:cNvPr>
          <p:cNvSpPr txBox="1"/>
          <p:nvPr/>
        </p:nvSpPr>
        <p:spPr>
          <a:xfrm>
            <a:off x="1235998" y="757300"/>
            <a:ext cx="7880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시스템 분석의 한계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 -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계량화 집착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&amp;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가치 충돌 문제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2C46E-0CEB-8DD5-3B22-8E2CC1BDCCCB}"/>
              </a:ext>
            </a:extLst>
          </p:cNvPr>
          <p:cNvSpPr txBox="1"/>
          <p:nvPr/>
        </p:nvSpPr>
        <p:spPr>
          <a:xfrm>
            <a:off x="1079999" y="1671814"/>
            <a:ext cx="10390741" cy="442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“1.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계량화에 대한 강한 집착과 이에 대한 의존성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 ... 2.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상충하고 서로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통약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불가능한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(non-commensurate)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가치들을 다루는 능력의 부재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."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시스템 분석가들은 숫자로 표현할 수 없는 것은 중요하지 않거나 존재하지 않는 것으로 취급하는 경향이 있음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사랑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애국심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지지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정의 같은 중요한 변수들이 모델에서 배제됨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 성장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환경 보존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처럼 서로 다른 척도를 가진 가치들은 수학적으로 비교하거나 뺄셈할 수 없음 → 시스템 분석은 단일한 기준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주로 화폐 가치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환산하려다 보니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본질적인 가치 갈등을 해결하지 못함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7541C55-13CD-AE90-8ED8-1A17AAEE4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25F1030-7440-BD23-8A61-DA5BD6B822C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597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5B513-FCBA-0BB4-1FA7-3A35A41F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7381701-D201-F0F2-3262-EC97761BB5F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F5F18F-3267-BB42-C824-1C418A2856D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6E751E-AF15-DE6B-55C1-45FA3E5EC762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D3FFB7-E21C-894F-A1F4-24798975BA4B}"/>
              </a:ext>
            </a:extLst>
          </p:cNvPr>
          <p:cNvSpPr txBox="1"/>
          <p:nvPr/>
        </p:nvSpPr>
        <p:spPr>
          <a:xfrm>
            <a:off x="1235998" y="757300"/>
            <a:ext cx="7563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시스템 분석의 한계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 -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정치적 무시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&amp;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창의성 부족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FF8DBA-0007-6D4E-B761-669B16C6915A}"/>
              </a:ext>
            </a:extLst>
          </p:cNvPr>
          <p:cNvSpPr txBox="1"/>
          <p:nvPr/>
        </p:nvSpPr>
        <p:spPr>
          <a:xfrm>
            <a:off x="1079999" y="1671814"/>
            <a:ext cx="10390741" cy="433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“4.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실현 가능성의 문제와 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정치권력 사용이 가져오는 권력 생산 효과와 같은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자원의 특수성에 대한 무시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5.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창의성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암묵적 지식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판단력과 같은 본질적인 초합리적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(extra-rational)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결정 요소들에 대한 의미 있는 처리의 부족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어떤 정책은 경제적으로는 비효율적이어도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지지를 얻어내어 향후 더 큰 개혁을 가능하게 할 수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시스템 분석은 이러한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동학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전혀 고려하지 않음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진정한 해결책은 데이터 분석이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지도자의 직관이나 새로운 아이디어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창의성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나오는 경우가 많음 → 시스템 분석은 기존 대안들을 비교하는 데는 능하지만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새로운 대안을 발명해내지는 못함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6881543-04D6-4D1F-35BA-2C2F43CAF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8CC1FE6-4C4C-B882-C35C-43E1E737965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815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5842-C94A-1C39-CD70-917FE185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18D179F-E3A3-8546-CBC0-AB3FB4AD219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3CFA1A-8D99-3995-32F2-6209AC4D5D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5AC49-4EB1-475E-7F12-4E3D3F1EE6F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3DBC8F-0194-BF71-9551-0669E81F238F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시스템 분석의 한계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 -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복잡성 처리 불가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DE1AA-ED72-6B54-713F-94C7193A03B2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“6.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더 어렵고 복잡한 문제들의 전반적인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게슈탈트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(Gestalt)'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파괴하는 하위 최적화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(sub-optimization)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통하지 않고는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크고 복잡한 시스템을 다룰 수 없는 무능력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하위 최적화의 함정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(Sub)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최적화하는 것이 전체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(System)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최적화를 보장하지 않음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예산을 아껴서 다리 건설 비용을 줄였더니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교통 체증이 심해져 도시 전체 비용이 증가함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복잡한 사회 문제는 부분의 합이 아닌 전체적인 구조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(Gestalt)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봐야 하는데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분석가는 이를 자꾸 쪼개려고만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87504C4-8781-1D03-2141-4DD0BE19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73797DF-774A-9FBE-AE5E-E20365477F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742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FA4D1-0F3B-A77F-7266-8885E060C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EC594D4-C063-927D-D5AD-7B71875E19D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390876-2EB5-B721-72B8-45190C8B994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6A1410-F4AF-1EBA-84F9-7BA9A8AAA8E0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4932A6-F3AF-BAEA-E643-44FBF211AB6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시스템 분석의 유용성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3D82BC-483C-549C-1BDE-C8C3E0FDB8BF}"/>
              </a:ext>
            </a:extLst>
          </p:cNvPr>
          <p:cNvSpPr txBox="1"/>
          <p:nvPr/>
        </p:nvSpPr>
        <p:spPr>
          <a:xfrm>
            <a:off x="1079999" y="1671814"/>
            <a:ext cx="10390741" cy="3074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나는 시스템 분석이 지금까지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특히 국방부에서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더 나은 의사결정에 매우 중요하지만 제한적인 기여를 해왔다는 사실을 받아들입니다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기술과 목표가 매우 빠르게 변하는 상황에서도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완전히 다른 곡선으로 올라타려 시도할 것입니다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국방부와 같이 목표가 비교적 명확하고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적 파괴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기술적 요소가 강한 분야에서는 분명 효과가 있었음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점증주의적 관행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하던 대로 하기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타파하고 혁신을 시도하게 만든 점은 긍정적임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3E5160A-FBDE-4C71-4221-E09DD2ECA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E3D2FEB-91BA-898C-8A6F-30C0C835713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903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85478-DE3B-2499-F28B-12789270A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7461EB8-EBF5-30B0-0F5B-D4C92D2FC61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2C4624-4D7B-0E24-07B3-4CA15678A9F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EE2F29-9A80-EE7E-2817-153083B7482A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078E19-B2F5-CAC3-18D1-02BCB7C08D68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부메랑 효과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(Boomerang Effect)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의 위험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D03F3F-E0B9-C698-8EF9-26E1C3136658}"/>
              </a:ext>
            </a:extLst>
          </p:cNvPr>
          <p:cNvSpPr txBox="1"/>
          <p:nvPr/>
        </p:nvSpPr>
        <p:spPr>
          <a:xfrm>
            <a:off x="1079999" y="1671814"/>
            <a:ext cx="10390741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그러한 비현실적인 기대 수준에 의해 평가받기 때문에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시스템 분석과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PPBS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종종 실패로 판정될 것입니다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결과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미래의 중대한 개혁에 더 잘 반대할 수 있게 될 큰 위험이 있습니다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과잉 약속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시스템 분석가들이 자신들의 도구로 모든 사회 문제를 해결할 수 있는 것처럼 과장함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역풍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실제 복잡한 문제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빈곤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교육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실패할 경우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 봐라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분석은 쓸모없다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반작용이 일어나 향후 필요한 개혁조차 막히게 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EA9110A-0FA6-B20F-0293-ECD092272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31687DD-A9AF-032E-6B87-1126A28EB4D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2662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6D8E-F7FC-346F-74CE-B74843E2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4BB7B10-DB17-47C7-D232-DB13AC67C4C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FB1F90-3DDF-5D7C-6C7C-F6C99D159D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96759-4C1A-6725-ED13-DFC97317678E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660569-2F38-E836-6D1A-AAB3F38B29C9}"/>
              </a:ext>
            </a:extLst>
          </p:cNvPr>
          <p:cNvSpPr txBox="1"/>
          <p:nvPr/>
        </p:nvSpPr>
        <p:spPr>
          <a:xfrm>
            <a:off x="1235998" y="757300"/>
            <a:ext cx="7174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해결책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 '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정책 분석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(Policy Analysis)'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으로의 진화</a:t>
            </a:r>
            <a:endParaRPr lang="en-US" altLang="ko-KR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2CE1B2-CF06-A39C-C384-810E486A706A}"/>
              </a:ext>
            </a:extLst>
          </p:cNvPr>
          <p:cNvSpPr txBox="1"/>
          <p:nvPr/>
        </p:nvSpPr>
        <p:spPr>
          <a:xfrm>
            <a:off x="1079999" y="1671814"/>
            <a:ext cx="10390741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필요한 것은 공공 의사결정의 개선을 위해 상당한 이점을 가지고 사용될 수 있는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보다 발전된 유형의 전문 지식입니다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분석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이라는 용어는 시스템 분석과의 친화성을 넓고 정치적인 의미의 정책 개념과 결합시키기 때문에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제안된 전문 분야에 적합한 것으로 보입니다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시스템 분석을 폐기하는 것이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그것을 정치학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행정학과 결합하여 업그레이드해야 함 → 이것이 바로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드로어가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제안하는 새로운 전문직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분석가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C25958C-A614-03F3-2333-A0062B35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C2E4064-7E16-7EBB-FD63-DA2BF7285A6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772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D5511-3BC0-5684-BD69-7763DD6E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872919-28D0-DB3B-F09E-12FF5518B11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0718E5-FFD2-B994-457C-54BD7E84F16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6780A0-4906-C1A2-5207-B8E2495027A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D5E8BC-708C-FFAB-90A9-5242D0B17CE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정책 분석의 특징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 -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혼합이 아닌 화합물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A25C0C-9216-6DEB-ADEF-2AA5BF341E5D}"/>
              </a:ext>
            </a:extLst>
          </p:cNvPr>
          <p:cNvSpPr txBox="1"/>
          <p:nvPr/>
        </p:nvSpPr>
        <p:spPr>
          <a:xfrm>
            <a:off x="1079999" y="1671814"/>
            <a:ext cx="10390741" cy="426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단순한 혼합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(mix)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아닌 화합물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(compound)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형태여야 합니다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정치의 특수한 특징들이 상실될 수 있는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정치적인 것을 경제 모델에 무비판적으로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종속시키는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것이 아니라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진정한 종합을 달성하기 위해 주의를 기울여야 합니다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행위의 특수한 특징들을 온전히 반영하고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그것들을 경제적 용어와 이론이라는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프로크루스테스의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침대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(procrustean bed)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억지로 끼워 맞추려 하지 않는 이론의 개발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단순히 경제학자 옆에 정치학자를 앉혀 놓는 것이 아님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경제학적 효율성과 정치적 현실성이 화학적으로 결합하여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새로운 시각의 분석 틀을 만들어야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프로크루스테스의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침대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나그네를 침대 길이에 맞춰 다리를 자르거나 늘려 죽인 신화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경제학적 모델에 맞추기 위해 정치적 현실을 왜곡하면 안 된다는 뜻 → 정치적 실현 가능성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지지 확보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타협 등을 분석의 핵심 변수로 포함해야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E3B067-2146-B6F1-3880-C35240A7F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39375AF-9073-BDBD-BC4C-6750CAFBD0D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41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80FB-96E6-3EEF-106E-D5987B33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41A375-16A0-5198-0811-AD26EA531CD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7812A6-0340-B183-29E2-3BCF0DB8269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772C2-77E3-3978-A51F-3E1D9F367B00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57C49-EC34-A8AA-87D0-6B14093DD1F9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정책 분석의 특징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 –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의사결정과 창의성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6F31C6-B60E-FD30-FD6C-5777E1E1B5E9}"/>
              </a:ext>
            </a:extLst>
          </p:cNvPr>
          <p:cNvSpPr txBox="1"/>
          <p:nvPr/>
        </p:nvSpPr>
        <p:spPr>
          <a:xfrm>
            <a:off x="1079999" y="1671814"/>
            <a:ext cx="10390741" cy="423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외교 각서의 내용을 결정하거나 선발 징병제를 무작위 과정으로 바꾸는 것과 같은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비판적 결정들은 경제적 자원 배분의 틀에서 유용하게 접근될 수 없습니다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혁신적 사고의 장려에 명시적인 주의를 기울이면서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창의성과 새로운 정책 대안 탐색에 주요 강조점을 둘 것입니다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예를 들어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금연 문제에서 핵심은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비용편익 분석이 아니라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유망한 새로운 대안들을 고안해내는 것입니다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정책이 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자원 배분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문제는 아님 → 인권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외교적 수사 등 비경제적 요소가 핵심인 결정들을 다룰 수 있는 질적 탐색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(Qualitative search)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능력이 필요함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시스템 분석은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안과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안을 비교하는 데 그치지만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분석은 아예 새로운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C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안을 발명해내야 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상상력이 풍부하고 위험을 감수하는 기업가 정신이 필요함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E848FC7-6CBC-62DA-0539-8DC61B9F3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AC6DAC0-4344-37EA-931C-E6DEFB5CA6A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334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CE0E-ECA5-A9F6-3A78-6F7D12C98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267BBF1-5022-9A52-AAF5-14A756BF28A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E002B4-0508-DD5F-C77B-BAE8E724F9B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D9D5D3-2528-E72A-833C-32450F4F96B2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99601-DFDA-0E08-751A-64DB773FC95C}"/>
              </a:ext>
            </a:extLst>
          </p:cNvPr>
          <p:cNvSpPr txBox="1"/>
          <p:nvPr/>
        </p:nvSpPr>
        <p:spPr>
          <a:xfrm>
            <a:off x="1235998" y="757300"/>
            <a:ext cx="7908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정책 분석의 특징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 -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암묵적 지식과 미래 지향성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2171BD-191C-C5D6-34DC-F6F5E23F7A34}"/>
              </a:ext>
            </a:extLst>
          </p:cNvPr>
          <p:cNvSpPr txBox="1"/>
          <p:nvPr/>
        </p:nvSpPr>
        <p:spPr>
          <a:xfrm>
            <a:off x="1079999" y="1671814"/>
            <a:ext cx="10390741" cy="451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암묵적 이해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게슈탈트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이미지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질적 모델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질적 방법들에 광범위하게 의존할 것입니다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훈련된 직관의 정책 분석으로의 체계적 통합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현재의 정책 결정을 위한 필수적인 배경으로서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장기 예측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미래의 대안적 상태들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미래에 대한 사변적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(speculative)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사고를 동반하는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미래 지향적 사고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훨씬 더 많은 강조를 둘 것입니다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."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숫자로 증명되지 않아도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노련한 정치가의 직관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암묵적 지식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이나 통찰력은 매우 중요함 →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델파이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기법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시나리오 기법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 질적 분석 도구를 적극 활용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당장 내년 예산이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20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30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논문 당시 기준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미래상을 그려보고 현재의 결정을 내려야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1D8713E-4C46-112C-8712-EE8542646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812B06D-2C89-5264-6CB7-E0C9D46E2BF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272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C39C8-50FF-1312-E61E-A040B51BA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7E3731F-3778-C8B0-3714-D84317D1F17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C18A0C-FF54-6E23-82D5-E5A9732AA6C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F1F09B-D4FB-DBAA-A6A9-700CDC704344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9DF0CA-F86A-DC16-8D61-E43548C6AB39}"/>
              </a:ext>
            </a:extLst>
          </p:cNvPr>
          <p:cNvSpPr txBox="1"/>
          <p:nvPr/>
        </p:nvSpPr>
        <p:spPr>
          <a:xfrm>
            <a:off x="1235998" y="757300"/>
            <a:ext cx="7908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정책 분석의 유연성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C9720C-0945-B93D-C619-CC36EA39330E}"/>
              </a:ext>
            </a:extLst>
          </p:cNvPr>
          <p:cNvSpPr txBox="1"/>
          <p:nvPr/>
        </p:nvSpPr>
        <p:spPr>
          <a:xfrm>
            <a:off x="1079999" y="1671814"/>
            <a:ext cx="10390741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명확한 기준과 지배적인 해결책을 얻으려고 애쓰는 대신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순차적 의사결정과 지속적인 학습이 지배적이며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일차적 불일치를 이차적 불일치로 축소하는 것이 주요 목표입니다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"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분석의 도움을 받아 지식과 정책 결정을 더 잘 통합함으로써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복잡한 공공 의사결정과 정책 결정에서 가령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15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퍼센트 정도의 개선은 달성될 수 있으며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이것은 많은 것입니다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."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문제에 대한 정답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(Optimal Solution)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없을 수도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복잡한 문제에서는 문제해결보다 지속적인 학습과 갈등의 축소가 더 현실적이고 중요한 목표 →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예컨데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의사결정의 질을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10%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 높여도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사회적 파급 효과는 엄청남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D8862DF-C397-E176-E977-E554FCE66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4ECF80F-809E-ABA3-A7F0-615F3FB56AE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012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71CE-DF7F-9700-8575-FC38070C6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3545257-E302-2DB3-F9AE-BC13017351B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3CCB2A-F342-D73C-6AC4-0A95CE51C32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948CCF-5183-9350-FFE4-465DC6E619FF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69A170-A4C2-81EB-6C8C-AAE9BCA6795E}"/>
              </a:ext>
            </a:extLst>
          </p:cNvPr>
          <p:cNvSpPr txBox="1"/>
          <p:nvPr/>
        </p:nvSpPr>
        <p:spPr>
          <a:xfrm>
            <a:off x="1235998" y="757300"/>
            <a:ext cx="7908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정부 내 정책분석가의 위치와 역할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FD03C7-B2F9-124F-8567-E3D7DB1D7917}"/>
              </a:ext>
            </a:extLst>
          </p:cNvPr>
          <p:cNvSpPr txBox="1"/>
          <p:nvPr/>
        </p:nvSpPr>
        <p:spPr>
          <a:xfrm>
            <a:off x="1079999" y="1671814"/>
            <a:ext cx="10390741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분석 참모 직위는 모든 주요 행정 기관 및 조직에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고위 정책 결정 직위 근처에 설치되어야 하며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 서비스의 고위층 전반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실로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 지도 집단 전반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분산 배치되어야 합니다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부서에만 있어서는 안 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대통령 등 최고 결정권자 바로 옆에서 조언해야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한 곳에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모여있기보다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여러 부처에 분산되어야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특정 관점에 치우치지 않고 다양한 분석이 가능함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B97EBA5-FB3C-6438-8BD7-E2ACA0B30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E504A2A-CB7C-7A24-DA1B-20BEFFC3649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18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F7F88-441F-3A3F-6F80-B57397A53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0E3FBD7-E86E-1900-BC10-DCBA7DA4071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DED11B-C967-B911-5394-30CE669A6D4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2816B0-2528-9E19-402A-1DAAF182543B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0868E1-C1E5-E447-82B4-725E0E4F3C7C}"/>
              </a:ext>
            </a:extLst>
          </p:cNvPr>
          <p:cNvSpPr txBox="1"/>
          <p:nvPr/>
        </p:nvSpPr>
        <p:spPr>
          <a:xfrm>
            <a:off x="1235998" y="757300"/>
            <a:ext cx="7908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결론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부메랑을 피하고 진보로 나아가기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50EBE-EE04-EAD7-1239-98C4824E4CFA}"/>
              </a:ext>
            </a:extLst>
          </p:cNvPr>
          <p:cNvSpPr txBox="1"/>
          <p:nvPr/>
        </p:nvSpPr>
        <p:spPr>
          <a:xfrm>
            <a:off x="1079999" y="1671814"/>
            <a:ext cx="10390741" cy="451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과학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이라는 새로운 학제간 분야 또한 정책 분석 지식과 정책 분석 전문가들을 위한 건전한 이론적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제도적 기반을 제공하기 위해 필요할 수 있습니다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심각한 부메랑 효과와 손상을 피해야 하고 피할 수 있으며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 서비스에 시스템 분석을 도입하려는 현재의 노력들을 정책 분석의 방향으로 변경함으로써 그러한 학문과 전문 직업을 위한 기초가 놓여야 하고 놓일 수 있습니다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."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분석가를 양성하기 위해서는 기존의 정치학이나 행정학과는 구별되는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문제 해결 지향적인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과학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(Policy Sciences)'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학문적으로 정립되어야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경제학의 정교함에 정치학의 현실성을 더한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만이 공공 의사결정을 개선할 수 있는 유일한 길임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45AD545-2779-02A4-7135-E40D01AB2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B8BAA58-9A5B-D719-E091-BB5FFB5581F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594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4728</TotalTime>
  <Words>1611</Words>
  <Application>Microsoft Office PowerPoint</Application>
  <PresentationFormat>와이드스크린</PresentationFormat>
  <Paragraphs>93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1174</cp:revision>
  <dcterms:created xsi:type="dcterms:W3CDTF">2025-03-10T02:54:00Z</dcterms:created>
  <dcterms:modified xsi:type="dcterms:W3CDTF">2025-11-26T00:25:26Z</dcterms:modified>
</cp:coreProperties>
</file>