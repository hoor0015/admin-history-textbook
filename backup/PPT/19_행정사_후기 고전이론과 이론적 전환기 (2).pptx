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324" r:id="rId4"/>
    <p:sldId id="341" r:id="rId5"/>
    <p:sldId id="336" r:id="rId6"/>
    <p:sldId id="339" r:id="rId7"/>
    <p:sldId id="334" r:id="rId8"/>
    <p:sldId id="323" r:id="rId9"/>
    <p:sldId id="340" r:id="rId10"/>
    <p:sldId id="314" r:id="rId11"/>
    <p:sldId id="337" r:id="rId12"/>
    <p:sldId id="330" r:id="rId13"/>
    <p:sldId id="329" r:id="rId14"/>
    <p:sldId id="316" r:id="rId15"/>
    <p:sldId id="331" r:id="rId16"/>
    <p:sldId id="25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찰스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E.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린드블롬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린드블롬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(1917-2018)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미국의 행정학자로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점진주의 이론의 초기개발자이자 옹호자 중 한 명임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린드블롬에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따르면 정책변화는 대부분의 상황에서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혁명적이라기보다는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진화적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로버트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달과 함께 정치 엘리트와 거버넌스에 대한 다원주의적 관점을 옹호함 → 여러 전문화된 엘리트들의 경쟁과 타협으로 자유 민주주의가 번영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n memoriam: Charles Edward Lindblom, helped found ISPS at Yale | Yale News">
            <a:extLst>
              <a:ext uri="{FF2B5EF4-FFF2-40B4-BE49-F238E27FC236}">
                <a16:creationId xmlns:a16="http://schemas.microsoft.com/office/drawing/2014/main" id="{188605D6-18F6-CD96-4222-D04626F54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812" y="1722399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찰스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E.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린드블롬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산업화된 세계 전역의 복지 정책과 노동 조합에 대한 광범위한 연구를 통해 점진주의 관점을 발전시켰는데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간격으로 발간된 두 편의 논문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"The Science Of 'Muddling Through'"(1959)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"Still Muddling, Not yet through"(1979)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잘 드러나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해당 논문은 정책결정이 기존의 합리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총체적 모델과 다르게 현실에서 ‘점진적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제한적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비교’를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중심으로 이루어진다는 점을 이론화한 것에 의의가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정책결정은 ‘이상적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제한된 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 속에서의 점진적 비교 과정임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55F4-4004-38F4-74D7-48C61ECD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2B55430-738F-3AC9-3444-A19E18B5D42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494E10-3C99-7D39-94CD-F0C1754AF37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E3A16-8AB0-21A0-A97B-E73131E4CF08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B396-5B80-7D7B-A09A-4745447DA5BB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찰스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E.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린드블롬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F78DF6-F322-26AA-C588-650850C57DB5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린드블롬은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정치와 시장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』 (1977)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다두정치 체제에서 기업의 특권적 지위가 변화를 가로막는 근본 요인임을 지적함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통제된 의지라는 개념은 민주주의 국가에서도 엘리트가 원하는 것만 대중이 엘리트에게 요구하도록 유도된다는 것을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기업의 특권적 지위로 말미암아 다원주의가 그리고 있는 평등한 집단 간의 자유로운 경쟁이 나타날 수도 없고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기업의 세뇌로 인해 아이디어의 자유로운 경쟁을 통한 사회문제의 해결과 더 나은 사회로의 변화 가능성이 뿌리부터 위협받음을 지적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2ACB137-A240-959E-95DF-82729B956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D9CD57-553F-3191-ED62-8E2EEAC29DF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26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F140-E839-F968-F8BD-78EB1E35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275A78-AAD2-2ED1-2F99-D25BA1EE92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93C027-BEF6-0685-CC6A-A0F12FD4CD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0DDD-8C3C-00A0-16EC-3EA0FBC7E6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4C05F-D8E9-8056-32B3-C3DB920D5BDD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합리적 총체주의의 비현실성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BB75D-7BF1-FF46-AB88-DA3B04C3A6A4}"/>
              </a:ext>
            </a:extLst>
          </p:cNvPr>
          <p:cNvSpPr txBox="1"/>
          <p:nvPr/>
        </p:nvSpPr>
        <p:spPr>
          <a:xfrm>
            <a:off x="1079999" y="1671814"/>
            <a:ext cx="10390741" cy="353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“복잡한 문제에서 첫째 접근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(‘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뿌리’ 방식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따르는 것은 사실상 불가능하다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접근은 기술적으로 묘사할 수는 있으나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실제로는 비교적 단순한 문제에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그것도 다소 수정된 형태로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 적용될 수 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인간이 가진 지적 능력과 정보의 원천은 그 접근이 요구하는 것을 충족하지 못하며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공공정책에서 늘 그렇듯 시간과 돈이 제한되어 있기에 그러한 접근을 취하는 것은 더더욱 비현실적이다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총체적 모델은 모든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정책대안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결과의 분석을 전제로 하나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현실의 행정환경에서는 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인지 능력을 고려할 때 사실상 불가능함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“완전한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합리성”을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전제하는 고전적 정책결정모형은 경험적 현실과 괴리가 존재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0A0413-608E-05F3-0729-51727003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C40F1B-DE9A-AAAB-F05F-55A910CFFF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57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0831-9FE4-7E2E-A94D-2E679466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25693-8A31-78BD-0DC2-0E94C75D29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EEA7F4-36DD-AAF5-B98E-38E35E291FF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0FB04-0E69-B5CD-A293-D62E184743C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7550A-8A7A-99BB-1C79-F2ACC5655264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점진주의의 기본 개념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9ABDE-E92A-EE46-75E5-3643B9451D58}"/>
              </a:ext>
            </a:extLst>
          </p:cNvPr>
          <p:cNvSpPr txBox="1"/>
          <p:nvPr/>
        </p:nvSpPr>
        <p:spPr>
          <a:xfrm>
            <a:off x="1079999" y="1671814"/>
            <a:ext cx="10390741" cy="353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“그의 접근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본고에서 다루는 둘째 접근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에서는 처음의 접근과 달리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정책결정은 기본전제와 세부에서 조금씩 바꾸어 가며 연속된 작은 단계들로 진행된다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요컨대 그는 많은 목표를 사전에 분명히 설정하고 나서 그 목표에 맞는 최적의 수단을 찾는 것이 아니라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경험과 점진적 비교를 통해 ‘덜 나쁜’ 대안을 찾아가며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동시에 필요에 따라 목표 자체를 조금씩 수정해 나간다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정책은 거대한 변화가 아니라 미세한 조정의 연쇄로 형성되는 것임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행정가는 제한된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제한된 대안 집합에서 ‘덜 나쁜’ 선택을 반복하는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정책목표도 분석 과정에서 형성되는 것이지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사전적으로 설정되는 것이 아님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46DBE7-484B-47DD-211D-68048B651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315467-7B95-F8E5-4437-E50C8246123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4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E9EB-C508-CBC3-A40E-FDEAEF11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77E2DF-2BFE-199A-764E-AC047FED32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58E36-AEBE-77B4-546D-FF6330E626F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407C3-AD88-11E8-2513-9D9040F2CF2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84D32E-4F6F-5A72-19C9-B9A48B2AEC3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가치와 경험분석의 얽힘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(1b)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D909C-BB21-4FF6-42FF-E4A43AF262FF}"/>
              </a:ext>
            </a:extLst>
          </p:cNvPr>
          <p:cNvSpPr txBox="1"/>
          <p:nvPr/>
        </p:nvSpPr>
        <p:spPr>
          <a:xfrm>
            <a:off x="1079999" y="1671814"/>
            <a:ext cx="10390741" cy="423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“연속적 제한 비교에서 가치가 어떻게 다루어지는지 가장 빨리 이해하는 길은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가치가 사전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事前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명확히 정해지고 대안 분석에 선행한다는 생각이 복잡한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문제들에서는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어떻게 무너지는지를 보는 것이다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현장에서 부딪히는 첫 번째 어려움은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이해관계자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행정가들이 중요하게 여기는 가치가 서로 다르고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가치 간의 상대적 서열에 대한 합의도 없다는 사실이다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선후관계가 분명하지 않으며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정책결정에서는 두 요소가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상호조정되며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형성되게 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다양한 이해관계자 간의 이견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 갈등이 존재하기 때문에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목표는 ‘사후적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점진적’으로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드러날 수밖에 없음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협의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조정의 산물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8961059-FE81-D1DC-D4A7-4A368C22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04E0E6-D418-F93C-C360-A4B9B6EFB38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87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8" y="757300"/>
            <a:ext cx="6011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수단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목표 관계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(2b):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동시선택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414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“의사결정은 통상 수단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관계로 형식화되지만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정책상황에서는 수단과 목표가 분명히 구분되는 경우가 드물다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두 요소는 ‘동시에’ 선택된다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간 타협과 조정이 수단 선택을 좌우하고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수단의 현실적 제약이 목표의 내용 자체를 변형시킨다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연속적 제한 비교의 관점에서는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더 좋은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정책’이란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추상적 목표에 대한 적합성이 아니라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경쟁하는 대안들 사이에서 더 넓은 합의에 도달한 정책을 의미한다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정책에서는 목표가 명료하지 않거나 다원적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가변적이므로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수단과 목표가 동시에 조정되는 특성이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실무에서는 유연하고 적응적인 판단이 핵심이 될 수밖에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B513-FCBA-0BB4-1FA7-3A35A41F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7381701-D201-F0F2-3262-EC97761BB5F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F5F18F-3267-BB42-C824-1C418A2856D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E751E-AF15-DE6B-55C1-45FA3E5EC76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3FFB7-E21C-894F-A1F4-24798975BA4B}"/>
              </a:ext>
            </a:extLst>
          </p:cNvPr>
          <p:cNvSpPr txBox="1"/>
          <p:nvPr/>
        </p:nvSpPr>
        <p:spPr>
          <a:xfrm>
            <a:off x="1235998" y="757300"/>
            <a:ext cx="6459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좋은 정책의 기준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(3b):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합리성이 아닌 ‘합의’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F8DBA-0007-6D4E-B761-669B16C6915A}"/>
              </a:ext>
            </a:extLst>
          </p:cNvPr>
          <p:cNvSpPr txBox="1"/>
          <p:nvPr/>
        </p:nvSpPr>
        <p:spPr>
          <a:xfrm>
            <a:off x="1079999" y="1671814"/>
            <a:ext cx="10390741" cy="368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뿌리’ 방식에서는 특정한 명시 목표에 더 잘 부합한다는 증거가 있으면 정책이 ‘옳다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좋다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합리적’이라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반면 ‘가지’ 방식에서는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자체가 추상적이거나 다수이며 가변적이기 때문에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합의 자체가 주된 시험기준이 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다시 말해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그 자체의 ‘정확성’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목표에 대한 논리적 적합성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보다는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의견을 달리하는 참여자들 사이의 합의 정도가 의사결정을 정당화하는 구심점이 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정책의 정당성은 목표 적합성이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이해관계자 간의 정치적 수용 가능성에 의해 판단됨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합리성이 아니라 합의가 좋은 정책의 기준이 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6881543-04D6-4D1F-35BA-2C2F43CAF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8CC1FE6-4C4C-B882-C35C-43E1E737965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15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비포괄성의 분석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 제약의 제도화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423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“합리적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포괄적 분석은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실상 아무것도 말하지 않는 말이다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인간의 지적 능력과 이용 가능한 정보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시간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제약이 존재하는 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분석은 반드시 단순화되어야 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연속적 제한 비교는 이런 ‘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비포괄성’을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체계적으로 제도화한다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첫째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 정책과의 미세한 차이만을 비교함으로써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증분적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비교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 자체를 단순화한다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둘째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가치의 범위를 의도적으로 좁힌다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‘포괄적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분석’은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현실 제약을 무시한 슬로건에 가깝고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행정가는 계획적으로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비포괄적인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분석만 수행할 수 있음  → 점진주의는 이러한 비포괄성을 우연한 결함이 아니라 제도화된 절차로 이해함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‘제한된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합리성’을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정책과정 수준에서 구체화한 설명이라고 볼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A4D1-0F3B-A77F-7266-8885E060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C594D4-C063-927D-D5AD-7B71875E19D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390876-2EB5-B721-72B8-45190C8B99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A1410-F4AF-1EBA-84F9-7BA9A8AAA8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932A6-F3AF-BAEA-E643-44FBF211AB6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현실성과 관련성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분업된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종합성과 상호조정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D82BC-483C-549C-1BDE-C8C3E0FDB8BF}"/>
              </a:ext>
            </a:extLst>
          </p:cNvPr>
          <p:cNvSpPr txBox="1"/>
          <p:nvPr/>
        </p:nvSpPr>
        <p:spPr>
          <a:xfrm>
            <a:off x="1079999" y="1671814"/>
            <a:ext cx="10390741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“서구 민주정치의 경험에서 보듯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주요 정당들이 같은 유권자 풀을 상대로 경쟁할 때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그들의 정책 차이는 대체로 점진적이다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급격한 변화를 약속하면 유권자 다수가 불안을 느끼며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정당들은 공통분모가 큰 범위 안에서 구체적 차별점을 제시한다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 역시 지식과 자료가 한정된 조건에서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현재 알려진 사실에 기초한 작은 변화들을 설계한다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또한 서로 다른 기관들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예컨대 교육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보건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경찰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각자의 전문 영역에 집중함으로써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전체 정부는 ‘</a:t>
            </a:r>
            <a:r>
              <a:rPr lang="ko-KR" altLang="en-US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분업된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종합성’에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이른다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어느 한 기관이 모든 가치를 종합적으로 반영할 수는 없지만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상호조정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(partisan mutual adjustment)</a:t>
            </a:r>
            <a:r>
              <a:rPr lang="ko-KR" altLang="en-US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통해 각자의 편향이 서로 보정된다</a:t>
            </a:r>
            <a:r>
              <a:rPr lang="en-US" altLang="ko-KR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민주정치에서는 급격한 변화보다 완만한 조정이 유리하며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다양한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 간 상호조정이 정책의 안정성을 보장함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조직의 부분적 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(partial rationality)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서로를 보정하면서 전체적 균형을 이룸 → 정책조정의 정치경제적 분석에 적용될 수 있는 핵심 개념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3E5160A-FBDE-4C71-4221-E09DD2EC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3D2FEB-91BA-898C-8A6F-30C0C835713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90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6D8E-F7FC-346F-74CE-B74843E2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BB7B10-DB17-47C7-D232-DB13AC67C4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FB1F90-3DDF-5D7C-6C7C-F6C99D159D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96759-4C1A-6725-ED13-DFC97317678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60569-2F38-E836-6D1A-AAB3F38B29C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비교의 연쇄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(5b):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누적성과 학습</a:t>
            </a:r>
            <a:endParaRPr lang="en-US" altLang="ko-KR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CE1B2-CF06-A39C-C384-810E486A706A}"/>
              </a:ext>
            </a:extLst>
          </p:cNvPr>
          <p:cNvSpPr txBox="1"/>
          <p:nvPr/>
        </p:nvSpPr>
        <p:spPr>
          <a:xfrm>
            <a:off x="1079999" y="1671814"/>
            <a:ext cx="10390741" cy="418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“연속적 제한 비교의 마지막 특징은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비교가 시간순 연쇄로 이루어진다는 점이다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정책은 한 번에 만들어지는 것이 아니며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연속된 의사결정의 축적 속에서 형성된다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정책결정자는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단계에서 이전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단계들에서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이미 축적된 지식을 활용해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다음 단계에서의 작은 변화를 모색한다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과정은 ‘큰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실수’를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피하는 데 특히 유리하다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갑작스러운 큰 변화를 강행할 </a:t>
            </a:r>
            <a:r>
              <a:rPr lang="ko-KR" altLang="en-US" sz="2000" i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때 생길 수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있는 돌이킬 수 없는 오류를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작은 변화의 누적으로 분산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완화할 수 있기 때문이다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정책결정은 단절성이 아닌 누적성과 경로의존성을 가짐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작은 조정의 반복은 큰 실수의 위험을 줄이고 학습 효과를 축적할 수 있는 위험 분산 메커니즘으로 이해할 수 있음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정책학에서의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incremental learning, adaptive governance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연구와 연결됨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25958C-A614-03F3-2333-A0062B3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2E4064-7E16-7EBB-FD63-DA2BF7285A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772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점진주의와 이론가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실무가 간 간극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3788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“이론가는 종종 ‘먼 길을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돌아가라’고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조언하지만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행정가는 ‘지금 달리는 길에서 안전하게 방향을 잡는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것’이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더 유용하다고 느낀다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실무가가 ‘감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感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의존해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비행한다’고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말할 때조차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사실은 과거 비교의 축적에 근거한 점진적 판단을 하고 있는 것이다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연속적 제한 비교는 체계가 없는 임기응변이 아니라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실무가들이 실제로 사용하는 일관된 방법이다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실무자의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감’은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경험 기반의 비교 축적이며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비논리적 직관이 아님 → 실천적 지식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이론가는 포괄적 경로를 제시하려 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실무가는 ‘현재 경로에서의 안전한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수정’을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중시함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린드블롬은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점진주의를 통해 이론가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실무가 간 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행동 구조의 차이를 설명함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점진주의는 임기응변이 아니다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“연속적 제한 비교는 실패의 미봉책이 아니라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사과해야 할 이유가 있는 접근도 아니라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정책결정의 보편적 체계다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물론 결함이 없지 않다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그것은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비과학’이거나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무계획’이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오히려 인간의 인지적 한계와 민주정치의 구조를 현실적으로 반영한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가장 실천 가능한 방법이다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점진주의는 무계획성이나 비합리성이 아니라 제약된 상황에서 합리적 의사결정 체계로서 가장 실천 가능한 방법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인간의 인지적 한계와 민주정치의 협상 구조를 반영한 체계적 절차임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CE0E-ECA5-A9F6-3A78-6F7D12C9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67BBF1-5022-9A52-AAF5-14A756BF28A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002B4-0508-DD5F-C77B-BAE8E724F9B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9D5D3-2528-E72A-833C-32450F4F96B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99601-DFDA-0E08-751A-64DB773FC95C}"/>
              </a:ext>
            </a:extLst>
          </p:cNvPr>
          <p:cNvSpPr txBox="1"/>
          <p:nvPr/>
        </p:nvSpPr>
        <p:spPr>
          <a:xfrm>
            <a:off x="1235998" y="757300"/>
            <a:ext cx="7908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우왕좌왕하기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(Muddling Through)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재평가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171BD-191C-C5D6-34DC-F6F5E23F7A34}"/>
              </a:ext>
            </a:extLst>
          </p:cNvPr>
          <p:cNvSpPr txBox="1"/>
          <p:nvPr/>
        </p:nvSpPr>
        <p:spPr>
          <a:xfrm>
            <a:off x="1079999" y="1671814"/>
            <a:ext cx="10390741" cy="418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“‘우왕좌왕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(muddling through)’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가벼운 표현 아래에는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 고도로 세련된 문제해결의 논리가 숨어 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논리를 명확히 하는 것은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외부자나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자문가의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조언이 왜 때때로 현장의 판단만 못한지를 설명해 주며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동시에 ‘다른 길’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완전한 포괄성의 신기루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왜 종종 비생산적인지 보여 준다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‘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연속적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비교’라는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관점이 부여하는 명료함 덕분에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외견상 우왕좌왕해 보이는 자신의 실천이 사실은 체계적이며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더 나은 정책을 향한 합리적 탐색임을 인식하게 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Muddling Through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‘비효율적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은유가 아니라 정책의 진화적 합리성을 드러내는 개념임 → 점진주의는 대규모 실패 위험을 줄이는 안전장치로 기능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행정가는 자신의 실천이 단순한 우왕좌왕이 아니라 체계적인 탐색임을 인식해야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완전한 포괄성을 지향하는 다른 길은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실제로는 비생산적이거나 위험한 신기루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D8713E-4C46-112C-8712-EE854264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12B06D-2C89-5264-6CB7-E0C9D46E2BF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272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4590</TotalTime>
  <Words>1478</Words>
  <Application>Microsoft Office PowerPoint</Application>
  <PresentationFormat>와이드스크린</PresentationFormat>
  <Paragraphs>79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1001</cp:revision>
  <dcterms:created xsi:type="dcterms:W3CDTF">2025-03-10T02:54:00Z</dcterms:created>
  <dcterms:modified xsi:type="dcterms:W3CDTF">2025-11-18T02:08:40Z</dcterms:modified>
</cp:coreProperties>
</file>