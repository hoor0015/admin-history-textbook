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20"/>
  </p:notesMasterIdLst>
  <p:sldIdLst>
    <p:sldId id="256" r:id="rId2"/>
    <p:sldId id="265" r:id="rId3"/>
    <p:sldId id="324" r:id="rId4"/>
    <p:sldId id="325" r:id="rId5"/>
    <p:sldId id="323" r:id="rId6"/>
    <p:sldId id="314" r:id="rId7"/>
    <p:sldId id="315" r:id="rId8"/>
    <p:sldId id="329" r:id="rId9"/>
    <p:sldId id="316" r:id="rId10"/>
    <p:sldId id="317" r:id="rId11"/>
    <p:sldId id="326" r:id="rId12"/>
    <p:sldId id="328" r:id="rId13"/>
    <p:sldId id="327" r:id="rId14"/>
    <p:sldId id="318" r:id="rId15"/>
    <p:sldId id="322" r:id="rId16"/>
    <p:sldId id="330" r:id="rId17"/>
    <p:sldId id="331" r:id="rId18"/>
    <p:sldId id="258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3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9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498F0-E222-4130-B559-E26B0B605E46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D4FCB-31F1-4D49-A262-D5EAFE6F4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1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6FE37-B45E-702D-9B96-4299560E3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E08DEC-7BB0-FA22-8DA3-B1AB8DEFC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83A6BA-1565-C464-F4EB-3906E737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C39A-0473-4F06-BAED-15A0495CDC03}" type="datetime1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BC19E9-6DDD-6434-8E6B-06EF96BB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85B267-7A29-ED1D-ACA4-7E277B84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5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B7FEF-A226-AA76-1459-1FDB0A4E5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A804A3-2F1B-0A55-13C5-3650E267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F0C730-8C26-635F-3C55-9A7C0301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B99A3-FCEB-4DA1-9F62-29D8C0003628}" type="datetime1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B7EFE1-B630-48F3-8A5C-C662E88B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850C1-CA85-ED3E-2330-22B834CB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00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E0D3C-3680-19BF-4C67-D4B4784C2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5C665B-B2AA-B08F-C279-912EC2D10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D66F2D-16A0-557C-3CCB-8FFB7554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900D-BC70-4759-8B81-959479FDE631}" type="datetime1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FBDE22-BDA4-74CE-8C4C-E4E73812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8D6EA0-E1DE-BF0E-0912-85915DD8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163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F7B9F-6A11-CC5A-7A36-44D8AD91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83DDB-E592-C2D4-A180-B5DEDBF7B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51331B-C0B4-8EDC-103E-47B36BBE5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0767AC-DDFA-8913-983C-6DA9B0A6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B54D-7A36-44B1-8C28-43CC23156252}" type="datetime1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DBFE1A-421D-107D-5DF2-1870DCEC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2004D5-4E92-0B4C-7EE6-FAB9D429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76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0A58D-AA06-16B9-3770-41AD164C9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96E662-B7C3-7FD5-CD89-C526ED31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B9CFFF-D7AA-F586-9E75-BF93A1711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418F7E-3EA8-DC1E-43BE-7D850C468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95F9-9077-E721-07CD-4CA241161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EFD06E-78D1-0213-E60C-58C7C880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D56D-5F5D-4386-8229-7B3FCE23A9DB}" type="datetime1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BA4C8D-33C2-7987-6D00-869244A5B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D2AB68B-4F6B-A0AD-F831-29C6E58A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98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AD11A-F73C-0207-0712-CC5C1966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CC1D79-BC19-4316-F46D-F86B3936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D53D-D905-4ACB-AC18-AA7FCF8F80DE}" type="datetime1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50F371-759C-8971-0893-79AC08C8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58D82D-21E7-57EF-BE11-B67FED11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14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DEECEE-D8EA-089C-FBE6-ADF6F763B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D813-ACF2-4610-9984-BFC3E3445E99}" type="datetime1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6F723E-2C54-55A9-296D-F360D200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2517F-6DF0-37E6-743B-70F38A8A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22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08B69-7F2C-A92C-998A-A211E4A43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C4434C-27A6-FC8C-2488-5BF688F52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07BAD0-6B32-5C64-3F97-CF151C3C7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F30F74-FB46-CA2D-CE2A-520ACD1A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59E2-8CCE-47B9-BB7A-030AE3600AA0}" type="datetime1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9900CC-E9D2-5A28-AF25-307ADC6E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B32BB5-82AE-8482-2D75-FF89DE29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76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A0DA8-0481-0840-93EF-373E4CAC2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5C5FCC-6E56-4B61-8A3A-806032224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03281E-513F-2090-6B6C-30573828E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C8138-7D38-BAA2-991C-DD73FA9AC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92EE-1CF8-4367-A084-DA2FF58DBBDB}" type="datetime1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DCA6D2-D45C-5920-4860-B918D7BB0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13D3DA-09E9-2079-3755-86D4E660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974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5BFF0-B5FD-B1C9-7990-6E39B598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A3334E-6A42-25D9-36F5-3E2B606E3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E5EBEB-6DD2-0DC1-0485-D095141E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0889-A16A-434F-93C1-A64A52D175C8}" type="datetime1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47268B-0A1F-2E11-B10F-6214EB64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46C17-DF9E-4AA3-63E2-DF71DCBC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524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D2B582-D262-AA95-51F3-7DB236858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71DB97-E146-2A4B-9A20-568C9C345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D1D531-D2EA-FDE0-273E-A182CC96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27F3-8B5B-4B0E-A74B-00FCFC008BFB}" type="datetime1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24463-153E-992E-0670-078E99ED1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574CB5-B661-FD9B-8604-B864DDCE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50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4896CC-D357-0B15-BD4E-82985503F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6DE65-3AA6-CB13-9141-59D0783E0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9FD434-1997-7C62-7EE2-A5C4A20CF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4A376-E7CB-4754-856D-B8EF9D28E97C}" type="datetime1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7F881-B52B-6E21-A008-278431208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B78CF-D66F-B729-696F-488DF175C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14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kdkim@kipa.re.kr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10ED8B-338F-5AA3-7E4C-9CE149942F70}"/>
              </a:ext>
            </a:extLst>
          </p:cNvPr>
          <p:cNvSpPr txBox="1"/>
          <p:nvPr/>
        </p:nvSpPr>
        <p:spPr>
          <a:xfrm>
            <a:off x="303023" y="5307578"/>
            <a:ext cx="19841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김경동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행정학과 조교수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en-US" altLang="ko-KR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  <a:hlinkClick r:id="rId2"/>
              </a:rPr>
              <a:t>kdkim@kw.ac.kr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AC125-E49A-1BDE-4CB3-1DDFDD1917F7}"/>
              </a:ext>
            </a:extLst>
          </p:cNvPr>
          <p:cNvSpPr txBox="1"/>
          <p:nvPr/>
        </p:nvSpPr>
        <p:spPr>
          <a:xfrm>
            <a:off x="1938662" y="2215148"/>
            <a:ext cx="8314676" cy="160043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년도 가을학기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6600" b="1" dirty="0">
                <a:solidFill>
                  <a:srgbClr val="761F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텍스트로 보는 행정사</a:t>
            </a:r>
            <a:endParaRPr lang="ko-KR" alt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C7D5DA-9E30-A35C-384A-368E3B235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4A3564C-61B8-C23D-8A58-2BDFC3C0594F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6E7012C1-2889-777F-5077-8BBDEF2B9805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E0BA23DB-DD41-E0E9-8BD7-770B6BCB4C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719BD9D4-EA27-8883-6C3A-3B4D22263CD7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74972B61-1483-C590-C007-CB56962870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9909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45CCE-E8F0-C135-35B6-0A0A5C055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074012D-53DC-5227-4460-626954FF125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1540394-9316-A9FD-07B1-F3504BF6E4DE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EB9B39-7112-A97C-85D0-DCBF35580845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0F6F87-C845-7F65-1202-A67F08BC6536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E. </a:t>
            </a:r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펜들턴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해링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B1A806-ADFC-43B9-E601-626F15663F4D}"/>
              </a:ext>
            </a:extLst>
          </p:cNvPr>
          <p:cNvSpPr txBox="1"/>
          <p:nvPr/>
        </p:nvSpPr>
        <p:spPr>
          <a:xfrm>
            <a:off x="1079999" y="1671814"/>
            <a:ext cx="6383119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해링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(1903~2004)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미국의 정치학자이자 행정사학자로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APSA(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미국정치학회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회장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(1952–53), SSRC(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사회과학연구위원회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총재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(1948–68)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등을 역임하며 전후 사회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행태과학 성장에 핵심적 역할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하버드대 케네디스쿨의 초기 프로그램 설계에 기여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2004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프린스턴 자택에서 별세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향년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100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F52EA7D-03DC-1C9A-F825-E047209E3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6F9F91F-8E91-CC61-BB60-43CBEEAE73D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Pendleton Herring | PS: Political ...">
            <a:extLst>
              <a:ext uri="{FF2B5EF4-FFF2-40B4-BE49-F238E27FC236}">
                <a16:creationId xmlns:a16="http://schemas.microsoft.com/office/drawing/2014/main" id="{2C613AB7-1ECB-453E-FEC3-4397B4C6A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588" y="1511779"/>
            <a:ext cx="2882709" cy="4020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3242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7E12E-ADA0-7259-2468-47250DD8E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ACB95F5-AE74-2386-0187-A01D5949FA3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92BE5E5-7FA3-9322-9C8F-35F44E099AE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C9073B-E4C0-C55E-62F1-69A6BC9EABBD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1D850C-E30F-F7A9-32E0-AF61EABF3607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E. </a:t>
            </a:r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펜들턴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해링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310425-0E19-C9CC-3615-51232541E795}"/>
              </a:ext>
            </a:extLst>
          </p:cNvPr>
          <p:cNvSpPr txBox="1"/>
          <p:nvPr/>
        </p:nvSpPr>
        <p:spPr>
          <a:xfrm>
            <a:off x="1079999" y="1671814"/>
            <a:ext cx="10390741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『Public Administration and the Public Interest』(1936): “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공익”을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행정의 규범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운영 원리로 체계화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“Social Forces and the Reorganization of the Federal Bureaucracy”(1934):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연방 관료제 재편을 둘러싼 사회적 힘 분석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초기 이익집단 연구와 전시국가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국가안보 거버넌스 문제까지 폭넓게 영향을 미침 → 행정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정치의 접점에 대한 연구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미국 국방부와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CIA(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중앙정보기관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설립에 관한 국가보안법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(1947)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설계에 기여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23706CF-52F4-DA56-5AAC-3E7DBA9D5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ED881C1-CADA-71FE-54FF-705A17B829E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4745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5FBB8-771F-2A57-6830-0261B8BFD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0B985F4-CAFC-04E6-3B8F-E55FC8BBFF2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23E121C-3C26-C0BD-B018-7D0FDDA0A00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79A6F6-EA1B-66EF-F4AD-8EF68AC5059B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CF2F52-90CE-16C0-8484-102FF93D2871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E. </a:t>
            </a:r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펜들턴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해링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A550D7-2BD3-ADC5-C917-A86485A49CFB}"/>
              </a:ext>
            </a:extLst>
          </p:cNvPr>
          <p:cNvSpPr txBox="1"/>
          <p:nvPr/>
        </p:nvSpPr>
        <p:spPr>
          <a:xfrm>
            <a:off x="1079999" y="1671814"/>
            <a:ext cx="10390741" cy="3573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1930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년대 대규모 연방 재조직 논쟁 속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관료제의 재량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정당성 문제를 “공익” 개념으로 수렴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『Public Administration and the Public Interest』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1934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논문은 상호 보완적 관계를 이룸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오늘날 독립규제기관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복합조직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거버넌스 환경에서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해링의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통찰은 여전히 유효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 분리의 한계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이해집단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공익의 접합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A26DB4A-C091-F792-B424-1D6AFCA18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80BD4B1-C1BA-5AC3-8625-7DB105AB15C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3200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86CEE-6DDC-D066-5398-CD94448F0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888200A-4639-3BCE-1B9F-BF26BA3E283C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19C0912-D3F9-0D5B-E5CB-F78B6C6AB22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297742-F2CE-4675-6BFE-52341BFD3D8A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144E28-CAAA-E22A-66CC-AAF674A68AE7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관료의 역할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82C46E-0CEB-8DD5-3B22-8E2CC1BDCCCB}"/>
              </a:ext>
            </a:extLst>
          </p:cNvPr>
          <p:cNvSpPr txBox="1"/>
          <p:nvPr/>
        </p:nvSpPr>
        <p:spPr>
          <a:xfrm>
            <a:off x="1079999" y="1671814"/>
            <a:ext cx="10390741" cy="3573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관료의 어깨에는 입법 과정을 통해 도달한 경제적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사회적 타협을 실질적이고 작동 가능한 것으로 만들고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집단 간의 차이를 조정하는 부담의 큰 몫이 지워졌다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 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‘정치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타협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)→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)’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전환축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정치적 합의가 규칙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판정으로 번역되는 지점이 행정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집행의 정치성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집행은 중립적 기계가 아니라 가치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선택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우선순위의 연쇄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공익의 ‘운영적’ 위상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공익은 추상 명제가 아니라 번역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판정의 작동 규범으로 나타남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7541C55-13CD-AE90-8ED8-1A17AAEE4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25F1030-7440-BD23-8A61-DA5BD6B822C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597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15842-C94A-1C39-CD70-917FE1858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18D179F-E3A3-8546-CBC0-AB3FB4AD219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B3CFA1A-8D99-3995-32F2-6209AC4D5DF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35AC49-4EB1-475E-7F12-4E3D3F1EE6F7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5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3DBC8F-0194-BF71-9551-0669E81F238F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재량과 국가 목적의 해석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BDE1AA-ED72-6B54-713F-94C7193A03B2}"/>
              </a:ext>
            </a:extLst>
          </p:cNvPr>
          <p:cNvSpPr txBox="1"/>
          <p:nvPr/>
        </p:nvSpPr>
        <p:spPr>
          <a:xfrm>
            <a:off x="1079999" y="1671814"/>
            <a:ext cx="10390741" cy="3646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법률의 문구가 그의 범위를 한정하지만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 재량의 여지 안에서 그는 국가 목적에 대한 자신의 해석을 기록해야 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해석 행위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텍스트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와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콘텍스트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해석학적 결합이 공익 판단을 낳음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규칙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기반’과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‘판단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기반’의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이중 합리성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법치의 일반성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vs.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사안특수 합리성의 조화→ 합법성과 합목적성의 조화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책임의 분할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입법은 ‘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한계’를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행정은 ‘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의미’를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부여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책임은 공동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분화됨</a:t>
            </a:r>
            <a:endParaRPr lang="en-US" altLang="ko-KR" sz="2400" b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87504C4-8781-1D03-2141-4DD0BE19D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73797DF-774A-9FBE-AE5E-E20365477FA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0742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22825-8801-0F46-DE56-A915584C2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2414DC9-1CBB-E071-069F-3E763F97B23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E509C18-53EA-9E06-FC45-F642A56B4C36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7FF883-952A-4371-FB6E-C31545D75AAC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6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3CB976-A9BF-3A4F-B05C-56AA84B6AEB4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역설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민주주의와 거대 관료제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23A51D-69B2-7851-EA38-CEE72B17DB91}"/>
              </a:ext>
            </a:extLst>
          </p:cNvPr>
          <p:cNvSpPr txBox="1"/>
          <p:nvPr/>
        </p:nvSpPr>
        <p:spPr>
          <a:xfrm>
            <a:off x="1079999" y="1671814"/>
            <a:ext cx="10390741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“자유민주국가는 거대한 관료제에 의해 지탱되어야 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다원적 이해조정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보편적 서비스 제공은 대규모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전문화된 조직 없이는 불가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이해조정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보편서비스에는 규모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전문화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지속성이 필수 → 민주적 응답성만으로는 공공재의 안정적 공급 불가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행정국가의 정당성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능률성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결과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절차성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복합적 정당화가 필요</a:t>
            </a:r>
            <a:endParaRPr lang="en-US" altLang="ko-KR" sz="2400" b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5877581-EDDE-1894-E4C9-C9E3B5685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854237A-6642-BB22-16E8-CD3785D926DB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9235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D5511-3BC0-5684-BD69-7763DD6EC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1872919-28D0-DB3B-F09E-12FF5518B11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00718E5-FFD2-B994-457C-54BD7E84F16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6780A0-4906-C1A2-5207-B8E2495027A3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7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D5E8BC-708C-FFAB-90A9-5242D0B17CE6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국가 기능의 확대와 변동성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A25C0C-9216-6DEB-ADEF-2AA5BF341E5D}"/>
              </a:ext>
            </a:extLst>
          </p:cNvPr>
          <p:cNvSpPr txBox="1"/>
          <p:nvPr/>
        </p:nvSpPr>
        <p:spPr>
          <a:xfrm>
            <a:off x="1079999" y="1671814"/>
            <a:ext cx="10390741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“경찰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공중위생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빈민 구호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공영 사업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어느 정도까지 수행될지는 고정될 수 없으며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정부에 대한 지배를 확보한 경제 집단의 성격에 따라 달라질 것이다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공공업무의 범위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강도는 정치경제적 세력 구도에 따라 가변적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기능의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내생성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 기능은 외부 수요가 아니라 권력구조에 의해 재구성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정책영역의 가변 경계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민간’ 구획은 역사적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정치적 산물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행정의 적응 문제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기능 변화는 규범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역량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데이터 인프라의 공동 진화를 요구</a:t>
            </a:r>
            <a:endParaRPr lang="en-US" altLang="ko-KR" sz="2400" b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BE3B067-2146-B6F1-3880-C35240A7F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39375AF-9073-BDBD-BC4C-6750CAFBD0D8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541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D80FB-96E6-3EEF-106E-D5987B336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41A375-16A0-5198-0811-AD26EA531CDF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77812A6-0340-B183-29E2-3BCF0DB82698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4772C2-77E3-3978-A51F-3E1D9F367B00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8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E57C49-EC34-A8AA-87D0-6B14093DD1F9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연속성의 요구와 ‘국가 </a:t>
            </a:r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목적’의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인정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6F31C6-B60E-FD30-FD6C-5777E1E1B5E9}"/>
              </a:ext>
            </a:extLst>
          </p:cNvPr>
          <p:cNvSpPr txBox="1"/>
          <p:nvPr/>
        </p:nvSpPr>
        <p:spPr>
          <a:xfrm>
            <a:off x="1079999" y="1671814"/>
            <a:ext cx="10390741" cy="3573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“거대한 행정 조직이 존재한다는 사실만으로도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일정한 연속성이 요구된다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각 집단은 국가가 자기들의 즉각적 목적을 넘어서는 목적을 지닌다는 점을 기꺼이 인정해야 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제도기억의 가치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정권순환 위에서도 경로의존적 지식이 공익을 지탱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목적의 층위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단기 선호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위에 장기 목적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얹힌 다층 규범 구조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책임의 시간성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행정책임은 장기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지속의 성격을 본질적으로 가질 수밖에 없음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E848FC7-6CBC-62DA-0539-8DC61B9F3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AC6DAC0-4344-37EA-931C-E6DEFB5CA6A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9334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3A0F6-E109-6122-3E13-362F01A48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ACFCFFF-FE2C-BBD9-10BA-C98AF04D338A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744B15F-59E9-F14B-2947-BF7AF50D9193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60B18F-312A-9621-7279-63D6BF8671E1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9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5C0B88-53C8-F9A0-71C8-7221E7DA2B2D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이익집단의 시선과 관료 불신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744B1C-87A6-7582-9E47-4FB042196665}"/>
              </a:ext>
            </a:extLst>
          </p:cNvPr>
          <p:cNvSpPr txBox="1"/>
          <p:nvPr/>
        </p:nvSpPr>
        <p:spPr>
          <a:xfrm>
            <a:off x="1079999" y="1671814"/>
            <a:ext cx="10390741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“이들 이해는 ‘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관료제’를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대중 정부에 적대적인 것으로 비난한다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그러나 민주주의는 적절한 행정 조직을 발전시키는 방법으로만 생존할 수 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반관료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’ 정서와 ‘관료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필요성’의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공존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정치적 역설의 관리가 핵심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반관료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친관료의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양가성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민주주의는 조직을 통한 자유를 요구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다원주의 조정장치로서 관료제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이해 경쟁을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규칙화하는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제도적 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(ring) 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사익의 ‘제도적 매개’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충돌을 억압이 아니라 절차화로 다룰 필요가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F8D5C67-ABDF-1662-789A-2EEAEF046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B4306CA-1E43-5DAC-579C-5FCB4FE5B142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3442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7AD03-9DCC-11ED-8F79-652A065CB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196C124-A435-2767-8B15-46CAE7E449C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B700A93-B17D-3A7A-3A7B-98EB085E6505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16B5A5-19D6-6C1E-4A6F-548BFFF6EDE0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21FF2-3EBF-8817-BD9B-9FAEF70C0463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파편화된 연방행정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2A5A91-4932-1A5D-130F-F3E12AD18E93}"/>
              </a:ext>
            </a:extLst>
          </p:cNvPr>
          <p:cNvSpPr txBox="1"/>
          <p:nvPr/>
        </p:nvSpPr>
        <p:spPr>
          <a:xfrm>
            <a:off x="1079999" y="1671814"/>
            <a:ext cx="10390741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“연방의 행정 서비스는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뒤범벅이다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 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기능 중복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권한 중첩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책임 불명확성이 집행의 병목 초래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기능의 비동형성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서로 다른 합리성이 한 정부 내 다중 합리성 체제를 이루는 것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총괄 조정의 결핍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전체 최적화 대신 부분 합리성의 합이 지배 → 조정 실패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공익의 ‘전체성’ 요구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공익은 부분 간 결합 규칙 없이는 공허할 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8DBC322-1FD1-5DB0-6821-4C721ABD7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31313A9-9A3D-A1ED-085F-F5DC0DDE3983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2424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61193-BE04-23A0-559F-028C9ECDA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6FBE534-0C13-209B-F95B-BBE876DA789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2392EB8-DE7B-66B7-647E-25A293308E21}"/>
              </a:ext>
            </a:extLst>
          </p:cNvPr>
          <p:cNvSpPr/>
          <p:nvPr/>
        </p:nvSpPr>
        <p:spPr>
          <a:xfrm>
            <a:off x="395860" y="720000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BEF440-C8F6-02CB-65B2-9DDB75EA6713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E8AABD-E752-9733-1DE2-7B37418BF4E7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해법의 방향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더 만들지 말고 ‘재조직’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48B596-279B-4427-9E7E-16C98127BA46}"/>
              </a:ext>
            </a:extLst>
          </p:cNvPr>
          <p:cNvSpPr txBox="1"/>
          <p:nvPr/>
        </p:nvSpPr>
        <p:spPr>
          <a:xfrm>
            <a:off x="1079999" y="1671814"/>
            <a:ext cx="10390741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“이는 더 많은 관서와 위원회를 만드는 것이 아니라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기존의 것들을 재조직한다는 뜻이다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연방 행정은 전체로 보아야 한다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조직 수의 문제가 아니라 구조적 정합성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권한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책임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흐름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문제임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구조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조직설계가 곧 정책선택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권한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흐름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심판 규칙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전체성’의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설계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공익은 수직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위계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)×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결합의 산물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제도적 최소단위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기능이 아니라 조정규칙이 재조직의 핵심 대상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80AD68D-1F40-2BA2-9529-035160034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686A400-2878-67E7-23D6-B9AE59790BE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0791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374DA-52AA-9947-67C5-F54D73E9F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1DB1550-991D-A3C7-0A6F-43309AF76AB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6CAB8AE-4915-9A03-679E-0F13644FD46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55EE2E-B071-1331-A924-4F3082839717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12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5E0CAC-741B-EC92-F680-A5F269CD3FAB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시민 태도의 이중성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FAB726-F96C-9C72-9585-25622F20B43F}"/>
              </a:ext>
            </a:extLst>
          </p:cNvPr>
          <p:cNvSpPr txBox="1"/>
          <p:nvPr/>
        </p:nvSpPr>
        <p:spPr>
          <a:xfrm>
            <a:off x="1079999" y="1671814"/>
            <a:ext cx="10390741" cy="3573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“국가가 사적 영역에 일반적으로 침투하는 것을 비난하면서도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자신들에게는 특별한 배려를 요구해 왔다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“어떤 공무원도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여론의 흐름으로부터 자신이 격리되어 있다고 여길 수는 없다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 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反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개입 정서와 ‘나에게는 예외’ 요구의 공존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 일관성 위협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공익 판단의 역설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보편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특수의 긴장을 정당화 담론 속에서 조정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 선호의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비일관성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집합적 합리성과 개인적 체감의 불일치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E766AB9-376E-A840-6222-AC1069907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0405B6B-5651-187A-5D34-4CDDCF95E876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5118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88E37-5942-CDDC-72D0-5E35CAA71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A50C8DF-1023-2124-B504-6400A6552EA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97341D4-E068-1AA2-2FC4-F947CAF9403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4DE3D0-7B27-DF19-1A0F-D24647756329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13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C6F0FA-CD7A-BA27-33C9-D9A4A7200EF2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‘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관료 </a:t>
            </a:r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혐오’의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역사적 맥락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64D1D9-2CCD-68EA-98D6-CE9AA14BBC59}"/>
              </a:ext>
            </a:extLst>
          </p:cNvPr>
          <p:cNvSpPr txBox="1"/>
          <p:nvPr/>
        </p:nvSpPr>
        <p:spPr>
          <a:xfrm>
            <a:off x="1079999" y="1671814"/>
            <a:ext cx="10390741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“모든 나라에서 대중은 관리를 적대시한다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그의 임무의 본성은 개인의 자유와 재산을 제한하는 데 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입력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산출 정당성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정책은 참여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숙의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입력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와 성과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형평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산출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이중 잣대를 통과해야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전문가주의의 경계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지식 권위는 사회적 승인과 결합될 때 공익이 됨 →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테크노크라트는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필연적으로 한계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정당화의 기술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이유제시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근거관리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선례성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등은 공익의 언어를 구성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AE3E145-7785-5969-7C09-3EA7D9DF8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F60FEBB-100C-D6A4-73A4-DA17D8C0BD91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523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35D0B-B85A-9701-9193-26C65CD7F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663D78E-B149-6DB5-D1F6-7751D587C0EF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49A9D4C-0879-ED7D-48B8-B1B679A8494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63AD09-9485-9C7A-A5A1-801FE9F47B2A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14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51E5AF-862C-33CA-71C2-E28E50D043AE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사법과 입법의 역할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,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그리고 공백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6BCDBC-F3BB-0E8A-8B0A-8EF25198113F}"/>
              </a:ext>
            </a:extLst>
          </p:cNvPr>
          <p:cNvSpPr txBox="1"/>
          <p:nvPr/>
        </p:nvSpPr>
        <p:spPr>
          <a:xfrm>
            <a:off x="1079999" y="1671814"/>
            <a:ext cx="10390741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“법치의 전통은 그에게 법원에 대한 신뢰를 준다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그러나 행정 작용의 방향에 그는 어떻게 영향력을 행사할 수 있는가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?” : “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입법부는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일시적 대중 열기에 힘입어 법을 통과시키고는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법을 집행하는 일은 관료에게 맡겨진다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사법통제의 경계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법원은 ‘적법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위법’을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가를 뿐 정책방향을 선택하지 않음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시간 비대칭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단기 정치열기 ↔ 장기 집행책임의 구조적 엇박자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상징정치의 비용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정치적 표지를 남긴 법이 행정적 합리성을 압박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사법의 심판이나 입법의 순간보다 집행의 지속적 정당화가 공익을 만듦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B9D105-70F1-9BF9-41F5-90516CBF9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5E076EE-9BC6-080E-F576-7AFE744845D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55678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DD33C-2AAA-484E-C1A3-6DB5989D3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7D61A32-659A-0073-78D8-F49F3ADF45F8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C7D3279-4AE6-8DC4-985A-E1BE53E2101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B383FB-FC2A-5000-C5FA-F22D68C87439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15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55C849-DD73-EB75-5B47-B47E91C5577C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권한 팽창과 조정의 부재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8283D7-3C22-CA22-821C-66F80E08E7C1}"/>
              </a:ext>
            </a:extLst>
          </p:cNvPr>
          <p:cNvSpPr txBox="1"/>
          <p:nvPr/>
        </p:nvSpPr>
        <p:spPr>
          <a:xfrm>
            <a:off x="1079999" y="1671814"/>
            <a:ext cx="10390741" cy="3573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“현재의 관료제는 막대한 권한을 쌓았지만 방향과 조정이 결여되어 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대통령은 명목상 ‘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행정부’의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수장이지만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조정의 과업은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넘어선다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‘부분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합리성’의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승리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기능 확장 ≠ 전략적 정렬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메타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거버넌스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공익을 위해 필요한 것은 정책 간 결합규칙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인격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일시성의 한계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개인 지도력 대신 제도화된 조정 기술이 공익의 조건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위대한 지도자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E4F4815-69E6-97CF-DDD1-7FAF2234D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38A0161-E1E7-7E08-9837-07E43D6CB056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81262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C5A17-74D9-6C66-EBF3-C0C568094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08A1ECC-E865-BC13-49CA-F5E4C521C34B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5297E12-7E9B-16D1-CB08-5BF646027D9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8AA1C4-6AF7-2F72-6A8C-224A2E140BEC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16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8AAAB3-C4D2-1938-4ACA-1D4B542AED42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소결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공익의 기능과 주관성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3F9587-DCDB-4D44-991D-8FDF77BD74F0}"/>
              </a:ext>
            </a:extLst>
          </p:cNvPr>
          <p:cNvSpPr txBox="1"/>
          <p:nvPr/>
        </p:nvSpPr>
        <p:spPr>
          <a:xfrm>
            <a:off x="1079999" y="1671814"/>
            <a:ext cx="10390741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“공익은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행정에 통일성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질서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객관성을 도입하기 위해 고안된 언어적 상징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사법부의 ‘적법절차’ 조항과 같은 역할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 가치는 심리적인 것이며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각 공무원이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스스로 찾아내야 하는 의미를 넘어설 수 없다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규범적 메타언어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상반된 합리성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효율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형평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권리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번역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조정하는 언어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정당화의 프로토콜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공익은 절차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근거의 구조화된 언표로 나타남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공익은 이익의 합성물로 구체화 → 공익의 언어는 선례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기준을 통해 누적 → 공익의 무게는 궁극적 판단의 책임윤리로 귀결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A3246C9-CE0E-990C-5F2E-61D859D96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5C52EEC-8804-A616-63A9-22D3C49C8043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7590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8635D4-D3E2-C1C1-2DF9-711C09D1EC0A}"/>
              </a:ext>
            </a:extLst>
          </p:cNvPr>
          <p:cNvCxnSpPr>
            <a:cxnSpLocks/>
          </p:cNvCxnSpPr>
          <p:nvPr/>
        </p:nvCxnSpPr>
        <p:spPr>
          <a:xfrm>
            <a:off x="2152783" y="717177"/>
            <a:ext cx="9727217" cy="2823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DE01540-6402-0BA0-5B48-1A12659FE302}"/>
              </a:ext>
            </a:extLst>
          </p:cNvPr>
          <p:cNvSpPr txBox="1"/>
          <p:nvPr/>
        </p:nvSpPr>
        <p:spPr>
          <a:xfrm>
            <a:off x="4874350" y="3075057"/>
            <a:ext cx="2443298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algn="dist"/>
            <a:r>
              <a:rPr lang="ko-KR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감사합니다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89A27F3-6396-4A24-947F-2EDC13EB62A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3755EA48-AAC8-8D9F-CFA6-5208CD71E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C8A388A4-7040-6B9A-9AE1-834C88364A48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C2047555-F6C8-2082-96FB-974FF14E9C11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A816CA28-ED33-29B0-8851-0B9BAB3111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E80146EE-C903-87DE-0B04-EFB7BD1B165A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2EBFA3EB-50D2-8153-CCB7-97A94AEAF1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48503B-7E35-726A-03B0-63A0FC98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505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4349</TotalTime>
  <Words>1240</Words>
  <Application>Microsoft Office PowerPoint</Application>
  <PresentationFormat>와이드스크린</PresentationFormat>
  <Paragraphs>107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4" baseType="lpstr">
      <vt:lpstr>경기천년제목 Bold</vt:lpstr>
      <vt:lpstr>경기천년제목 Light</vt:lpstr>
      <vt:lpstr>맑은 고딕</vt:lpstr>
      <vt:lpstr>이사만루체 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KKD</dc:creator>
  <cp:lastModifiedBy>KKD</cp:lastModifiedBy>
  <cp:revision>651</cp:revision>
  <dcterms:created xsi:type="dcterms:W3CDTF">2025-03-10T02:54:00Z</dcterms:created>
  <dcterms:modified xsi:type="dcterms:W3CDTF">2025-10-26T05:09:51Z</dcterms:modified>
</cp:coreProperties>
</file>