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332" r:id="rId4"/>
    <p:sldId id="335" r:id="rId5"/>
    <p:sldId id="336" r:id="rId6"/>
    <p:sldId id="333" r:id="rId7"/>
    <p:sldId id="340" r:id="rId8"/>
    <p:sldId id="334" r:id="rId9"/>
    <p:sldId id="337" r:id="rId10"/>
    <p:sldId id="338" r:id="rId11"/>
    <p:sldId id="339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25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시대적 배경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초 미국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대규모 공장체제와 산업화의 가속화로 효율적 관리 필요성 증대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당시 행정학은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예술’의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성격이 강했으나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관리의 과학화를 주장하며 전환점 마련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우드로 윌슨도 행정의 과학화를 강조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경영학 모두에서 시대적 요구가 수렴됨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관리의 과학화는 단순한 기업기술을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운영 전반의 학문적 과제로 인식됨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실험은 이후 행정학 초기 발전에 핵심적 기여를 한 사례로 평가됨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EDBBC-1716-9244-9F96-9635980D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620A454-CABB-3425-47E7-43A2CC651E6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60C9F2-EE78-ABC8-3888-2C35017B585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76B15-CA9D-1AFB-2554-6ED6A043BD9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B75FB0-4D3A-59E7-516D-4AB007B2588A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기본 전제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16693-1805-3506-6E0C-202D48CBF847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과업에는 “가장 좋은 한 가지 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(one best way)”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존재한다는 전제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연구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(time study)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동작 연구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(motion study)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통해 최적의 방법을 과학적으로 도출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노동자의 개별적 습관이나 경험 대신 표준화된 절차를 조직 전체에 적용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최적 방법은 생산성 향상뿐 아니라 노동자의 피로 최소화도 목표로 삼음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인간을 기계적 요소로 본다는 한계에도 불구하고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혁신적 관리철학으로 큰 반향을 불러옴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A9D77DA-CB10-269D-93E1-805BF081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CC4FA3E-9634-5C62-8FA8-E641B40E19A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12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C169-EB47-9201-38D8-032825CB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9830F49-E4DA-4F74-6355-148422F233C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F13BCA-E708-5F95-B083-E6752F7184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7A7A12-0B0B-1C88-3F78-CD9050670C3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909C8-2975-AE80-5D8B-67084FA5C699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시간연구와 동작연구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A8BC3-E3E2-A8DC-9C52-6166059F3825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연구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작업을 여러 차례 관찰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측정하여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일을 수행하는 데 필요한 표준 시간을 산출하는 기법 → 불필요한 지연을 줄이고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작업을 완료하는 데 드는 최소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시간”을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정해 생산성을 높임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스톱워치나 기록 장치를 이용해 같은 작업을 반복 측정 → 평균값이나 최적 시간을 기준으로 작업 표준 설정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철강 공장에서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주괴를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나르는 작업자를 대상으로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근무에 휴식을 포함해 일정 속도로 옮기는 방식이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 연속 작업보다 더 효율적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9676D5-6F68-5EE8-557A-CACFE315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83351BD-BDCF-86D5-FC68-A146D161696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52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FAFC-8A66-BA65-0FAB-93AD68B3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CA66A6E-1FFA-32ED-F372-EA9636107A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301718-D0FA-778B-BCC9-722F3DCEB07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39FB5-D886-6ED5-C0FC-7A9F1E1733E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49AC4-42D4-67EB-0486-DA5633404AE9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시간연구와 동작연구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688679-5402-1A09-3B94-4DF6194C8D2D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동작연구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작업에 포함된 세부 동작 하나하나를 분석하여 불필요한 움직임을 제거하고 효율적 동작만 남기는 기법 → 낭비동작 제거하여 피로 감소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속도 향상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 동작 개발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숙련공과 미숙련공의 동작을 비교하거나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촬영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관찰을 통해 과업을 최소 단위로 쪼개 분석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벽돌을 허리 높이에 올려두고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몸을 굽히는 동작을 줄임 → 불필요한 동작이 절반 가까이 줄어들고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2~3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배 향상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552BB0-07A7-1827-ADDE-53293EEB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CEDBA5-75E4-F0A2-BB5A-95407AEB61E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269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BE61-89C6-A7D2-7696-E49161034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61296A6-0BE4-AF87-E15D-1F8C91639E1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B295C1-2245-68A8-056C-0F97CC247E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3A174-9654-FB55-7F3E-D9ED5F0D503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6EE28-7C21-C163-7E60-9C69D5A41BB0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사회적 반향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A2EA15-6EFF-5EEF-4488-B345C348D0CA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브랜다이스가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의회 청문회에서 “과학적 관리” 용어를 사용하며 대중화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철도 운임 청문회에서 “하루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 달러 절약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가능”이라는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극적 주장으로 사회적 파급력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관리의 원칙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』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출간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명성은 전 세계로 확산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세기 전반기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관리는 복음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(gospel),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예언자로 불릴 만큼 영향력 확대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공공부문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군수산업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등으로까지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확산되며 사회 전반의 효율성 담론을 주도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F109DB-419F-F402-5044-1FC78D03B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2487505-79FD-08D6-DAC8-A9DD27D4AC4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50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1E2D-EC37-E8C1-11B2-B8314E42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05028E-8397-B576-BC9D-CC2EFE56272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367968-1C6F-1DAE-4E57-E32B4C5F1E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F24B3-8773-5724-3B91-CE992C0CDEF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B37D90-73BC-84B8-4E25-EE5DE677AFA2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프레더릭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W.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테일러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B3DA1-1AAC-27B0-BFF1-1660A12718F1}"/>
              </a:ext>
            </a:extLst>
          </p:cNvPr>
          <p:cNvSpPr txBox="1"/>
          <p:nvPr/>
        </p:nvSpPr>
        <p:spPr>
          <a:xfrm>
            <a:off x="1080000" y="1671814"/>
            <a:ext cx="665206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(1856-1915)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과학적 관리의 아버지라 불리며 시간연구와 동작연구를 통해 작업 효율을 극대화하려는 관리철학을 개척함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펜실베니아 필라델피아 태생으로 초기에는 기계공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감독자로 일하며 현장경험을 쌓음 → 경험적 규칙에 머무르던 당시 관리방식을 거부하고 작업을 정밀하게 측정하고 분석하는 방식을 도입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1F6B6F8-CD8A-C512-34FF-2700A1C5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6D34C9-2C1F-592B-D52E-10E062D2D32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18C0CD-6C57-500B-8C20-3CB1FF2AD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650" y="1497559"/>
            <a:ext cx="39433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0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FB61-60DE-60C7-1FB6-7D1CEEB0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68D4C9-FF00-4A4D-F93C-D7BAF51352D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2EB792-7A9B-68C5-4ED1-6A9C4B47E2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D16948-2C20-1D4E-6F6D-F95D3A4DCAA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BDDF9B-4A37-6CC8-7058-F5C6E42A5994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원칙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70128A-5FA7-E302-162A-4A567BD19BFA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현장 실험과 연구를 종합하여 정리한 대표 저작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기존의 경험적 관리 방식을 비판하고 과학적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정량적 방법론을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작업을 세분화하고 불필요한 동작을 제거해 표준화된 절차 확립을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책은 단순한 기술 지침이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운영에 관한 체계적 이론서로 평가됨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고전 조직이론과 행정학 초기 학문적 정립에 결정적 영향을 끼침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171633A-C3E4-E09D-AC11-B9AC06588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10C743-B8A1-C22B-F916-F79DEE5F2AB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3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6C47-F3C4-609B-3D40-29C2435F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DD34822-9B87-5CDA-42D1-021FB51560A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7B5D36-004F-7A00-755E-DD5C4E8F379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3C8A8-6B68-7E20-2E1C-5B346DBA553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633AC-8DEB-AA82-C2A6-D348199D8C5F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테일러의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‘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경영의 의무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’(4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 원칙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7254A3-FDD0-822E-F936-BE315D43F5D5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경험적 규칙 대신 체계적이고 과학적 측정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 도입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노동자를 과학적으로 선발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훈련하여 적재적소 배치 보장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원칙이 실제 현장에서 정확히 적용되도록 협력 확보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관리와 노동을 명확히 구분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역할과 책임의 합리적 분담 추진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당시에는 혁신적 개념으로 받아들여졌으며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조직관리 기본 원리로 정착됨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7F2757D-F3AC-5A55-0CBD-5292D2DA8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F27742C-B37E-5128-3548-EE4CE656E09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CD14-A5B3-37D1-BBD0-BE77FDA6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0187C1-D761-1E28-9C0C-C1E9CC61817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A37356-969F-117D-3259-4BB8E1267C0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245646-EE4B-4C3F-1180-5D8C435DB9D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9C6A68-2AF6-24A1-1CC9-8730E43C5D2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의의와 한계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1D59C-5422-3991-CC84-7042172685E8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효율성과 생산성을 극대화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경영학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토대 마련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내 합리적 역할 분담을 제시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관리과학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성과관리 제도의 출발점이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노동자를 비인격적 부품으로 간주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인간적 요인 간과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비판은 이후 인간관계론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행동과학의 발달로 이어짐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결론적으로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과학적 관리는 필수적 토대이자 동시에 극복 대상이 되었음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6F85B3-8E5B-EAA1-5F16-511E92E51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D573DB5-CB08-43A2-864F-C825F46A91B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29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F82C-45AE-CFCC-83D2-D6FC4FF0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C581409-C8BA-8841-7067-0023CB4C651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2B4B9F-A732-B2A7-B5DD-1FEFC84EB5D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3D089-9655-7E22-FB04-FB13103D389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9716F2-6264-D9AC-6061-2EC569160AC3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확산과 공공부문 적용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C965D-D925-86BA-94D5-1CF8D1E676F3}"/>
              </a:ext>
            </a:extLst>
          </p:cNvPr>
          <p:cNvSpPr txBox="1"/>
          <p:nvPr/>
        </p:nvSpPr>
        <p:spPr>
          <a:xfrm>
            <a:off x="1079999" y="1671814"/>
            <a:ext cx="10390741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원리는 산업 현장을 넘어 공공부문 행정 개혁에도 영향을 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미 하원 특별위원회에서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직접 증언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대중적 논쟁의 중심에 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군수산업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공공서비스 분야에 적용 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 제고의 논거로 활용됨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개혁과 예산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 관리 개편에도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발상이 일부 반영됨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 담론은 행정개혁과 정부 효율화 운동의 기반으로 작용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A42E5B3-B1A0-8127-9A24-495AF5924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BE43256-6D4E-3830-30D6-7B575BC44F4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220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78AD-176A-72BB-990B-D9EE83454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6AAFAF-25AB-61DA-18EF-6422A0AF704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552F40-5F63-3DC4-AF41-900382F64F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39578-A308-90EF-452A-E62827507F65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A4962-F5AC-4638-C6EE-5890D04B5D11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우월성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77753-9656-04EC-29E2-7B784AF1BB87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“과학적 관리의 원칙이 올바르게 적용되고 그것이 진정으로 효과적이 되도록 충분한 시간이 주어진다면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훨씬 크고 더 나은 결과를 반드시 낳게 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과학적 관리가 기존 ‘자발성과 유인’ 방식보다 효율적임을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단순히 인센티브를 주는 관리 방식은 산발적 성과만을 얻음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 하에서는 성실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창의성이 규칙적이고 안정적으로 확보됨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경영자의 적극적 역할이 성과 향상의 핵심 요인으로 제시됨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A38A0F1-CA9B-254D-3498-EB7576F85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D3403D-908F-485B-2E8D-964BFE524EC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1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0E4B-C517-5CDE-C604-935D243D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CAC7C1-78BE-8F94-FB1B-95E92A733D9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C1633D-ADDD-2D93-2B0D-2001742F39D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5C83A-E729-EBA4-6683-09FBF595918B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17027D-454F-66BF-B142-56D724F59B2C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기존 관리 방식과의 비교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D0287-AEC5-2368-A13A-31A1E1A59ACA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‘자발성과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유인’의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관리에서는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 측이 의도적으로 노동자들에게 매우 큰 유인을 제공하고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노동자들은 그에 보답하여 항상 사용자 이익을 위해 최선을 다해 일한다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관리방식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노동자의 자발성에 의존 → 불규칙적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산발적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인센티브 중심의 방식은 한계가 뚜렷했음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관리는 자발성을 확보하면서도 경영자의 책임을 확대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경영자 모두에게 이익을 주는 지속가능한 관리 방식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1FF09B-BED8-4D05-47BF-2D608A8CB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88E4165-3533-7AC2-D06E-EEFB6D7AD32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296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16FA-44FD-0E51-00B8-996063A6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8C0886-F610-1814-D10E-A1E2C6625B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20B278-3022-2F14-B9D1-0B5DEC7C65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950C67-5A3B-C4E5-4C4B-8B05D905F36F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01A9C1-F117-C992-1191-30EFC30933F5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첫 번째 원칙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지식의 과학화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94626-E0D9-FF28-70A1-5B4DAFAA1430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“노동자들의 머릿속에 있던 방대한 전통 지식을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수집하고 기록하고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표로 만들고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수학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공식으로까지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환원하는 의무를 과학적 관리자들이 자발적으로 떠맡는다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기존에 개인에게 축적된 경험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기술을 조직 차원에서 체계화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표준화된 절차 개발을 통해 누구나 최적의 방법으로 수행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경험적 관리에서 과학적 데이터 관리로 전환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품질 향상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고임금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고이윤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구조 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77544D-8FC3-B610-24B4-B9FA3C1B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E3F9B1-BD50-E6EB-44AE-3ADDB2678CD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354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785D-F6A5-F0F5-9AF5-390C899BE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844D051-2AC5-4CFC-C453-F3EF39FA06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459C44-0306-6809-C843-EF38CD78D56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8173B3-7576-A4DD-FACE-6C3D1EBDEA2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762B46-58F5-642D-6AD8-32CEBC8AEDCB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과학이라는 개념의 논란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101B51-E340-0D87-F82B-07A83A53D3F7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“과학을 ‘어떤 종류의 분류되고 조직된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지식’이라고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정의했다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노동자들의 머릿속에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무분류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상태로 있던 지식을 수집하고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법칙과 규칙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공식으로 환원하는 것은 분명 지식의 조직과 분류를 의미한다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당시 학계 일부에서 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과학’이라는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용어 사용을 비판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테일러는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MIT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총장의 정의를 인용하며 정당화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지식의 조직과 분류라는 실용적 접근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 기법도 과학적 분석 대상이 될 수 있음을 주장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56B88FC-5B69-DAA7-7C4A-2A8C700D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0713BD-611B-C018-09E9-4FD9DA950A2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287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A99E-C359-2B51-D5DF-819EA651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628000-E897-58C5-82BA-081A6BE11C9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00731B-94CD-4A9D-9DBE-D3E580C213B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5785DF-1347-C662-E781-1C5F668EC4E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62C4C-C8EC-80A9-94D6-82C03CF31115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두 번째 원칙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선발과 훈련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7CD83-3700-123A-6FD5-33DB4B9E1AB2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“경영 측은 각 노동자의 성격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성과를 면밀히 연구해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체계적으로 그 노동자를 훈련시키고 돕고 가르쳐서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가능한 한 그에게 승진 기회를 주어야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 개별 역량을 과학적으로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적재적소 배치 → 생산성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직무 만족도 동시 향상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경영자는 단순 감독자가 아니라 지도자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멘토 역할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지속적 훈련과 승진 기회 제공으로 노동자의 동기부여 강화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7595A10-E9A7-511D-C824-B40737C22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406A37-AEA7-595B-3851-3C9E9E0245C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65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4ACD-6E9E-F34B-C1A7-BCF6F9F19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950C9C-DC9A-DB60-6A98-EACA3F64B0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18CF8C-FD6A-0CBF-FBAC-C8336466A38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237D8C-9AF4-0703-C069-86879AE8309A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CD22D-9BAD-383D-0F5F-E2C031206225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 번째 원칙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과학과 노동자의 결합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4BE286-748B-D72C-1B31-CFC197AABBDE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“아무리 많은 과학을 발전시키고 아무리 노동자를 선발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훈련한다 해도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과학과 노동자를 결합시키지 않는다면 모든 수고는 헛되다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원칙이 현장에 실제로 적용되어야 효과가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경영자는 노동자가 과학적 원칙을 따르도록 적극 지원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개인의 습관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방식에 안주하지 않도록 제도 설계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 측의 리더십이 핵심적 → “끌어내는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것”이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중요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56BC26-937E-3E86-82AB-B0420DD4F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49B74D-E8F6-0BB4-FD52-3835F123A4E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80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4A9C-2413-4871-3C13-0E8D0CCE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45AAE5-44C0-75FF-382A-18BF8DAF9C4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A5584E-87E1-B770-40AB-FF40504F552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8A40D-590E-B513-9162-A78713606128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BAB8B-A976-8345-494F-20AA5596BB4B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네 번째 원칙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역할과 책임의 분담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5A253-7943-9E2C-E1A4-FA26B755DCF1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“사업장의 실제 작업을 거의 동일하게 노동자와 경영자가 분담한다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 세 명마다 경영 측 사람 한 명이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구식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노동자가 대부분의 작업 담당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경영자와 노동자가 함께 업무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업무의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1/3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정도를 경영자가 책임지고 분담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긴밀한 협력 구조 → 파업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분쟁 최소화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 극대화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AC9F459-E4FD-A5F8-12E9-32C85F40B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1D06861-D276-5BE2-5F5C-6B18759737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096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3A8AE-A7F0-EB6B-B72C-1A15D988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6AB4599-DD27-1E05-1C69-DC38EAC6314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B18F47-8D88-30E9-00B9-D9EB77FC4F8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90BAC-9EBB-CE4A-AAE0-DB19139A9E68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A797E-8329-D91D-0BC1-B66222132C63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효과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조화의 지배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DA6B7-BE1F-F0B9-142F-8B6301974A17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밀접하고 형제 같은 협력이 없이는 올바른 속도로 정확하게 작업장을 운영할 수 없다는 것을 깨닫게 되면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마찰과 다툼은 최소화된다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노동자와 경영자의 협력이 제도화될 때 갈등 감소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갈등보다 조화와 협력이 지배하는 작업장 지향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 향상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안정 효과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관리는 단순히 기술이 아닌 사회적 조정 메커니즘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FC0491-322B-CB2D-B2D9-A3182B4DE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9F691FD-CDC4-84E5-85B3-D575CC3F3CB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419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4E5E-2E00-4855-2ABA-E56DF9D2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D8D41F-2E03-0AB0-8B59-F6E1F90832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6369C8-732B-6E5F-D8DA-DC867A19D42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93B36-3317-F254-E7A6-D770FF62E8D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BE3A4-6117-9008-C83B-6CD7237F56CB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적용 사례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–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야구팀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6A699-AA4E-B76D-B448-3D6D1C064820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“아무리 뛰어난 선수들만 모은 최고의 팀이라도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코치의 신호나 명령을 받고 즉시 따르지 않는다면 절대 이길 수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관리의 원리를 야구팀 운영에 비유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각 선수의 동작까지 과학적으로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팀워크와 코치의 지휘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경영자의 관리 기능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협력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훈련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규율 없이는 최고의 인재도 성과 낼 수 없음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08FEFFF-4893-A276-7303-BEEE95FD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350C1D-2893-C45D-D673-48F2405BAB7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50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F541-E4AD-D4F8-F117-5D3DF5CC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54553-FB21-0292-6CE4-579DBD4A112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4CA2A9D-B208-3212-F9BA-5441C48DA55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205A5-46FD-649A-82DF-E78D27FE1469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951B36-C879-925D-D775-E4BB6B43DC85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과학적 관리의 의의와 유산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0D591-200A-FCB5-182F-90E82B7AACE0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“과학적 관리는 위대한 발명이나 새로운 발견이 아니다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오래된 지식을 수집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분류하여 하나의 과학을 구성한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기존 지식을 조직화해 체계적 관리 과학을 구축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생산성 혁명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기초 마련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동시에 인간을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기계화했다는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비판적 유산도 남김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성과관리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KPI,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표준화 제도에 여전히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BF0A5B-CAEB-5233-1729-0C857DD98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F8FFA90-AA7F-645E-3532-3C11A3DB858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952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4192</TotalTime>
  <Words>1316</Words>
  <Application>Microsoft Office PowerPoint</Application>
  <PresentationFormat>와이드스크린</PresentationFormat>
  <Paragraphs>140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449</cp:revision>
  <dcterms:created xsi:type="dcterms:W3CDTF">2025-03-10T02:54:00Z</dcterms:created>
  <dcterms:modified xsi:type="dcterms:W3CDTF">2025-10-01T07:43:55Z</dcterms:modified>
</cp:coreProperties>
</file>