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82" r:id="rId4"/>
    <p:sldId id="265" r:id="rId5"/>
    <p:sldId id="277" r:id="rId6"/>
    <p:sldId id="278" r:id="rId7"/>
    <p:sldId id="283" r:id="rId8"/>
    <p:sldId id="279" r:id="rId9"/>
    <p:sldId id="280" r:id="rId10"/>
    <p:sldId id="284" r:id="rId11"/>
    <p:sldId id="287" r:id="rId12"/>
    <p:sldId id="258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73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9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498F0-E222-4130-B559-E26B0B605E46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D4FCB-31F1-4D49-A262-D5EAFE6F4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81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36FE37-B45E-702D-9B96-4299560E3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E08DEC-7BB0-FA22-8DA3-B1AB8DEFC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83A6BA-1565-C464-F4EB-3906E7373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C39A-0473-4F06-BAED-15A0495CDC03}" type="datetime1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BC19E9-6DDD-6434-8E6B-06EF96BBE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85B267-7A29-ED1D-ACA4-7E277B84F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55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8B7FEF-A226-AA76-1459-1FDB0A4E5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A804A3-2F1B-0A55-13C5-3650E2677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F0C730-8C26-635F-3C55-9A7C0301F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B99A3-FCEB-4DA1-9F62-29D8C0003628}" type="datetime1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B7EFE1-B630-48F3-8A5C-C662E88B8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2850C1-CA85-ED3E-2330-22B834CB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009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EE0D3C-3680-19BF-4C67-D4B4784C2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5C665B-B2AA-B08F-C279-912EC2D10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D66F2D-16A0-557C-3CCB-8FFB7554D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900D-BC70-4759-8B81-959479FDE631}" type="datetime1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FBDE22-BDA4-74CE-8C4C-E4E73812C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8D6EA0-E1DE-BF0E-0912-85915DD8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163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6F7B9F-6A11-CC5A-7A36-44D8AD919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783DDB-E592-C2D4-A180-B5DEDBF7B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51331B-C0B4-8EDC-103E-47B36BBE5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0767AC-DDFA-8913-983C-6DA9B0A67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B54D-7A36-44B1-8C28-43CC23156252}" type="datetime1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DBFE1A-421D-107D-5DF2-1870DCECC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2004D5-4E92-0B4C-7EE6-FAB9D429C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76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0A58D-AA06-16B9-3770-41AD164C9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96E662-B7C3-7FD5-CD89-C526ED31F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B9CFFF-D7AA-F586-9E75-BF93A1711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418F7E-3EA8-DC1E-43BE-7D850C468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1E95F9-9077-E721-07CD-4CA2411616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CEFD06E-78D1-0213-E60C-58C7C880A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9D56D-5F5D-4386-8229-7B3FCE23A9DB}" type="datetime1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BA4C8D-33C2-7987-6D00-869244A5B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D2AB68B-4F6B-A0AD-F831-29C6E58A1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982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AD11A-F73C-0207-0712-CC5C1966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CC1D79-BC19-4316-F46D-F86B3936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D53D-D905-4ACB-AC18-AA7FCF8F80DE}" type="datetime1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50F371-759C-8971-0893-79AC08C8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58D82D-21E7-57EF-BE11-B67FED11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146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DEECEE-D8EA-089C-FBE6-ADF6F763B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D813-ACF2-4610-9984-BFC3E3445E99}" type="datetime1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6F723E-2C54-55A9-296D-F360D200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62517F-6DF0-37E6-743B-70F38A8A8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22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08B69-7F2C-A92C-998A-A211E4A43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C4434C-27A6-FC8C-2488-5BF688F52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07BAD0-6B32-5C64-3F97-CF151C3C7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F30F74-FB46-CA2D-CE2A-520ACD1A3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59E2-8CCE-47B9-BB7A-030AE3600AA0}" type="datetime1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9900CC-E9D2-5A28-AF25-307ADC6E3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B32BB5-82AE-8482-2D75-FF89DE29E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764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A0DA8-0481-0840-93EF-373E4CAC2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5C5FCC-6E56-4B61-8A3A-806032224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03281E-513F-2090-6B6C-30573828E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C8138-7D38-BAA2-991C-DD73FA9AC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92EE-1CF8-4367-A084-DA2FF58DBBDB}" type="datetime1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DCA6D2-D45C-5920-4860-B918D7BB0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13D3DA-09E9-2079-3755-86D4E660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974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5BFF0-B5FD-B1C9-7990-6E39B598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A3334E-6A42-25D9-36F5-3E2B606E35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E5EBEB-6DD2-0DC1-0485-D095141E0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0889-A16A-434F-93C1-A64A52D175C8}" type="datetime1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47268B-0A1F-2E11-B10F-6214EB64A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646C17-DF9E-4AA3-63E2-DF71DCBC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524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D2B582-D262-AA95-51F3-7DB2368588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71DB97-E146-2A4B-9A20-568C9C345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D1D531-D2EA-FDE0-273E-A182CC962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027F3-8B5B-4B0E-A74B-00FCFC008BFB}" type="datetime1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F24463-153E-992E-0670-078E99ED1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574CB5-B661-FD9B-8604-B864DDCE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50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4896CC-D357-0B15-BD4E-82985503F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76DE65-3AA6-CB13-9141-59D0783E0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9FD434-1997-7C62-7EE2-A5C4A20CF3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4A376-E7CB-4754-856D-B8EF9D28E97C}" type="datetime1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F7F881-B52B-6E21-A008-2784312083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AB78CF-D66F-B729-696F-488DF175C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146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kdkim@kipa.re.kr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10ED8B-338F-5AA3-7E4C-9CE149942F70}"/>
              </a:ext>
            </a:extLst>
          </p:cNvPr>
          <p:cNvSpPr txBox="1"/>
          <p:nvPr/>
        </p:nvSpPr>
        <p:spPr>
          <a:xfrm>
            <a:off x="303023" y="5307578"/>
            <a:ext cx="19841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김경동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행정학과 조교수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en-US" altLang="ko-KR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  <a:hlinkClick r:id="rId2"/>
              </a:rPr>
              <a:t>kdkim@kw.ac.kr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9AC125-E49A-1BDE-4CB3-1DDFDD1917F7}"/>
              </a:ext>
            </a:extLst>
          </p:cNvPr>
          <p:cNvSpPr txBox="1"/>
          <p:nvPr/>
        </p:nvSpPr>
        <p:spPr>
          <a:xfrm>
            <a:off x="1938662" y="2215148"/>
            <a:ext cx="8314676" cy="160043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년도 가을학기</a:t>
            </a:r>
            <a:endParaRPr lang="en-US" altLang="ko-K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6600" b="1" dirty="0">
                <a:solidFill>
                  <a:srgbClr val="761F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텍스트로 보는 행정사</a:t>
            </a:r>
            <a:endParaRPr lang="ko-KR" alt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3C7D5DA-9E30-A35C-384A-368E3B235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F4A3564C-61B8-C23D-8A58-2BDFC3C0594F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6E7012C1-2889-777F-5077-8BBDEF2B9805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E0BA23DB-DD41-E0E9-8BD7-770B6BCB4C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719BD9D4-EA27-8883-6C3A-3B4D22263CD7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74972B61-1483-C590-C007-CB56962870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99096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538B085-AC77-42B4-3FD5-036694B9FEE0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107BEF2-8BDF-9873-23B6-5F4C4A28C8AD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D29FA3-9C64-9080-9086-F5F8B65AACB3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619101-F57C-4715-0C74-06E95FADF831}"/>
              </a:ext>
            </a:extLst>
          </p:cNvPr>
          <p:cNvSpPr txBox="1"/>
          <p:nvPr/>
        </p:nvSpPr>
        <p:spPr>
          <a:xfrm>
            <a:off x="1235998" y="757300"/>
            <a:ext cx="46306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미국 공무원제도 개혁과 </a:t>
            </a:r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실적제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D35132-B332-878F-08EB-8ED2D8C7BA03}"/>
              </a:ext>
            </a:extLst>
          </p:cNvPr>
          <p:cNvSpPr txBox="1"/>
          <p:nvPr/>
        </p:nvSpPr>
        <p:spPr>
          <a:xfrm>
            <a:off x="1080000" y="1671816"/>
            <a:ext cx="10055762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정당 충성에 따른 전리품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엽관제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→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공직의 사유화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경제적 필요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산업 확장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+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정치적 압력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공직 접근 확대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+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도덕적 외피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개혁의 정당성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실적과 적격성에 근거한 임용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승진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재직 보장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실적제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실적제는 반응성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효율성 높은 근대 행정국가로 가는 통로로 기능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단순한 인사제도가 아니라 근대 행정국가 정체성을 규정한 핵심 제도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규범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 제도 설계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현실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공진화 사례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9B1B26A-21F6-E711-96E7-89F232164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EA05E07-8A4F-4BCB-88B6-010796623205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6466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89B09-A9AB-F834-75FB-D7EC04019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5E72E3D-33F7-AE53-27A6-2F867F901663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87C2259-1B6E-7802-357F-96883302F8C0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471CD2-B374-CE45-EAD6-A59C264E64CC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808A6C-C929-CF21-8D0F-D612B5D5B51E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개혁의 실질적 출발선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A5AA5E-FB4A-3975-6AF8-2EA4D6D3C40E}"/>
              </a:ext>
            </a:extLst>
          </p:cNvPr>
          <p:cNvSpPr txBox="1"/>
          <p:nvPr/>
        </p:nvSpPr>
        <p:spPr>
          <a:xfrm>
            <a:off x="1080000" y="1671816"/>
            <a:ext cx="10209671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남북전쟁 후 급팽창한 연방정부는 전문성과 안정성 있는 인력제도가 필요했고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엽관제를 제어하려는 개혁 요구가 본격화됨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정당 기계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충성심과 기율로 무장한 당원들이 보스를 중심으로 기계처럼 움직이는 수직적 조직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와 후견 네트워크가 공직 배분을 독점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우편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교통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통신망 등 대규모 연방 기능의 안정 운영 필요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전리품 배분을 유지할 것인가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vs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공무원제 확립할 것인가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행정의 안정성 요구가 처음으로 제도 개혁 압력으로 전환된 시점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A506F44-2754-ECD1-C6DA-F1A049525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7A7F7A8-57B8-56ED-5C10-485E0816AE8F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4911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45CCE-E8F0-C135-35B6-0A0A5C055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074012D-53DC-5227-4460-626954FF125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1540394-9316-A9FD-07B1-F3504BF6E4DE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EB9B39-7112-A97C-85D0-DCBF35580845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3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0F6F87-C845-7F65-1202-A67F08BC6536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제퍼슨의 원칙과 잭슨의 영향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B1A806-ADFC-43B9-E601-626F15663F4D}"/>
              </a:ext>
            </a:extLst>
          </p:cNvPr>
          <p:cNvSpPr txBox="1"/>
          <p:nvPr/>
        </p:nvSpPr>
        <p:spPr>
          <a:xfrm>
            <a:off x="1079999" y="1671814"/>
            <a:ext cx="10390741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“단순한 정치적 의견 차이는 해임 사유가 아니다”</a:t>
            </a:r>
            <a:endParaRPr lang="en-US" altLang="ko-KR" sz="2400" i="1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제퍼슨 대통령은 정치적 의견 차이로 해임하지 않는다는 규범을 제시하면서 잭슨 대통령 이전까지 정치적 보복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해임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제어 장치로 기능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공직에 참여할 동등한 기회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”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잭슨은 엽관제에 따른 공직 순환을 정당화함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참정권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확대층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정당 지지자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공직 접근 보장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반귀족주의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실제 집행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잭슨은 상대적 절제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후임자들이 순환 확대 →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직위 안정성’ ↓ ‘공직 순환’ 개념↑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F52EA7D-03DC-1C9A-F825-E047209E3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6F9F91F-8E91-CC61-BB60-43CBEEAE73D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3242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3E9CC-F05F-6109-B4B7-FC6B6A63D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9D9B3C1-F97B-8495-3B86-8C3E67D3EB6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64BEF5E-622D-D523-7712-F7F12173CF46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46DF4B-40FA-BE1D-8043-F1E6D18A2C26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4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DD48E0-44C6-FA09-27C9-6D78CA189EFA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실적제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도입의 배경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DBC41C-40E6-172B-6A0E-24FE8856A15F}"/>
              </a:ext>
            </a:extLst>
          </p:cNvPr>
          <p:cNvSpPr txBox="1"/>
          <p:nvPr/>
        </p:nvSpPr>
        <p:spPr>
          <a:xfrm>
            <a:off x="1079999" y="1671814"/>
            <a:ext cx="10390741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남북전쟁 이후 경제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도덕 요인이 얽혀 실적제를 이끌어 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914400" lvl="1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산업 확장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우편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교통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회계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→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지속 인력 수요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914400" lvl="1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참정권 확대와 민주주의 정당성 압력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914400" lvl="1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도덕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공공성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청렴성 담론이 개혁의 사회적 정당성 제공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 요인은 구분 불가할 만큼 긴밀 → 어느 하나로 환원하기 어려움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상호작용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488ACB8-27B2-7818-C5C9-749879CF2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D9ACB3E-3592-12B9-8103-2695D2345D5C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2593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3A50B-F543-67BD-47CB-8B5D2D048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6997FAD-EB31-1ED1-5588-FBE4FF9E93E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0F7FE1D-0CF7-D474-D28B-624CBCCED00F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468E4D-DBB0-6D86-D6BA-AF8CE630A1EE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5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F50B09-4B7D-F20B-C81A-07C5A6771011}"/>
              </a:ext>
            </a:extLst>
          </p:cNvPr>
          <p:cNvSpPr txBox="1"/>
          <p:nvPr/>
        </p:nvSpPr>
        <p:spPr>
          <a:xfrm>
            <a:off x="1235999" y="757300"/>
            <a:ext cx="53549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기업계와 개혁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재정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·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영향력의 재배치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35FFE4-E6D9-E741-CAC7-6CC6D53E0675}"/>
              </a:ext>
            </a:extLst>
          </p:cNvPr>
          <p:cNvSpPr txBox="1"/>
          <p:nvPr/>
        </p:nvSpPr>
        <p:spPr>
          <a:xfrm>
            <a:off x="1079999" y="1671814"/>
            <a:ext cx="10390741" cy="3573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기존 정당 재정 기반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공직자 급여에 대한 부과금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실적제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개혁으로 후견주의가 약화 → 정당 재정 약화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기업은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실적제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개혁 지지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+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 지원 → 정당에 대한 영향력 확대 → 정부 정책에 대한 영향력 확대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실적제는 행정 개혁일 뿐 아니라 권력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 구조의 재편 → 정치 권력 이동과 행정 개혁 동시 발생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B4B05F4-BC93-0398-0AC7-208B75553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0838E2B-200F-816D-9804-C0EB8A8BB04D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5515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8BA06-5DC1-CD0A-0BC2-B7870DB48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4B2D85A-CBEA-846C-E696-FFDF13690268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20B90D7-954C-1D1F-8CCF-744417643713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4FB3FF-EFC8-BC2E-7984-731C2DB294DB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6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3383AF-04BD-9B67-3BAA-DC5A165480C0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실적제의 설계자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06EE78-C73A-03B8-1B52-3E7224AFB6C7}"/>
              </a:ext>
            </a:extLst>
          </p:cNvPr>
          <p:cNvSpPr txBox="1"/>
          <p:nvPr/>
        </p:nvSpPr>
        <p:spPr>
          <a:xfrm>
            <a:off x="1079999" y="1671814"/>
            <a:ext cx="10390741" cy="3721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도먼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B.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이튼은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영국 제도 연구를 토대로 미국 실적제의 철학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원칙을 체계화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914400" lvl="1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=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신뢰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권력은 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공익에 부합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914400" lvl="1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공익 위해 가치 있는 시민을 공직에 임명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914400" lvl="1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개인적 실적이 정당한 자격임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914400" lvl="1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정당정치는 폐지 아닌 정화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고양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영향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펜들턴법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설계에 기여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37BF0D7-A28D-5AF5-458B-5D2FEA059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30B152E-4C31-AB2E-D656-FDBE02B76A61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1593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5EE6F-FF76-5EE9-5F8C-3B0A40AB3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595C70A-A4AB-80F7-30D2-B8D87E17698D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CC92348-4C2C-ABDD-825A-12EFF83FC2DA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811D46-1A4C-A68B-A294-25D9AC8A48BC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7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3434FC-A069-F53B-6981-321D3814D199}"/>
              </a:ext>
            </a:extLst>
          </p:cNvPr>
          <p:cNvSpPr txBox="1"/>
          <p:nvPr/>
        </p:nvSpPr>
        <p:spPr>
          <a:xfrm>
            <a:off x="1235999" y="757300"/>
            <a:ext cx="43680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펜들턴법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제도 전환의 분수령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379149-6068-BC17-18D2-C73BC631B706}"/>
              </a:ext>
            </a:extLst>
          </p:cNvPr>
          <p:cNvSpPr txBox="1"/>
          <p:nvPr/>
        </p:nvSpPr>
        <p:spPr>
          <a:xfrm>
            <a:off x="1079999" y="1671814"/>
            <a:ext cx="10390741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가필드 암살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(1881)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계기로 개혁 여론이 결집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핵심 내용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공개 경쟁시험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실적 승진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재직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위원회 설치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적용 확대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1880s ~10% →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세계대전 사이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~70%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목표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행정의 지속성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전문성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공정성 확보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행정권 인사의 제도적 표준 제시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B408DF3-858D-77A4-6180-A746CD4CD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94566A3-4391-8F4C-2972-73F8139318A7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8925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61F42-9477-41B5-8EA1-212835EB0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96588C8-4973-508D-FCFA-68FBFD1ABD3F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3E819AC-500B-F9C0-6F52-CDE22D26ACA2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4DFE1D-30EC-AC56-E0E8-197DF3881692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8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7DC8FA-1CA1-1E07-02C3-1B313DA6BCF5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구조적 한계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DF99B2-F8CE-A600-1865-4F5ED6EB459F}"/>
              </a:ext>
            </a:extLst>
          </p:cNvPr>
          <p:cNvSpPr txBox="1"/>
          <p:nvPr/>
        </p:nvSpPr>
        <p:spPr>
          <a:xfrm>
            <a:off x="1079999" y="1671814"/>
            <a:ext cx="10390741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모셔의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관찰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실적직의 대부분이 하위직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입법 변화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최하위 직위만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실적제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허용 조항 삭제 → 수평적 채용 가능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진입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–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상향 이동성의 괴리가 발생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승진 정체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경력 누적의 제약으로 인해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경과 후에도 고위직 진입 부족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제도는 확산되었으나 권력핵심 인사 재량은 지속 → 개혁 확산은 쉬웠으나 상층부 권력은 여전히 정치적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841D3CF-E22E-2953-CC42-87B55679E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E8F20AE-D34A-58C5-3614-12A65D9E2B1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6450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0CFBB-8D49-8C7A-0A0C-556B5D9DB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C9773E3-541C-4A8A-1473-E25E79C1C9B5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C6EA5C5-DEBB-6154-5646-818E07CBAC16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67793C-F659-8DF3-2E48-87C2AAE7FBCE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9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37F639-4F5B-5EDC-EA6D-0A53584661D6}"/>
              </a:ext>
            </a:extLst>
          </p:cNvPr>
          <p:cNvSpPr txBox="1"/>
          <p:nvPr/>
        </p:nvSpPr>
        <p:spPr>
          <a:xfrm>
            <a:off x="1235999" y="757300"/>
            <a:ext cx="6024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주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·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지방으로의 확산과 쇠퇴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0094D4-0552-E5D6-5059-78EF0C3E53DE}"/>
              </a:ext>
            </a:extLst>
          </p:cNvPr>
          <p:cNvSpPr txBox="1"/>
          <p:nvPr/>
        </p:nvSpPr>
        <p:spPr>
          <a:xfrm>
            <a:off x="1079999" y="1671814"/>
            <a:ext cx="10390741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주 법제화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매사추세츠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(1883)·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뉴욕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(1884)·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오하이오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(1902)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소수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채택 실태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1930s 200+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도시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실적제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도입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연방의 약한 강제성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도시의 상대적 자율성과 자발적 확산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지방 행정 운영 표준으로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실적제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경쟁채용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 자리 잡음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1990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년대 일부 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조지아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플로리다 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공무원 보호를 축소하고 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at-will’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고용을 확대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관리자 재량과 유연성을 강화하는 방향으로 선회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A5C0DB9-ECBD-37A2-5FB9-9AAD923DA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F1D31BE-E011-844D-A848-A0D18ABDDA8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8737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29FA8-6EF2-C8B0-766F-F7D904C3C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8A83CDB-88E7-AA9A-BD15-CAE1B5CD006F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97164EA-FE46-D043-514F-A81E249CFDCA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976D07-835F-5B1E-46B7-D686CE6F7D96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10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28C4A9-4112-876C-8CAB-0F869F454178}"/>
              </a:ext>
            </a:extLst>
          </p:cNvPr>
          <p:cNvSpPr txBox="1"/>
          <p:nvPr/>
        </p:nvSpPr>
        <p:spPr>
          <a:xfrm>
            <a:off x="1235999" y="757300"/>
            <a:ext cx="45672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결론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55ED5C-1DA4-B68A-50CD-5992477B5B66}"/>
              </a:ext>
            </a:extLst>
          </p:cNvPr>
          <p:cNvSpPr txBox="1"/>
          <p:nvPr/>
        </p:nvSpPr>
        <p:spPr>
          <a:xfrm>
            <a:off x="1079999" y="1671814"/>
            <a:ext cx="10390741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후견주의가 표적 → 공정성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청렴 강화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최근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과잉보호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경직성이 표적 → 유연성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성과주의 강화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공공인력을 더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응답성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있고 생산적으로 만드는 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정치적 중립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vs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관리자 재량 →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낙하산 인사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제도 설계는 맥락 의존적 최적화의 문제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항상 작동하는 정답은 없음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09EE7F2-3CE8-E8E3-CB78-99201D468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1B3D970-4ED7-833B-43B2-E615BAED6305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29681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C8635D4-D3E2-C1C1-2DF9-711C09D1EC0A}"/>
              </a:ext>
            </a:extLst>
          </p:cNvPr>
          <p:cNvCxnSpPr>
            <a:cxnSpLocks/>
          </p:cNvCxnSpPr>
          <p:nvPr/>
        </p:nvCxnSpPr>
        <p:spPr>
          <a:xfrm>
            <a:off x="2152783" y="717177"/>
            <a:ext cx="9727217" cy="2823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DE01540-6402-0BA0-5B48-1A12659FE302}"/>
              </a:ext>
            </a:extLst>
          </p:cNvPr>
          <p:cNvSpPr txBox="1"/>
          <p:nvPr/>
        </p:nvSpPr>
        <p:spPr>
          <a:xfrm>
            <a:off x="4874350" y="3075057"/>
            <a:ext cx="2443298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algn="dist"/>
            <a:r>
              <a:rPr lang="ko-KR" altLang="en-US" sz="4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감사합니다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89A27F3-6396-4A24-947F-2EDC13EB62A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3755EA48-AAC8-8D9F-CFA6-5208CD71E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C8A388A4-7040-6B9A-9AE1-834C88364A48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C2047555-F6C8-2082-96FB-974FF14E9C11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A816CA28-ED33-29B0-8851-0B9BAB3111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E80146EE-C903-87DE-0B04-EFB7BD1B165A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2EBFA3EB-50D2-8153-CCB7-97A94AEAF1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948503B-7E35-726A-03B0-63A0FC98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505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3481</TotalTime>
  <Words>677</Words>
  <Application>Microsoft Office PowerPoint</Application>
  <PresentationFormat>와이드스크린</PresentationFormat>
  <Paragraphs>75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경기천년제목 Bold</vt:lpstr>
      <vt:lpstr>경기천년제목 Light</vt:lpstr>
      <vt:lpstr>맑은 고딕</vt:lpstr>
      <vt:lpstr>이사만루체 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KKD</dc:creator>
  <cp:lastModifiedBy>KKD</cp:lastModifiedBy>
  <cp:revision>223</cp:revision>
  <dcterms:created xsi:type="dcterms:W3CDTF">2025-03-10T02:54:00Z</dcterms:created>
  <dcterms:modified xsi:type="dcterms:W3CDTF">2025-09-16T02:05:39Z</dcterms:modified>
</cp:coreProperties>
</file>