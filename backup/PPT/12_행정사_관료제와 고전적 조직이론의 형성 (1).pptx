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65" r:id="rId3"/>
    <p:sldId id="324" r:id="rId4"/>
    <p:sldId id="323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321" r:id="rId13"/>
    <p:sldId id="322" r:id="rId14"/>
    <p:sldId id="258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4660"/>
  </p:normalViewPr>
  <p:slideViewPr>
    <p:cSldViewPr snapToGrid="0">
      <p:cViewPr varScale="1">
        <p:scale>
          <a:sx n="71" d="100"/>
          <a:sy n="71" d="100"/>
        </p:scale>
        <p:origin x="90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 dirty="0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텍스트로 보는 행정사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45CCE-E8F0-C135-35B6-0A0A5C055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074012D-53DC-5227-4460-626954FF125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540394-9316-A9FD-07B1-F3504BF6E4D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EB9B39-7112-A97C-85D0-DCBF35580845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0F6F87-C845-7F65-1202-A67F08BC6536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막스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베버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B1A806-ADFC-43B9-E601-626F15663F4D}"/>
              </a:ext>
            </a:extLst>
          </p:cNvPr>
          <p:cNvSpPr txBox="1"/>
          <p:nvPr/>
        </p:nvSpPr>
        <p:spPr>
          <a:xfrm>
            <a:off x="1079999" y="1671814"/>
            <a:ext cx="6383119" cy="2871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막스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베버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(1864~1920)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법학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역사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경제학을 공부했으며 베를린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괴팅겐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하이델베르크 등 여러 대학에서 학문활동을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정치경제학 등 다양한 분야를 넘나들며 근대 사회 구조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합리성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관료제 등을 탐구함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F52EA7D-03DC-1C9A-F825-E047209E3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6F9F91F-8E91-CC61-BB60-43CBEEAE73D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Portrait Of The German Sociologist Max Weber (1864 1920), 51% OFF">
            <a:extLst>
              <a:ext uri="{FF2B5EF4-FFF2-40B4-BE49-F238E27FC236}">
                <a16:creationId xmlns:a16="http://schemas.microsoft.com/office/drawing/2014/main" id="{BB8A6EF1-03CC-E6C5-E0C0-9C27BFAFA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0327" y="1519204"/>
            <a:ext cx="2781674" cy="3801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3242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7E12E-ADA0-7259-2468-47250DD8E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ACB95F5-AE74-2386-0187-A01D5949FA3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2BE5E5-7FA3-9322-9C8F-35F44E099AE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C9073B-E4C0-C55E-62F1-69A6BC9EABBD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1D850C-E30F-F7A9-32E0-AF61EABF3607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막스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베버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310425-0E19-C9CC-3615-51232541E795}"/>
              </a:ext>
            </a:extLst>
          </p:cNvPr>
          <p:cNvSpPr txBox="1"/>
          <p:nvPr/>
        </p:nvSpPr>
        <p:spPr>
          <a:xfrm>
            <a:off x="1079999" y="1671814"/>
            <a:ext cx="10390741" cy="342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베버는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“합리화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(rationalization)”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개념을 중심으로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근대 사회가 전통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감정 중심에서 규칙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계산 중심의 사회로 전환한다고 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대표 저서로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The Protestant Ethic and the Spirit of Capitalism)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또 다른 중심 개념은 권위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(authority)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유형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전통적 권위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카리스마적 권위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리더십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합리적 권위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있으며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근대 사회에서는 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합리적 권위가 중심을 차지한다고 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23706CF-52F4-DA56-5AAC-3E7DBA9D5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ED881C1-CADA-71FE-54FF-705A17B829E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745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86CEE-6DDC-D066-5398-CD94448F0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888200A-4639-3BCE-1B9F-BF26BA3E283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9C0912-D3F9-0D5B-E5CB-F78B6C6AB22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297742-F2CE-4675-6BFE-52341BFD3D8A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144E28-CAAA-E22A-66CC-AAF674A68AE7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베버와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관료제의 출발점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82C46E-0CEB-8DD5-3B22-8E2CC1BDCCCB}"/>
              </a:ext>
            </a:extLst>
          </p:cNvPr>
          <p:cNvSpPr txBox="1"/>
          <p:nvPr/>
        </p:nvSpPr>
        <p:spPr>
          <a:xfrm>
            <a:off x="1079999" y="1671814"/>
            <a:ext cx="10390741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베버는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관료제를 가장 합리적이고 효율적인 조직 형태로 보았지만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 안에는 비인간성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경직성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탈맥락성이라는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위험도 포함된다고 봄 → “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철장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(iron cage)”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관료제의 특징에는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계층제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(hierarchy),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규칙 중심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(rule-governed),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문서주의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전문성 기반 인사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비인격성 등이 포함됨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베버는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관료제의 지배가 불가피하지만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동시에 그것이 사회와 개인의 자율성에 미치는 영향을 경계하기도 하였음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베버의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관료제 모델은 이후 행정학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조직이론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거버넌스 연구의 근간이 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7541C55-13CD-AE90-8ED8-1A17AAEE4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25F1030-7440-BD23-8A61-DA5BD6B822C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597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15842-C94A-1C39-CD70-917FE1858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18D179F-E3A3-8546-CBC0-AB3FB4AD219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B3CFA1A-8D99-3995-32F2-6209AC4D5DF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35AC49-4EB1-475E-7F12-4E3D3F1EE6F7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3DBC8F-0194-BF71-9551-0669E81F238F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관료제의 특징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–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규칙과 공적 의무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BDE1AA-ED72-6B54-713F-94C7193A03B2}"/>
              </a:ext>
            </a:extLst>
          </p:cNvPr>
          <p:cNvSpPr txBox="1"/>
          <p:nvPr/>
        </p:nvSpPr>
        <p:spPr>
          <a:xfrm>
            <a:off x="1079999" y="1671814"/>
            <a:ext cx="10390741" cy="4275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“확고한 규칙을 통해 확립된 공적 의무의 원칙이 존재하며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이는 일반적으로 법률이나 행정 명령에 의해 규정된다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관료제의 기본은 규칙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(rule)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의한 지배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개인이 아닌 제도 중심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업무는 법적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행정적 명령 체계 속에서 수행됨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모든 행정행위는 규칙과 절차에 근거해야 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자의적 판단 최소화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공무원은 사적 감정이 아닌 공적 의무의 이행자로 간주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규칙의 존재가 곧 합리성과 예측가능성을 보장함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87504C4-8781-1D03-2141-4DD0BE19D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73797DF-774A-9FBE-AE5E-E20365477FA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742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22825-8801-0F46-DE56-A915584C2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2414DC9-1CBB-E071-069F-3E763F97B23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E509C18-53EA-9E06-FC45-F642A56B4C3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7FF883-952A-4371-FB6E-C31545D75AAC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3CB976-A9BF-3A4F-B05C-56AA84B6AEB4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계층제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원칙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(Hierarchy)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23A51D-69B2-7851-EA38-CEE72B17DB91}"/>
              </a:ext>
            </a:extLst>
          </p:cNvPr>
          <p:cNvSpPr txBox="1"/>
          <p:nvPr/>
        </p:nvSpPr>
        <p:spPr>
          <a:xfrm>
            <a:off x="1079999" y="1671814"/>
            <a:ext cx="10390741" cy="4275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“직무 계층과 권위의 단계 원칙이 존재한다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이는 상급과 하급의 체계적 질서가 존재하고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하급 기관은 상급 기관의 감독을 받는 체제이다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관료제는 명확한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상하위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질서와 권한의 분화로 조직됨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하급 기관은 상급 기관에 보고하며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책임의 흐름이 수직적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계층 구조는 단순 복종이 아니라 합리적 통제와 감독의 체계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명령권과 항소권이 동시에 규정되어 제도적 안정성 확보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이러한 위계는 현대 행정조직의 표준적 설계 원리로 계승됨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5877581-EDDE-1894-E4C9-C9E3B5685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854237A-6642-BB22-16E8-CD3785D926D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9235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D80FB-96E6-3EEF-106E-D5987B336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41A375-16A0-5198-0811-AD26EA531CD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7812A6-0340-B183-29E2-3BCF0DB8269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4772C2-77E3-3978-A51F-3E1D9F367B00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E57C49-EC34-A8AA-87D0-6B14093DD1F9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문서주의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(File System)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6F31C6-B60E-FD30-FD6C-5777E1E1B5E9}"/>
              </a:ext>
            </a:extLst>
          </p:cNvPr>
          <p:cNvSpPr txBox="1"/>
          <p:nvPr/>
        </p:nvSpPr>
        <p:spPr>
          <a:xfrm>
            <a:off x="1079999" y="1671814"/>
            <a:ext cx="10390741" cy="3721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“현대 사무는 원본이나 초안 형태로 보존되는 문서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파일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기반한다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관료제 운영의 핵심은 기록의 축적과 문서화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문서는 조직의 기억이자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권한의 근거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행정의 연속성과 책임성을 보장하는 제도적 장치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문서의 존재로 개인 판단이 아닌 증거 기반 행정 가능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오늘날 전자문서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정보관리시스템은 이 원리를 계승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E848FC7-6CBC-62DA-0539-8DC61B9F3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AC6DAC0-4344-37EA-931C-E6DEFB5CA6A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334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3A0F6-E109-6122-3E13-362F01A48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ACFCFFF-FE2C-BBD9-10BA-C98AF04D338A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44B15F-59E9-F14B-2947-BF7AF50D9193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60B18F-312A-9621-7279-63D6BF8671E1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5C0B88-53C8-F9A0-71C8-7221E7DA2B2D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전문성과 자격제도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744B1C-87A6-7582-9E47-4FB042196665}"/>
              </a:ext>
            </a:extLst>
          </p:cNvPr>
          <p:cNvSpPr txBox="1"/>
          <p:nvPr/>
        </p:nvSpPr>
        <p:spPr>
          <a:xfrm>
            <a:off x="1079999" y="1671814"/>
            <a:ext cx="10390741" cy="3721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“사무의 관리는 보통 완전하고 전문적인 훈련을 전제로 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관료제는 전문적 자격과 교육훈련을 중시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임의적 임명 대신 시험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교육을 통한 공정한 선발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직무 수행은 경험보다 전문지식과 능력에 기반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전문성은 합리성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효율성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예측가능성의 핵심 요건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현대 공무원제도의 자격 기반 인사제도로 계승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F8D5C67-ABDF-1662-789A-2EEAEF046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B4306CA-1E43-5DAC-579C-5FCB4FE5B14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3442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88E37-5942-CDDC-72D0-5E35CAA71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A50C8DF-1023-2124-B504-6400A6552EA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97341D4-E068-1AA2-2FC4-F947CAF9403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4DE3D0-7B27-DF19-1A0F-D24647756329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6F0FA-CD7A-BA27-33C9-D9A4A7200EF2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공적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직업으로서의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공무원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64D1D9-2CCD-68EA-98D6-CE9AA14BBC59}"/>
              </a:ext>
            </a:extLst>
          </p:cNvPr>
          <p:cNvSpPr txBox="1"/>
          <p:nvPr/>
        </p:nvSpPr>
        <p:spPr>
          <a:xfrm>
            <a:off x="1079999" y="1671814"/>
            <a:ext cx="10390741" cy="490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“직위는 ‘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직업’이다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이는 규정된 교육 과정을 요구하며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일반적으로 특별 시험이 요구된다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공직은 단순한 신분이 아니라 전문적 직업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(vocation)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공무원은 법적으로 보장된 안정성과 책임을 동시에 가짐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직무는 개인적 충성이 아닌 조직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제도에 대한 충성으로 전환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근대국가에서 충성 개념은 비인격적이며 기능 중심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베버의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공직 개념은 ‘직업윤리와 제도적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충성’의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기초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AE3E145-7785-5969-7C09-3EA7D9DF8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F60FEBB-100C-D6A4-73A4-DA17D8C0BD91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523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A808F-3E2D-45D7-2C97-EE05CF3DF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B04F608-7489-91D9-0368-6C05E7589573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35A918D-E15C-720A-6A57-DC8DB1F35C2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221A9F-F2EE-6A0E-1833-D9B58B0535F2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F663FD-9C20-25CB-3F43-65AE1F1A8EDC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사회적 지위와 임용 체계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7326A6-E9E1-BC31-FDF7-05FD15A8985D}"/>
              </a:ext>
            </a:extLst>
          </p:cNvPr>
          <p:cNvSpPr txBox="1"/>
          <p:nvPr/>
        </p:nvSpPr>
        <p:spPr>
          <a:xfrm>
            <a:off x="1079999" y="1671814"/>
            <a:ext cx="10390741" cy="4275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“순수 유형의 관료 공무원은 상급 권위에 의해 임명된다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피지배 집단에 의해 선출된 공무원은 진정한 의미에서 관료적 인물이 아니다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관료의 임용은 선출이 아니라 상급 권위에 의한 위임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전문성과 독립성 보장을 위해 정치적 영향 최소화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선출직 공무원은 기술적 전문성보다 정치적 의존 가능성 큼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안정적 경력구조와 종신직은 관료의 중립성을 담보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관료제는 결국 합리적 통치의 기술적 장치로 작동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E027483-F2AF-C8F5-0CD3-E46996EC0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3C03DAE-B350-D3E6-822F-3F1FB22A1EE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0856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5CFE0-56C0-26C3-E83D-2C416C45A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274748D-F92B-9567-8879-328379BDFDEA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413847B-FDE1-A645-1963-60DA10865F3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F6D843-7A07-7EB1-47B2-7E6C9D68DE96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05EA29-62F8-0428-CC3C-01F72E7CAECF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급여와 경력 구조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208204-435E-E3EA-06DB-6C7D7842164D}"/>
              </a:ext>
            </a:extLst>
          </p:cNvPr>
          <p:cNvSpPr txBox="1"/>
          <p:nvPr/>
        </p:nvSpPr>
        <p:spPr>
          <a:xfrm>
            <a:off x="1079999" y="1671814"/>
            <a:ext cx="10390741" cy="3721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“공무원은 고정된 급여와 노후 보장을 위한 연금의 형태로 정기적인 보상을 받는다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급여는 직책의 등급과 근속 연수에 따라 결정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개인 성과보다 직위의 공적 가치에 따라 보상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이러한 체계는 직업 안정성과 제도적 예측가능성을 보장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연금 제도는 공직을 장기적 경력으로 인식하게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현대 공무원제도의 연공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직급 중심 보수체계의 원형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19D0135-4D5E-8437-AF60-1DCBC8951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128D68E-0B88-48DB-AA3E-190C9828A92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474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C9FE1-40E9-D1CA-58E1-DCCE7471F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DD1A9F5-81D4-6582-7B07-7FB096B2212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3276625-CE89-A5AD-415A-DE28F5444ED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DE2262-6249-FB18-F13B-FD46F443F731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547B87-4FBC-1091-5D89-B2C8C0AC9196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합리적 권위와 비인격성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AE0D33-21E5-ECA1-25F4-4398970DD5B0}"/>
              </a:ext>
            </a:extLst>
          </p:cNvPr>
          <p:cNvSpPr txBox="1"/>
          <p:nvPr/>
        </p:nvSpPr>
        <p:spPr>
          <a:xfrm>
            <a:off x="1079999" y="1671814"/>
            <a:ext cx="10390741" cy="4275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“공공 행정은 개인 영역과 분리되며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공적 자금과 물자는 공무원의 사적 소유와 엄격히 구분된다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관료제의 권위는 개인이 아닌 직위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(position)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에서 발생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업무는 공사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公私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구분을 전제로 수행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비인격성은 감정적 판단을 배제하고 공정성과 일관성을 확보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합리적 권위는 제도적 신뢰의 기반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오늘날 행정의 투명성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청렴성 원칙으로 발전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7401234-E97A-6ECF-2A94-C6DE603EF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245F903-BF61-B0E6-D03D-F7E78B68FAE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9349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35D0B-B85A-9701-9193-26C65CD7F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663D78E-B149-6DB5-D1F6-7751D587C0E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49A9D4C-0879-ED7D-48B8-B1B679A8494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63AD09-9485-9C7A-A5A1-801FE9F47B2A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51E5AF-862C-33CA-71C2-E28E50D043AE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소결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베버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관료제의 의의와 한계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6BCDBC-F3BB-0E8A-8B0A-8EF25198113F}"/>
              </a:ext>
            </a:extLst>
          </p:cNvPr>
          <p:cNvSpPr txBox="1"/>
          <p:nvPr/>
        </p:nvSpPr>
        <p:spPr>
          <a:xfrm>
            <a:off x="1079999" y="1671814"/>
            <a:ext cx="10390741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관료제는 합리적 통치의 이상형이자 현대행정의 모델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장점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효율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예측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안정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비창의성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비인간화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베버는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관료제를 ‘불가피하지만 위험한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필연’으로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현대 행정학은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베버의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이상형을 출발점으로 다양한 대안을 발전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그의 분석은 여전히 조직 연구의 규범적 좌표로 기능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B9D105-70F1-9BF9-41F5-90516CBF9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5E076EE-9BC6-080E-F576-7AFE744845D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567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4186</TotalTime>
  <Words>753</Words>
  <Application>Microsoft Office PowerPoint</Application>
  <PresentationFormat>와이드스크린</PresentationFormat>
  <Paragraphs>92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428</cp:revision>
  <dcterms:created xsi:type="dcterms:W3CDTF">2025-03-10T02:54:00Z</dcterms:created>
  <dcterms:modified xsi:type="dcterms:W3CDTF">2025-10-12T04:18:26Z</dcterms:modified>
</cp:coreProperties>
</file>