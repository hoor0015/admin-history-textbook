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5" r:id="rId4"/>
    <p:sldId id="266" r:id="rId5"/>
    <p:sldId id="267" r:id="rId6"/>
    <p:sldId id="268" r:id="rId7"/>
    <p:sldId id="259" r:id="rId8"/>
    <p:sldId id="276" r:id="rId9"/>
    <p:sldId id="269" r:id="rId10"/>
    <p:sldId id="271" r:id="rId11"/>
    <p:sldId id="270" r:id="rId12"/>
    <p:sldId id="272" r:id="rId13"/>
    <p:sldId id="273" r:id="rId14"/>
    <p:sldId id="274" r:id="rId15"/>
    <p:sldId id="275" r:id="rId16"/>
    <p:sldId id="25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7ED6-69D5-2188-C34F-D746BC5C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A98682-2018-0BAA-A9A5-4B1CA37BD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75CDB3-F875-09CE-0E1B-EA0A8415A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EA018-DEA4-A81C-2ED7-9E8321883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88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EB49-C3CC-0183-1087-CC517E9E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30CF49-1729-B67B-EC0F-CE08D70A7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2AC733-9EEC-E2A5-4A63-0FAB175E8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CDFAAB-A7A5-9E64-8FE2-4D6C19988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089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4234-4E56-80F2-A9C9-0D9B1A5E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A44A5B-4D30-2F4A-E566-AA58540F9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0D581F-BE5C-F9E4-D14D-39004DE5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C5016A-2130-A23F-0DEA-4CC870B87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49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6B18-CACC-808C-F053-C8F0C721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67EA1A-1000-82D3-E7BB-79367A533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CBCCAA-8E22-8D15-F169-A477F42D4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CFADEA-75E4-4A46-6C1D-CC58A5710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8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41DB8-73C4-B2B2-2E3A-957BE934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B6C2A-CDDE-BF7C-0C07-BBA2005D4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81B46-6667-77CB-2CCA-2807811D7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F49FEB-88C9-B473-3BA8-ACB18CEC9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079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99D3-D576-0CEF-2AA6-08250B5C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A60A78-8CEB-7A3C-F8DE-2AB1C2551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DA7E77-3D30-947D-C77F-4E0418EBA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CC7F80-9AE8-AF2D-3407-4AB0BD5C1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954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로마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최초의 행정 제국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5"/>
            <a:ext cx="5639469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중국이 최초의 근대적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행정국가였다면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로마는 최초의 행정 제국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행정적 교리와 조직이 군사력의 기반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보급체계가 제국 운영을 가능하게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군대는 세금 징수관들의 어깨 위와 관리들이 건설한 도로 위에서 행군하는 것임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로마법 대전 - 위키백과, 우리 모두의 백과사전">
            <a:extLst>
              <a:ext uri="{FF2B5EF4-FFF2-40B4-BE49-F238E27FC236}">
                <a16:creationId xmlns:a16="http://schemas.microsoft.com/office/drawing/2014/main" id="{954DC001-369A-720B-A80E-52085C446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2367" y="2852500"/>
            <a:ext cx="1559394" cy="208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로마 제국 - 위키백과, 우리 모두의 백과사전">
            <a:extLst>
              <a:ext uri="{FF2B5EF4-FFF2-40B4-BE49-F238E27FC236}">
                <a16:creationId xmlns:a16="http://schemas.microsoft.com/office/drawing/2014/main" id="{ABA8373F-CBEF-254A-7A1C-C840555BD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839" y="1840424"/>
            <a:ext cx="2938670" cy="187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아피아 가도 - 위키백과, 우리 모두의 백과사전">
            <a:extLst>
              <a:ext uri="{FF2B5EF4-FFF2-40B4-BE49-F238E27FC236}">
                <a16:creationId xmlns:a16="http://schemas.microsoft.com/office/drawing/2014/main" id="{F093B2BD-9E58-5C32-7807-D07B99DDC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967" y="3801209"/>
            <a:ext cx="2990414" cy="161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아피아 가도 - 나무위키">
            <a:extLst>
              <a:ext uri="{FF2B5EF4-FFF2-40B4-BE49-F238E27FC236}">
                <a16:creationId xmlns:a16="http://schemas.microsoft.com/office/drawing/2014/main" id="{AAD9DD2F-6F1A-E01E-AB3E-9E0E299AC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381" y="3813285"/>
            <a:ext cx="2136619" cy="1600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로마법 대전 - 위키백과, 우리 모두의 백과사전">
            <a:extLst>
              <a:ext uri="{FF2B5EF4-FFF2-40B4-BE49-F238E27FC236}">
                <a16:creationId xmlns:a16="http://schemas.microsoft.com/office/drawing/2014/main" id="{F82AF6D5-0401-F6CD-39AD-98638200F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993" y="1240413"/>
            <a:ext cx="184785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군사와 행정의 상호의존성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80000" y="1671814"/>
            <a:ext cx="60828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로마의 흥망성쇠는 군사력과 행정력의 결합에 달려있음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군대의 타락과 세금 기반이 붕괴된 것이 로마의 몰락 원인 중 하나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효과적인 행정이 먼저인가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아니면 효과적인 군대가 먼저인가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없는 군대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군대 없는 행정은 존재 불가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불패의 로마군단 (상) - 매일경제">
            <a:extLst>
              <a:ext uri="{FF2B5EF4-FFF2-40B4-BE49-F238E27FC236}">
                <a16:creationId xmlns:a16="http://schemas.microsoft.com/office/drawing/2014/main" id="{CA0B68F7-DEF6-036D-CD38-55B19BEDB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030" y="2166165"/>
            <a:ext cx="1799920" cy="270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31. 세리(Tax collector) - 세금을 징수하는 사람, 세리 마태, 세리장 삭개오">
            <a:extLst>
              <a:ext uri="{FF2B5EF4-FFF2-40B4-BE49-F238E27FC236}">
                <a16:creationId xmlns:a16="http://schemas.microsoft.com/office/drawing/2014/main" id="{DAB50046-FA55-99BB-D410-84A09B56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4000" y="2237316"/>
            <a:ext cx="1969350" cy="255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6844-1397-5E75-67FB-8E365D85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C2B063E-1DC4-0232-7F61-07207AA292E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CECCB4-7F84-F90B-AE2B-684083DDED6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C1F3C5-8BBA-C9AE-98F6-58B4C1A19E8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C90056-AF16-452D-5AFD-21D03873329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공무원의 기원과 정체성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2D4FF-8CFA-0020-240E-B4D1761358A7}"/>
              </a:ext>
            </a:extLst>
          </p:cNvPr>
          <p:cNvSpPr txBox="1"/>
          <p:nvPr/>
        </p:nvSpPr>
        <p:spPr>
          <a:xfrm>
            <a:off x="1080000" y="1671814"/>
            <a:ext cx="643422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초기 관료는 군사 복식과 유사한 제복 착용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자유가 아닌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종속된 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(servant)’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그들은 ‘공무원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(public servants)’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 불리는데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그들 역시 완전히 자유롭지 않은 의무를 수용했기 때문임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오늘날도 공무원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(public servant)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공적 의무를 지는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C2A276D-8BC7-5C0A-FC06-968B0B40B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0387137-DC8A-DBB0-EBF3-A9B28ECA4DC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>
            <a:extLst>
              <a:ext uri="{FF2B5EF4-FFF2-40B4-BE49-F238E27FC236}">
                <a16:creationId xmlns:a16="http://schemas.microsoft.com/office/drawing/2014/main" id="{4E788D27-1657-D0D3-B2EC-93E107A09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653" y="2379495"/>
            <a:ext cx="4202797" cy="226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7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E93F0-B67F-7A1F-26A7-ED1EDA5C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09DC5E2-B009-5CD4-12D0-DFDA97C6E25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982EC2-A421-15EB-D23B-08669A968A7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DCCDD1-605B-B887-847E-701957838D6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42B74F-5256-EC2D-EB9B-45DF4CA2B5BC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위험과 보상의 공유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6D5B2-C057-C0FB-1D8B-812E7CB1922B}"/>
              </a:ext>
            </a:extLst>
          </p:cNvPr>
          <p:cNvSpPr txBox="1"/>
          <p:nvPr/>
        </p:nvSpPr>
        <p:spPr>
          <a:xfrm>
            <a:off x="1080000" y="1671815"/>
            <a:ext cx="6877996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군인과 관리 모두 위험을 감수하고 존경과 보상을 받음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위험의 종류는 다르지만 공적 목표 달성이라는 본질은 동일함 → 둘 다 국가나 조직을 위한 목표를 달성하기 위해 경력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때로는 신체의 일부까지도 걸어야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직위의 사다리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 장교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관리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공공사업 관리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사법 관리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원로원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BAA1FEC-94D2-573E-82B6-006E77E3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E2B55C-459A-EF6E-F262-D8DED80D776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8" name="Picture 12">
            <a:extLst>
              <a:ext uri="{FF2B5EF4-FFF2-40B4-BE49-F238E27FC236}">
                <a16:creationId xmlns:a16="http://schemas.microsoft.com/office/drawing/2014/main" id="{9D2338EE-E7E5-2D48-D72C-B7D29EAD1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417" y="2259754"/>
            <a:ext cx="3747583" cy="233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88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6E8C-53DC-BDF8-AB3D-561CDB26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7E2007E-08AA-F140-3B3D-25A80E29598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E7D6DA-8618-8831-6FCF-2A8ECB9D461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31EEBF-2A47-47FB-7671-39BE3442090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81081F-DABB-52DF-5A78-F0ADF36027BF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라인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)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의 전통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D340B-D77F-58CB-8FFD-854E1F62FB8C}"/>
              </a:ext>
            </a:extLst>
          </p:cNvPr>
          <p:cNvSpPr txBox="1"/>
          <p:nvPr/>
        </p:nvSpPr>
        <p:spPr>
          <a:xfrm>
            <a:off x="1080000" y="1671816"/>
            <a:ext cx="7044825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“라인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(line)” →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전투 전열 의미에서 조직 핵심 기능 담당으로 발전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백인대장 → 현대의 소방서장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병원장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학교장과 연결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언어 속에 여전히 군사적 유산이 존재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라인 오피서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(line officer)…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로마의 백인대장에서 오늘날의 기관장으로 이어지는 직접적인 연관성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469D47-32B7-CC06-2CAF-DCE68500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8A7EEBC-2EA5-01D8-40A3-82584FCD3B1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line and staff organization">
            <a:extLst>
              <a:ext uri="{FF2B5EF4-FFF2-40B4-BE49-F238E27FC236}">
                <a16:creationId xmlns:a16="http://schemas.microsoft.com/office/drawing/2014/main" id="{542A7DA6-B8EF-BF02-F39D-6F1CFA052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271" y="2413950"/>
            <a:ext cx="3381679" cy="201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00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BC18-D20A-C41C-B6CC-7E7C1D60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00E3A3-347E-2EC6-2522-C278CE92B2A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57CA0-2AC8-F1A4-89C2-9C77885350A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56B29-6D30-8630-EB0C-24F9EB08B8D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로마의 철학적 기여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AE03D-7E1B-7EF1-198F-7E3960589976}"/>
              </a:ext>
            </a:extLst>
          </p:cNvPr>
          <p:cNvSpPr txBox="1"/>
          <p:nvPr/>
        </p:nvSpPr>
        <p:spPr>
          <a:xfrm>
            <a:off x="1080000" y="1671816"/>
            <a:ext cx="10800000" cy="246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군사 제국이 아니라 법과 정의 논의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정부와 시민권의 사회적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법적 원칙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키케로의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철학적 저술이 후대 행정사에 큰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로마 국가는 정의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도덕성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정당성에 깊은 관심을 두었음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580F6F-FDE1-4AAE-CAAF-EED9EE24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2C7652-235D-73D0-5748-9284027AA4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150FC4-FA54-6BD9-5E19-B4578CF8CE4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18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CE90-B9F8-EA8B-BEBC-FD02714E4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C07E44-85AB-B39D-7F1E-CAE71D3376D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869E70-48B2-DDA4-347B-CDB769B4620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E08F27-D288-21DA-3DFF-8FBE3D1E7F1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로마의 집정관 키케로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9A7DCC-2A87-6E25-A82C-FF05070459CE}"/>
              </a:ext>
            </a:extLst>
          </p:cNvPr>
          <p:cNvSpPr txBox="1"/>
          <p:nvPr/>
        </p:nvSpPr>
        <p:spPr>
          <a:xfrm>
            <a:off x="1080000" y="1671816"/>
            <a:ext cx="7566059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기원전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아르피눔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출생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기사 계급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기원전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포르미아에서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안토니우스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진영에게 피살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경력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변호사로 명성을 쌓아 재무관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(BC 75)–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법무관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(BC 66)–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집정관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(BC 63)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까지 진출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카틸리나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탄핵으로 공화정 수호의 상징이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망명과 귀환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재판 없는 처형 문제로 정치적 역풍을 맞고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BC 58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망명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BC 57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복귀 후 저술에 전념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D1D3EF0-7D0A-EAA7-3E02-6BB9765D9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F5A8DDB-045A-AE9D-3B7E-A8E70B7CBB9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81B8BE-41D3-BAE5-CE1B-DAE853C1DDC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pic>
        <p:nvPicPr>
          <p:cNvPr id="6146" name="Picture 2" descr="마르쿠스 툴리우스 키케로 (카피톨리니 미술관 소장)">
            <a:extLst>
              <a:ext uri="{FF2B5EF4-FFF2-40B4-BE49-F238E27FC236}">
                <a16:creationId xmlns:a16="http://schemas.microsoft.com/office/drawing/2014/main" id="{D30AD7B8-C060-9DBC-7399-7FFDFBB3F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1450" y="1643062"/>
            <a:ext cx="238125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144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8EE3-6063-F9F5-9A06-FB21C570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6DE7173-AACC-B6CC-F812-68A78A54884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EDE37C-D7E2-FD89-D33B-64EB71D2C12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914196-8371-3C02-E2CD-26D00950D9A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키케로의 저술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D24B07-F9BF-61B9-8DC6-4780B65A97D0}"/>
              </a:ext>
            </a:extLst>
          </p:cNvPr>
          <p:cNvSpPr txBox="1"/>
          <p:nvPr/>
        </p:nvSpPr>
        <p:spPr>
          <a:xfrm>
            <a:off x="1080000" y="1671816"/>
            <a:ext cx="10800000" cy="246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 Republica):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 조직과 정의의 필요성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법률론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Legibus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자연법 원칙 해설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Officiis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공직자의 도덕적 책임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의무론은 키케로가 공적 생활에서의 도덕과 의무를 체계적으로 정리한 최종적 노력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191B503-CE06-4B3A-C2C0-2A72D711B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9224FEF-A48B-2888-728A-AFF30D44410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821C0A-9BD3-96D8-ED3D-003CE1265254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2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80D4-FC44-BACA-A2EE-44B1460A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213CEC0-562A-2754-A3A9-DAED18F82B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F09634-FEF5-889D-8A11-4101C247517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BA779-D541-FA23-7665-C05AA360C9A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공적 삶의 필요성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7CB1D9-A9B8-545C-5C09-DE1AB0248848}"/>
              </a:ext>
            </a:extLst>
          </p:cNvPr>
          <p:cNvSpPr txBox="1"/>
          <p:nvPr/>
        </p:nvSpPr>
        <p:spPr>
          <a:xfrm>
            <a:off x="1080000" y="1671815"/>
            <a:ext cx="705435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국정을 감당할 자질이 있는 자는 관직 획득의 주저함을 버리고 공적 삶에 뛰어들어야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공적 삶을 선택한 사람들은 철학자 못지않게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평정한 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근심에서의 자유를 갖추어야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공적 삶을 맡을 때에는 그것이 얼마나 명예로운가 뿐만 아니라 자신이 성공할 능력이 있는지도 살펴보아야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BD75C93-A1F6-FCFE-A7AD-B63A9055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03ED95-C8BE-45A8-8131-6BDC90B45FB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1723DE0-89A6-A831-A711-ABB0E8CF62A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pic>
        <p:nvPicPr>
          <p:cNvPr id="7170" name="Picture 2" descr="De Officiis - Wikipedia">
            <a:extLst>
              <a:ext uri="{FF2B5EF4-FFF2-40B4-BE49-F238E27FC236}">
                <a16:creationId xmlns:a16="http://schemas.microsoft.com/office/drawing/2014/main" id="{CA9C0D50-2C56-AD5C-9950-AD1AE209B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038" y="1888922"/>
            <a:ext cx="2130962" cy="341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12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B394-80E8-8E35-39BA-1054E440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9720F78-DF79-12C5-43D0-F4AA3E62B01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D24859-057F-33D6-9D01-88D9948A86C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599D0-A95D-15A7-8CF5-0A357C17DCF1}"/>
              </a:ext>
            </a:extLst>
          </p:cNvPr>
          <p:cNvSpPr txBox="1"/>
          <p:nvPr/>
        </p:nvSpPr>
        <p:spPr>
          <a:xfrm>
            <a:off x="1235999" y="757300"/>
            <a:ext cx="463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시민적 성취와 군사적 성취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13D238-F8F5-9859-D540-64B1EBA84086}"/>
              </a:ext>
            </a:extLst>
          </p:cNvPr>
          <p:cNvSpPr txBox="1"/>
          <p:nvPr/>
        </p:nvSpPr>
        <p:spPr>
          <a:xfrm>
            <a:off x="1080000" y="1671815"/>
            <a:ext cx="6330450" cy="239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“시민적 삶의 성취 가운데 전쟁의 성과보다 더 크고 더 이름 높은 것들이 적지 않다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군사적 영광보다 시민적 제도의 성취가 더 지속적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솔론의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개혁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테미스토클레스의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전승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9174431-2787-FA7C-D928-1A071148A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E9FBEC0-7485-327D-8F70-0877181BA0B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4471516-D34E-2B6F-86C4-5D3B3FA7ED4C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EA0A163-2E8F-A7F4-C347-F0A2D5D50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561" y="1202670"/>
            <a:ext cx="2956439" cy="221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영화리뷰] 300: 제국의부활 후기 및 평점 : 네이버 블로그">
            <a:extLst>
              <a:ext uri="{FF2B5EF4-FFF2-40B4-BE49-F238E27FC236}">
                <a16:creationId xmlns:a16="http://schemas.microsoft.com/office/drawing/2014/main" id="{5F5D53E9-CFD5-7B4A-69C8-CE47D6128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561" y="3726744"/>
            <a:ext cx="2956438" cy="165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6779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1FEB-2522-F91E-8E0B-449B6D36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170FE2-0E25-1CC4-53FA-9C7AE1D3F73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019D0A-5CA5-CAB7-ABD5-8A63ACB3721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DC205-F12F-9635-DF14-860262825AC9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무기와 토가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3D8860-30B4-EE3A-CC94-EBD07D89DDBE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“무기는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토가에게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굴복하고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월계관은 칭송에게 굴복하라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군사적 힘은 시민적 권위와 조언 앞에 굴복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만약 내가 공화국을 위해 수행한 봉사가 없었다면 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폼페이우스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세 번째 승전을 축하할 장소를 확보하지 못했을 것이다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민간인의 용감한 행적은 군인의 그것에 뒤지지 않는다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 전자의 일은 후자의 일보다 더한 노고와 헌신이 요구되기도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내정의 제도와 조언이 전쟁보다 큰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5C8154B-23DE-8E61-AF1B-A2FEB2A14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F728287-1084-78DF-BF41-7F881C125C4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CC1609D-5FBA-7193-4B36-F503864DF661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3823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E8B49-20EF-40EF-5A7D-27F57E14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0B29C0E-F165-BDDD-42A0-96E25B800C3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88B4E9-F482-4B2A-8516-8DFE401172C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F30177-3C37-5C5C-19BE-DF139FE9D149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공익 우선 원칙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B0D15B-F3E6-2470-FE17-E948E0816CD6}"/>
              </a:ext>
            </a:extLst>
          </p:cNvPr>
          <p:cNvSpPr txBox="1"/>
          <p:nvPr/>
        </p:nvSpPr>
        <p:spPr>
          <a:xfrm>
            <a:off x="1080000" y="1671816"/>
            <a:ext cx="10707612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“공화국의 경영은 후견과 같아서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후견인에게 유익한 바가 아니라 보호받는 자들에게 유익한 바에 비추어 수행되어야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플라톤의 조언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시민 전체의 이익 우선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공화국 전체 보호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일부 편향 금지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집단 편향은 내전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혼란 초래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선거운동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지위 다툼 → 비참한 관행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8E6A249-AB88-4173-B8A2-BEF5CB2B9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F6CE6B6-E236-DDEF-3EB1-D7B72121E49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5DDCFC-77D9-304D-7413-16C15152C704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53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3BC7-030B-BC25-3848-EB2649A9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6C4D9-4C90-6B5F-C043-103832EA1A4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B7E95E-8F4B-4131-D4C3-540C0D626BE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68C83B-3418-679B-3D79-8E97F9197FE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처벌과 도덕적 원칙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18555-327A-8120-926F-F1235033128F}"/>
              </a:ext>
            </a:extLst>
          </p:cNvPr>
          <p:cNvSpPr txBox="1"/>
          <p:nvPr/>
        </p:nvSpPr>
        <p:spPr>
          <a:xfrm>
            <a:off x="1080000" y="1671816"/>
            <a:ext cx="10800000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“법은 분노 때문에 처벌하지 않고 공정함 때문에 처벌하기 때문이다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처벌은 분노 아닌 공정성에서 나와야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과도함과 과소함 사이의 중도를 지켜야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같은 죄를 저지른 사람들 가운데 어떤 이는 매를 맞고 어떤 이는 소환조차 받지 않는 일이 없도록 조심해야 → 법 앞의 평등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88D9BD9-C44A-DAB1-20CE-CC34F73A1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E28353-75FE-208A-0D22-94375F29406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4D5FF3-E27A-0694-EA9B-A73FB8365E48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5571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17C2-223E-F59B-F9CD-BA999F4B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CA7ADE-0B63-E1B4-AF9E-495B20DAAE9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4BA63C-A58A-2BB3-5554-B5241F7F96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B11EFC-148D-EDB9-38CD-D6E743124EC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0EE64-D488-443F-F923-9BE52EAB4625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“우리의 판단은 가장 위대하고 가장 큰 기상을 보여 주는 성취가 공화국을 다스리는 사람들의 성취라는 데 있어야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단순한 기술이나 보조장치가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존속과 문명 유지의 핵심 기반 → 군사력이나 자원만으로는 제국을 지탱할 수 없으며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조직력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능력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법적 정당성이 동반될 때 지속가능한 통치가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공직자는 위험을 감수하고 공익을 수호하며 도덕적 모범을 보이는 존재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윤리라는 공직자의 덕목은 민주사회와 공공 거버넌스를 지탱하는 기초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6DBF4D-0AB0-2888-A8CB-7982D0BA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A68B4C0-C32E-DFFE-0267-173B95DA65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DC2CE6-2900-36FA-EB57-E9B44EEE1A01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8594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734</Words>
  <Application>Microsoft Office PowerPoint</Application>
  <PresentationFormat>와이드스크린</PresentationFormat>
  <Paragraphs>92</Paragraphs>
  <Slides>16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88</cp:revision>
  <dcterms:created xsi:type="dcterms:W3CDTF">2025-03-10T02:54:00Z</dcterms:created>
  <dcterms:modified xsi:type="dcterms:W3CDTF">2025-09-06T02:19:16Z</dcterms:modified>
</cp:coreProperties>
</file>