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334" r:id="rId4"/>
    <p:sldId id="324" r:id="rId5"/>
    <p:sldId id="335" r:id="rId6"/>
    <p:sldId id="323" r:id="rId7"/>
    <p:sldId id="336" r:id="rId8"/>
    <p:sldId id="337" r:id="rId9"/>
    <p:sldId id="338" r:id="rId10"/>
    <p:sldId id="339" r:id="rId11"/>
    <p:sldId id="314" r:id="rId12"/>
    <p:sldId id="340" r:id="rId13"/>
    <p:sldId id="25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KD\Desktop\2025&#54617;&#45380;&#46020;%202&#54617;&#44592;\&#53581;&#49828;&#53944;&#47196;%20&#48372;&#45716;%20&#54665;&#51221;&#49324;\&#53685;&#54633;%20&#49457;&#51201;&#54364;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성적분포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sheet1!$G$3</c:f>
              <c:strCache>
                <c:ptCount val="1"/>
                <c:pt idx="0">
                  <c:v>우수과제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sheet1!$F$4:$F$63</c:f>
              <c:numCache>
                <c:formatCode>@</c:formatCode>
                <c:ptCount val="60"/>
                <c:pt idx="0">
                  <c:v>100</c:v>
                </c:pt>
                <c:pt idx="1">
                  <c:v>97</c:v>
                </c:pt>
                <c:pt idx="2">
                  <c:v>100</c:v>
                </c:pt>
                <c:pt idx="3">
                  <c:v>100</c:v>
                </c:pt>
                <c:pt idx="4">
                  <c:v>97</c:v>
                </c:pt>
                <c:pt idx="5">
                  <c:v>98</c:v>
                </c:pt>
                <c:pt idx="6">
                  <c:v>96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98</c:v>
                </c:pt>
                <c:pt idx="11">
                  <c:v>97</c:v>
                </c:pt>
                <c:pt idx="12">
                  <c:v>94</c:v>
                </c:pt>
                <c:pt idx="13">
                  <c:v>94</c:v>
                </c:pt>
                <c:pt idx="14">
                  <c:v>95</c:v>
                </c:pt>
                <c:pt idx="15">
                  <c:v>97</c:v>
                </c:pt>
                <c:pt idx="16">
                  <c:v>94</c:v>
                </c:pt>
                <c:pt idx="17">
                  <c:v>100</c:v>
                </c:pt>
                <c:pt idx="18">
                  <c:v>99</c:v>
                </c:pt>
                <c:pt idx="19">
                  <c:v>97</c:v>
                </c:pt>
                <c:pt idx="20">
                  <c:v>95</c:v>
                </c:pt>
                <c:pt idx="21">
                  <c:v>99</c:v>
                </c:pt>
                <c:pt idx="22">
                  <c:v>92</c:v>
                </c:pt>
                <c:pt idx="23">
                  <c:v>92</c:v>
                </c:pt>
                <c:pt idx="24">
                  <c:v>91</c:v>
                </c:pt>
                <c:pt idx="25">
                  <c:v>93</c:v>
                </c:pt>
                <c:pt idx="26">
                  <c:v>90</c:v>
                </c:pt>
                <c:pt idx="27">
                  <c:v>94</c:v>
                </c:pt>
                <c:pt idx="28">
                  <c:v>98</c:v>
                </c:pt>
                <c:pt idx="29">
                  <c:v>92</c:v>
                </c:pt>
                <c:pt idx="30">
                  <c:v>96</c:v>
                </c:pt>
                <c:pt idx="31">
                  <c:v>95</c:v>
                </c:pt>
                <c:pt idx="32">
                  <c:v>95</c:v>
                </c:pt>
                <c:pt idx="33">
                  <c:v>96</c:v>
                </c:pt>
                <c:pt idx="34">
                  <c:v>96</c:v>
                </c:pt>
                <c:pt idx="35">
                  <c:v>99</c:v>
                </c:pt>
                <c:pt idx="36">
                  <c:v>98</c:v>
                </c:pt>
                <c:pt idx="37">
                  <c:v>96</c:v>
                </c:pt>
                <c:pt idx="38">
                  <c:v>98</c:v>
                </c:pt>
                <c:pt idx="39">
                  <c:v>96</c:v>
                </c:pt>
                <c:pt idx="40">
                  <c:v>98</c:v>
                </c:pt>
                <c:pt idx="41">
                  <c:v>97</c:v>
                </c:pt>
                <c:pt idx="42">
                  <c:v>96</c:v>
                </c:pt>
                <c:pt idx="43">
                  <c:v>99</c:v>
                </c:pt>
                <c:pt idx="44">
                  <c:v>98</c:v>
                </c:pt>
                <c:pt idx="45">
                  <c:v>96</c:v>
                </c:pt>
                <c:pt idx="46">
                  <c:v>99</c:v>
                </c:pt>
                <c:pt idx="47">
                  <c:v>99</c:v>
                </c:pt>
                <c:pt idx="48">
                  <c:v>100</c:v>
                </c:pt>
                <c:pt idx="49">
                  <c:v>98</c:v>
                </c:pt>
                <c:pt idx="50">
                  <c:v>97</c:v>
                </c:pt>
                <c:pt idx="51">
                  <c:v>98</c:v>
                </c:pt>
                <c:pt idx="52">
                  <c:v>93</c:v>
                </c:pt>
                <c:pt idx="53">
                  <c:v>94</c:v>
                </c:pt>
                <c:pt idx="54">
                  <c:v>94</c:v>
                </c:pt>
                <c:pt idx="55">
                  <c:v>99</c:v>
                </c:pt>
                <c:pt idx="56">
                  <c:v>99</c:v>
                </c:pt>
                <c:pt idx="57">
                  <c:v>97</c:v>
                </c:pt>
                <c:pt idx="58">
                  <c:v>96</c:v>
                </c:pt>
                <c:pt idx="59">
                  <c:v>96</c:v>
                </c:pt>
              </c:numCache>
            </c:numRef>
          </c:xVal>
          <c:yVal>
            <c:numRef>
              <c:f>sheet1!$G$4:$G$63</c:f>
              <c:numCache>
                <c:formatCode>@</c:formatCode>
                <c:ptCount val="60"/>
                <c:pt idx="0">
                  <c:v>99</c:v>
                </c:pt>
                <c:pt idx="1">
                  <c:v>93</c:v>
                </c:pt>
                <c:pt idx="2">
                  <c:v>88</c:v>
                </c:pt>
                <c:pt idx="3">
                  <c:v>100</c:v>
                </c:pt>
                <c:pt idx="4">
                  <c:v>91</c:v>
                </c:pt>
                <c:pt idx="5">
                  <c:v>95</c:v>
                </c:pt>
                <c:pt idx="6">
                  <c:v>89</c:v>
                </c:pt>
                <c:pt idx="7">
                  <c:v>93</c:v>
                </c:pt>
                <c:pt idx="8">
                  <c:v>96</c:v>
                </c:pt>
                <c:pt idx="9">
                  <c:v>94</c:v>
                </c:pt>
                <c:pt idx="10">
                  <c:v>95</c:v>
                </c:pt>
                <c:pt idx="11">
                  <c:v>94</c:v>
                </c:pt>
                <c:pt idx="12">
                  <c:v>87</c:v>
                </c:pt>
                <c:pt idx="13">
                  <c:v>95</c:v>
                </c:pt>
                <c:pt idx="14">
                  <c:v>94</c:v>
                </c:pt>
                <c:pt idx="15">
                  <c:v>99</c:v>
                </c:pt>
                <c:pt idx="16">
                  <c:v>100</c:v>
                </c:pt>
                <c:pt idx="17">
                  <c:v>98</c:v>
                </c:pt>
                <c:pt idx="18">
                  <c:v>99</c:v>
                </c:pt>
                <c:pt idx="19">
                  <c:v>93</c:v>
                </c:pt>
                <c:pt idx="20">
                  <c:v>91</c:v>
                </c:pt>
                <c:pt idx="21">
                  <c:v>93</c:v>
                </c:pt>
                <c:pt idx="22">
                  <c:v>85</c:v>
                </c:pt>
                <c:pt idx="23">
                  <c:v>78</c:v>
                </c:pt>
                <c:pt idx="24">
                  <c:v>87</c:v>
                </c:pt>
                <c:pt idx="25">
                  <c:v>79</c:v>
                </c:pt>
                <c:pt idx="26">
                  <c:v>86</c:v>
                </c:pt>
                <c:pt idx="27">
                  <c:v>97</c:v>
                </c:pt>
                <c:pt idx="28">
                  <c:v>96</c:v>
                </c:pt>
                <c:pt idx="29">
                  <c:v>72</c:v>
                </c:pt>
                <c:pt idx="30">
                  <c:v>70</c:v>
                </c:pt>
                <c:pt idx="31">
                  <c:v>74</c:v>
                </c:pt>
                <c:pt idx="32">
                  <c:v>82</c:v>
                </c:pt>
                <c:pt idx="33">
                  <c:v>96</c:v>
                </c:pt>
                <c:pt idx="34">
                  <c:v>93</c:v>
                </c:pt>
                <c:pt idx="35">
                  <c:v>92</c:v>
                </c:pt>
                <c:pt idx="36">
                  <c:v>92</c:v>
                </c:pt>
                <c:pt idx="37">
                  <c:v>90</c:v>
                </c:pt>
                <c:pt idx="38">
                  <c:v>72</c:v>
                </c:pt>
                <c:pt idx="39">
                  <c:v>78</c:v>
                </c:pt>
                <c:pt idx="40">
                  <c:v>78</c:v>
                </c:pt>
                <c:pt idx="41">
                  <c:v>79</c:v>
                </c:pt>
                <c:pt idx="42">
                  <c:v>82</c:v>
                </c:pt>
                <c:pt idx="43">
                  <c:v>78</c:v>
                </c:pt>
                <c:pt idx="44">
                  <c:v>81</c:v>
                </c:pt>
                <c:pt idx="45">
                  <c:v>96</c:v>
                </c:pt>
                <c:pt idx="46">
                  <c:v>95</c:v>
                </c:pt>
                <c:pt idx="47">
                  <c:v>90</c:v>
                </c:pt>
                <c:pt idx="48">
                  <c:v>89</c:v>
                </c:pt>
                <c:pt idx="49">
                  <c:v>70</c:v>
                </c:pt>
                <c:pt idx="50">
                  <c:v>77</c:v>
                </c:pt>
                <c:pt idx="51">
                  <c:v>89</c:v>
                </c:pt>
                <c:pt idx="52">
                  <c:v>97</c:v>
                </c:pt>
                <c:pt idx="53">
                  <c:v>65</c:v>
                </c:pt>
                <c:pt idx="54">
                  <c:v>75</c:v>
                </c:pt>
                <c:pt idx="55">
                  <c:v>75</c:v>
                </c:pt>
                <c:pt idx="56">
                  <c:v>92</c:v>
                </c:pt>
                <c:pt idx="57">
                  <c:v>79</c:v>
                </c:pt>
                <c:pt idx="58">
                  <c:v>79</c:v>
                </c:pt>
                <c:pt idx="59">
                  <c:v>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915-49B6-ABD2-E824B6A94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7884959"/>
        <c:axId val="1227883999"/>
      </c:scatterChart>
      <c:valAx>
        <c:axId val="1227884959"/>
        <c:scaling>
          <c:orientation val="minMax"/>
          <c:max val="100"/>
          <c:min val="9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과제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27883999"/>
        <c:crosses val="autoZero"/>
        <c:crossBetween val="midCat"/>
      </c:valAx>
      <c:valAx>
        <c:axId val="1227883999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중간고사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278849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중간고사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164405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수업에서 다룬 텍스트 중 두 편 이상을 선택하여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텍스트가 제시하는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 이상적인 공무원상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행정윤리의 핵심 원리를 비교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현대 행정의 실제 사례에 적용하여 비판적으로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논의하시오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A4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쪽 내외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나머지 작성방식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지난번 과제와 동일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제출 기한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23:59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0456-853F-51F4-B05C-A9C9BAE5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A29BFF4-57AF-FE3B-6720-0CEFC205E32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713F22-31A2-422B-DD8D-171183F12FE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F7009-E696-739A-452F-C7EC6EE02DF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CFCE85-D9DB-827F-3C42-A38B4C4FA0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작성 방식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5990B-3AE3-E5C7-9828-1D117C6C8313}"/>
              </a:ext>
            </a:extLst>
          </p:cNvPr>
          <p:cNvSpPr txBox="1"/>
          <p:nvPr/>
        </p:nvSpPr>
        <p:spPr>
          <a:xfrm>
            <a:off x="1079999" y="1671814"/>
            <a:ext cx="1016440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본문 인용은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APA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스타일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*을 활용하여 작성할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수업자료에 대한 인용은 표시 불필요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1: Cicero(44 B.C.)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Wilson(1887)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따르면 → 키케로와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윌슨에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따르면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(Bentham, 1789)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공리주의는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...   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만약 논문이나 신문기사 등을 인용하여 참고문헌 목록을 작성하고 싶은 경우에는 별도의 페이지로 작성할 것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779CF4-B334-04AC-DBB9-9BA7155D0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AC65E5-44EE-4E2E-38C7-1F1C46F443C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26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채점기준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429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문제의식 및 논리 구성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문제의식의 명확성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(5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문제의식의 적절성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(5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글 전체의 논리적 일관성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 이해 및 비교 분석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선택한 텍스트의 공무원상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(7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윤리원리에 대한 이해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(7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공통점과 차이점의 비교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(16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 적용 및 비판적 논의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 선정의 적절성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이론의 </a:t>
            </a:r>
            <a:r>
              <a:rPr lang="ko-KR" altLang="en-US" sz="22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적용력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비판적 해석의 깊이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 텍스트 인용 및 표현의 완성도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 텍스트의 적절한 인용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문체의 명료성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참고문헌의 정확성 등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E1DC-7418-B0C7-A402-C3360A00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232DDB-3987-5EBD-D343-AC0EB514638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DE0E99-ED4B-0772-AE6E-F4F56F80D19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BAB6F-41D0-B487-DA7C-C3945FA1147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1E924-239D-2714-B057-B83C7763793C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채점기준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CD9125-2A20-98C4-6300-D13935CF4DF0}"/>
              </a:ext>
            </a:extLst>
          </p:cNvPr>
          <p:cNvSpPr txBox="1"/>
          <p:nvPr/>
        </p:nvSpPr>
        <p:spPr>
          <a:xfrm>
            <a:off x="1079999" y="1671814"/>
            <a:ext cx="10390741" cy="213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 텍스트 인용은 단순 나열이 아니라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논증 과정에서 이론적 근거로 활용될 때 높은 점수를 부여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 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비판의 내용이 창의적이거나 현대 행정 현실에 시사점이 크다고 판단되는 경우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가산점 부여 가능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최대 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2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)"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F9F5374-8AED-B06C-3887-B9EB6111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D18610E-92EC-E244-ABFA-4C10CEE6E1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36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채점평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이상적인 공무원상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행정윤리의 원리를 비교 분석한 다음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사례에 적용할 때는 일반론이나 가치를 활용하여 추상적으로 서술한 경우 좋은 점수를 받기 어렵습니다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대표적인 사례는 공무원상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윤리원리에 대해 잘 서술한 다음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사례의 해석은 일반론이나 추상적인 가치 수준에서 논의함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애덤스의 참여는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윌슨의 정치행정이원론은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A923-5A25-1106-D4DC-55B482CF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585FC1-374E-2964-9223-589816A8A57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F25BD2-7F79-3C8F-D594-F48A369BFB8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CDF41E-8B3D-9ADD-F9F9-4D6C8C94AF4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A9C7E-A780-09DD-7E73-E785AD3350E1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채점평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F9806B-1C2B-DB15-33B3-34AF0E078D66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문제에도 명백히 언급했듯이 수업시간에 다룬 둘 이상의 텍스트의 활용하지 않은 경우에는 좋은 평가를 받기 어렵습니다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학자를 많이 인용했다고 좋은 평가를 받는 것도 아닙니다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왜냐하면 공통점과 차이점을 논의하는 것에 있어서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 이상의 공통점과 차이점은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명을 비교할 때에 비해 상세하게 논의하기 어렵기 때문입니다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수업시간에 다룬 텍스트를 잘 정리하는데 그치고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행정윤리의 원리의 공통점과 차이점을 나열식으로 제시한 경우에도 좋은 평가를 받기 어렵습니다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66CAB48-5928-82EE-AA99-048154637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283E834-2193-6FB6-0FAE-318578BC8B3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89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F2E1-DD9C-E709-BAE5-BEC0A51B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F02232-5885-31C6-71BF-22A481D0707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002104-8813-1803-2F8D-4242A945A4C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8EF4E5-E9C8-4896-0E68-2E31C08C1DA9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1DAA79-C878-EA62-BC00-BC9F1D236308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채점평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0B4AAE-7446-7BE9-306C-54E772D2B278}"/>
              </a:ext>
            </a:extLst>
          </p:cNvPr>
          <p:cNvSpPr txBox="1"/>
          <p:nvPr/>
        </p:nvSpPr>
        <p:spPr>
          <a:xfrm>
            <a:off x="1079999" y="1671814"/>
            <a:ext cx="10390741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 분석의 깊이 없이 많은 사례만 서술한 경우는 좋은 점수를 받기 어렵습니다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왜냐하면 비판적 관점이 누락되기 때문입니다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사례는 갑의 입장으로 설명할 수 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B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사례는 을의 입장으로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설명가능하다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공통점과 차이점에 대해 논의를 제대로 진행한 경우라면 동일한 사례에 대해 공통점과 차이점에 기반한 서술을 할 수 있습니다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4BA63BA-DFFF-A1E7-EF2E-BB3250F43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6CC0869-4839-8AE4-9536-3259917281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8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FB8C-4BDD-8F35-88AA-0B7EE187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2EF4C9-897A-27BF-D578-A78F1CBD23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F1D375-FF08-1A6D-A148-709FAEB1BB9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19339-D8BC-6757-2271-26F9025E064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E19EB7-F4A2-8570-11CB-AB2B68ED70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채점평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A75EB-64DE-6BEC-7639-161939C4348A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분량이 짧은 것 자체는 감점이 아니지만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지나치게 짧으면 이론이해 정도나 이론의 적용 미흡해지고 혹은 비판적 관점이 결여될 수밖에 없습니다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제목을 달지 않은 경우에도 감점은 아니지만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앞으로는 가급적 제목을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달아주길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바랍니다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목차를 구분하지 않고 통으로 쓴 경우에도 감점은 아니지만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우수답안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(99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뽑힌 사례는 대체로 목차를 구분하여 쓴 것입니다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D26F59B-E3AE-C42D-4AF7-0E35AAE79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4EEB5D-CA70-89D5-1B05-98B3F34786F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11E5-965C-F06F-25C3-B1F12067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2851C27-B0B0-7C1B-E85E-31642DB8B9E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02B3D3-7E44-534B-CA3C-5F9495BFCD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34ABE-B35A-D01C-4E98-32D5E892664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F5B85-E31D-FBEA-2183-A13BF71B9D1A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채점평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ACD43-FF7D-D4C2-79A1-E946B792322F}"/>
              </a:ext>
            </a:extLst>
          </p:cNvPr>
          <p:cNvSpPr txBox="1"/>
          <p:nvPr/>
        </p:nvSpPr>
        <p:spPr>
          <a:xfrm>
            <a:off x="1079999" y="1671814"/>
            <a:ext cx="10390741" cy="176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수업텍스트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읽기자료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피상적 인용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참고문헌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본문 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APA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스타일 인용이 없는 경우에는 감점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(-2)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처리하였습니다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서론을 아예 작성하지 않은 경우에도 감점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(-2)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처리하였습니다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F24776-5A6B-0FE7-FE03-9064F264F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536515-61AD-678F-8668-2CBF5B732FB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255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논의사항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우수답안의 공개 동의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우수답안과 본인의 답안 비교 후 수요일 원 수업시간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분에 채점결과에 대한 대면 피드백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이의제기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시행 예정 → 메일로 신청하면 시간 정해서 회신함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실시 여부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 반영비율 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:15%, 25%, 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20%, 20%, 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10%, 30%)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객관식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단답형 혼합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2684-81C9-212A-7665-C0EB0663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182D02-53FB-D797-683D-B58C50A7BF5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8BC5CE-0C15-EC04-7571-4673DA8E3E8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44405-AADB-1743-7F5E-C65688D6F426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24C9A8-C832-38E6-01E3-53CF72E350B1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채점결과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A534073-F41A-A6F7-8018-1C52E19FA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FA6C06E-2F6D-C8D6-1961-3C5387466A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E6225157-5062-3535-6F79-D10128079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8006912"/>
              </p:ext>
            </p:extLst>
          </p:nvPr>
        </p:nvGraphicFramePr>
        <p:xfrm>
          <a:off x="3212306" y="1576387"/>
          <a:ext cx="5767388" cy="4300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CFA7D8-9078-0BDC-8D8B-1E1BFD185E1E}"/>
              </a:ext>
            </a:extLst>
          </p:cNvPr>
          <p:cNvCxnSpPr>
            <a:cxnSpLocks/>
          </p:cNvCxnSpPr>
          <p:nvPr/>
        </p:nvCxnSpPr>
        <p:spPr>
          <a:xfrm>
            <a:off x="5015620" y="2037030"/>
            <a:ext cx="4155540" cy="11371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3A95B1-C3C9-7A6C-1A72-C59846A3531F}"/>
              </a:ext>
            </a:extLst>
          </p:cNvPr>
          <p:cNvSpPr txBox="1"/>
          <p:nvPr/>
        </p:nvSpPr>
        <p:spPr>
          <a:xfrm>
            <a:off x="9171160" y="3129025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안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972786-3C5E-63EC-42AB-302A2E1BABD0}"/>
              </a:ext>
            </a:extLst>
          </p:cNvPr>
          <p:cNvCxnSpPr>
            <a:cxnSpLocks/>
          </p:cNvCxnSpPr>
          <p:nvPr/>
        </p:nvCxnSpPr>
        <p:spPr>
          <a:xfrm>
            <a:off x="3349782" y="2152146"/>
            <a:ext cx="5821378" cy="79578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DFC08CA-8BEE-3468-6E26-5C84E8F13481}"/>
              </a:ext>
            </a:extLst>
          </p:cNvPr>
          <p:cNvSpPr txBox="1"/>
          <p:nvPr/>
        </p:nvSpPr>
        <p:spPr>
          <a:xfrm>
            <a:off x="9171160" y="2775147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안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14653CE-CFC1-5859-F3E4-39B886A28554}"/>
              </a:ext>
            </a:extLst>
          </p:cNvPr>
          <p:cNvCxnSpPr>
            <a:cxnSpLocks/>
          </p:cNvCxnSpPr>
          <p:nvPr/>
        </p:nvCxnSpPr>
        <p:spPr>
          <a:xfrm>
            <a:off x="3212306" y="2614530"/>
            <a:ext cx="5893806" cy="9258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83C621B-46C6-225C-D282-B8CD8F7614AC}"/>
              </a:ext>
            </a:extLst>
          </p:cNvPr>
          <p:cNvSpPr txBox="1"/>
          <p:nvPr/>
        </p:nvSpPr>
        <p:spPr>
          <a:xfrm>
            <a:off x="9171160" y="246890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안</a:t>
            </a:r>
          </a:p>
        </p:txBody>
      </p:sp>
    </p:spTree>
    <p:extLst>
      <p:ext uri="{BB962C8B-B14F-4D97-AF65-F5344CB8AC3E}">
        <p14:creationId xmlns:p14="http://schemas.microsoft.com/office/powerpoint/2010/main" val="2136180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4305</TotalTime>
  <Words>686</Words>
  <Application>Microsoft Office PowerPoint</Application>
  <PresentationFormat>와이드스크린</PresentationFormat>
  <Paragraphs>70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658</cp:revision>
  <dcterms:created xsi:type="dcterms:W3CDTF">2025-03-10T02:54:00Z</dcterms:created>
  <dcterms:modified xsi:type="dcterms:W3CDTF">2025-11-03T00:43:07Z</dcterms:modified>
</cp:coreProperties>
</file>