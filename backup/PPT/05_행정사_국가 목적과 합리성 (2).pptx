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1" r:id="rId4"/>
    <p:sldId id="282" r:id="rId5"/>
    <p:sldId id="265" r:id="rId6"/>
    <p:sldId id="277" r:id="rId7"/>
    <p:sldId id="278" r:id="rId8"/>
    <p:sldId id="283" r:id="rId9"/>
    <p:sldId id="279" r:id="rId10"/>
    <p:sldId id="280" r:id="rId11"/>
    <p:sldId id="284" r:id="rId12"/>
    <p:sldId id="287" r:id="rId13"/>
    <p:sldId id="288" r:id="rId14"/>
    <p:sldId id="275" r:id="rId15"/>
    <p:sldId id="285" r:id="rId16"/>
    <p:sldId id="286" r:id="rId17"/>
    <p:sldId id="25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99D3-D576-0CEF-2AA6-08250B5C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A60A78-8CEB-7A3C-F8DE-2AB1C2551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DA7E77-3D30-947D-C77F-4E0418EBA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CC7F80-9AE8-AF2D-3407-4AB0BD5C1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954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B3BA5-6DE4-A3B7-9BB7-1EDCB4589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8284C1-56C2-7740-F7DD-AF4BCE001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74C302-3805-6633-947E-AC69E58EE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EC6E5E-20C9-EEC5-3F26-37712762C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088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8BDA0-F056-658A-060E-0BAAC782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60D662-2E5E-CA56-C6BE-399C8AAD1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C1F58B-635B-1357-91E5-6E85D6182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476E6E-F0E0-4B6A-219D-9FBAE812C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171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538B085-AC77-42B4-3FD5-036694B9FEE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07BEF2-8BDF-9873-23B6-5F4C4A28C8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29FA3-9C64-9080-9086-F5F8B65AACB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19101-F57C-4715-0C74-06E95FADF83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카를 폰 클라우제비츠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35132-B332-878F-08EB-8ED2D8C7BA03}"/>
              </a:ext>
            </a:extLst>
          </p:cNvPr>
          <p:cNvSpPr txBox="1"/>
          <p:nvPr/>
        </p:nvSpPr>
        <p:spPr>
          <a:xfrm>
            <a:off x="1080000" y="1671816"/>
            <a:ext cx="715893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프로이센 군인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군사학자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철학자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(1780–1831)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프로이센의 중류층 가정 출신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집안은 대대로 목사 가문으로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고조부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증조부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할아버지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삼촌들 중 다수가 목사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할아버지는 신학 교수였으며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그의 학문적 전통이 훗날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《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》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집필 시 철학적 사유와 서술 방식에 영향을 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 후 귀족이 아니라는 이유로 전역한 아버지의 경험 속에서 신분상승과 군 복무에 대한 열망을 품고 입대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9B1B26A-21F6-E711-96E7-89F232164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A05E07-8A4F-4BCB-88B6-0107966232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D1306596-9528-DE47-000F-4BEE276DD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0793" y="1817285"/>
            <a:ext cx="238125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46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9C1D1-D5CE-7702-5FBF-A9EEA50F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7BAD09F-F372-B050-8009-DC2E31E7424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5B142D-414C-6D29-C61A-D18463A9429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C9E923-C05A-1A42-D43A-3F6AE67597C6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4BACC4-CFD2-D931-8990-82482E90FBFF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카를 폰 클라우제비츠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675753-CF03-F554-3746-50CF9511960E}"/>
              </a:ext>
            </a:extLst>
          </p:cNvPr>
          <p:cNvSpPr txBox="1"/>
          <p:nvPr/>
        </p:nvSpPr>
        <p:spPr>
          <a:xfrm>
            <a:off x="1080000" y="1671816"/>
            <a:ext cx="1020967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 참전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15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 사관학교 입학 →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샤른호르스트에게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군사학 배움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왕자 교육 담당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나폴레옹 전쟁 종군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예나 전투 포로 → 귀국 후 군 개혁 참여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1812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프로이센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프랑스 동맹 반발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탈영해 러시아군 합류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나폴레옹 군대와 대적하여 이긴 세력이 없으니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나폴레옹의 군대보단 나폴레옹의 군대를 유지하는 것을 상대해야 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."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→ 게릴라전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지연전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1815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귀국 후 사관학교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육군대학 교장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《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》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그나이제나우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참모장 역임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콜레라로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세에 사망 → 부인이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《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》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출간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08DD2B1-7D6B-DD0B-BD52-FFB1000FD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042BE3-21E0-C50F-4F24-B227F88A5E9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405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89B09-A9AB-F834-75FB-D7EC04019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5E72E3D-33F7-AE53-27A6-2F867F90166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7C2259-1B6E-7802-357F-96883302F8C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71CD2-B374-CE45-EAD6-A59C264E64C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808A6C-C929-CF21-8D0F-D612B5D5B51E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클라우제비츠의 </a:t>
            </a:r>
            <a:r>
              <a:rPr lang="ko-KR" altLang="en-US" sz="2800" dirty="0" err="1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전쟁론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A5AA5E-FB4A-3975-6AF8-2EA4D6D3C40E}"/>
              </a:ext>
            </a:extLst>
          </p:cNvPr>
          <p:cNvSpPr txBox="1"/>
          <p:nvPr/>
        </p:nvSpPr>
        <p:spPr>
          <a:xfrm>
            <a:off x="1080000" y="1671816"/>
            <a:ext cx="1020967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《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》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아시아의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《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손자병법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》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함께 대표적인 군사 전략서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b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전쟁은 정치의 </a:t>
            </a:r>
            <a:r>
              <a:rPr lang="ko-KR" altLang="en-US" sz="2400" b="1" u="sng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연장선”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이라는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명제로 유명함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책은 난해하게 철학적으로 서술로 있어 제대로 읽은 사람은 드물고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오독 사례도 많음 → 고전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(classic)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특징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클라우제비츠 자신은 전쟁을 부정적으로 보았음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전쟁은 영웅을 낳지 않고 고통과 피만 남긴다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A506F44-2754-ECD1-C6DA-F1A049525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7A7F7A8-57B8-56ED-5C10-485E0816AE8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911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전쟁에서의 정보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“정보라는 말로 우리는 적과 그의 국가에 대해 우리가 가진 모든 지식을 가리킨다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그러므로 사실상 그것은 우리의 모든 사고와 행위의 토대이다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정보는 전쟁에서 모든 사고와 행위의 출발점 → 신뢰성이 낮고 변화무쌍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전쟁은 불안정한 정보 위에 세워진 위험한 건물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정책결정 역시 불완전한 정보 위에 세워지므로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정보의 불확실성을 전제로 한 합리성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(=H. Simon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제한적 합리성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필요함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3E9CC-F05F-6109-B4B7-FC6B6A63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D9B3C1-F97B-8495-3B86-8C3E67D3EB6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4BEF5E-622D-D523-7712-F7F12173CF4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46DF4B-40FA-BE1D-8043-F1E6D18A2C26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DD48E0-44C6-FA09-27C9-6D78CA189EFA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정보의 불확실성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DBC41C-40E6-172B-6A0E-24FE8856A15F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“전쟁에서 얻어지는 정보의 상당 부분은 상호 모순되며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그보다 더 많은 부분은 거짓이고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의심스러운 성격의 것이 압도적으로 많다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보고의 대부분은 모순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거짓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의심스러운 성격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장교에게 요구되는 자질은 분별력과 건전한 판단력  → 확률의 법칙을 길잡이 삼아야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의사결정자는 불확실한 데이터 속에서 확률적 사고와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분별력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통해 판단을 내려야 함 → 자동화된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증거 기반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488ACB8-27B2-7818-C5C9-749879CF2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D9ACB3E-3592-12B9-8103-2695D2345D5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59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3A50B-F543-67BD-47CB-8B5D2D04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6997FAD-EB31-1ED1-5588-FBE4FF9E93E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F7FE1D-0CF7-D474-D28B-624CBCCED00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68E4D-DBB0-6D86-D6BA-AF8CE630A1E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50B09-4B7D-F20B-C81A-07C5A677101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보고와 오판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35FFE4-E6D9-E741-CAC7-6CC6D53E0675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“하나의 보고가 다른 보고를 뒷받침하고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그것을 확인하며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과장하고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우리는 긴급한 필요에 쫓겨 결정을 내리게 되고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그것이 곧 어리석음으로 드러나는 경우가 많다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잘못된 보고가 서로 확인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과장되며 현실을 왜곡 → 집단사고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긴급 상황에서 성급한 오판 발생 가능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대부분의 보고는 거짓의 문제를 안고 있음 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인간의 소심함은 거짓을 배가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위기관리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재난행정에서 잘못된 정보의 연쇄확산을 경계하고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성급한 정책결정을 자제해야 함 → 코로나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B4B05F4-BC93-0398-0AC7-208B75553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0838E2B-200F-816D-9804-C0EB8A8BB04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51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BA06-5DC1-CD0A-0BC2-B7870DB4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4B2D85A-CBEA-846C-E696-FFDF1369026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0B90D7-954C-1D1F-8CCF-744417643713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4FB3FF-EFC8-BC2E-7984-731C2DB294DB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383AF-04BD-9B67-3BAA-DC5A165480C0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지휘관의 역할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06EE78-C73A-03B8-1B52-3E7224AFB6C7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“최고 지휘관은 자신의 더 나은 확신에 굳게 의지하여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파도의 격노가 헛되이 부서지는 바위처럼 서 있어야 한다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지휘관은 불확실성과 공포 속에서도 흔들리지 않아야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본래 확신을 유지하기 위해 두려움보다 희망 쪽으로 기울이는 훈련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균형 유지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두려움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희망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성숙한 판단력과 경험에서 비롯됨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지도자는 불확실한 상황 속에서도 일관된 원칙과 자기 확신으로 행정을 이끌어야 함 → 카리스마적 리더십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37BF0D7-A28D-5AF5-458B-5D2FEA059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30B152E-4C31-AB2E-D656-FDBE02B76A6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593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EE6F-FF76-5EE9-5F8C-3B0A40AB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595C70A-A4AB-80F7-30D2-B8D87E17698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C92348-4C2C-ABDD-825A-12EFF83FC2D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811D46-1A4C-A68B-A294-25D9AC8A48B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3434FC-A069-F53B-6981-321D3814D199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구상과 실행의 간극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379149-6068-BC17-18D2-C73BC631B706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“순간의 압력에 굴하지 않도록 하는 것은 자기 자신에 대한 굳은 신뢰이다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이것이 바로 구상과 실행을 가르는 큰 심연 가운데 하나이다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감각의 인상은 이성적 사유보다 강하게 작용 → 현장에서는 계획한 사람조차 스스로를 의심하게 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자기 신뢰와 경험적 학습이 구상과 실행 사이의 간극을 극복하는 열쇠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자기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신뢰란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정책 설계 단계에서 합리적 목표와 근거를 믿고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 단계에서 근거 없는 압력에 흔들리지 않으며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필요할 때만 합리적으로 수정하는 균형 감각임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B408DF3-858D-77A4-6180-A746CD4CD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94566A3-4391-8F4C-2972-73F8139318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925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61F42-9477-41B5-8EA1-212835EB0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96588C8-4973-508D-FCFA-68FBFD1ABD3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E819AC-500B-F9C0-6F52-CDE22D26ACA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4DFE1D-30EC-AC56-E0E8-197DF3881692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7DC8FA-1CA1-1E07-02C3-1B313DA6BCF5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마찰의 본질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DF99B2-F8CE-A600-1865-4F5ED6EB459F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“전쟁에서 모든 것은 매우 단순하다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가장 단순한 것조차도 어렵다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어려움들이 누적되어 일종의 마찰을 만들어낸다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=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전쟁의 단순한 요소들이 실행 과정에서 누적된 어려움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마찰과 유사한 것으로 합의점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(clearance point),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거부점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(veto point)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전쟁을 경험해보지 않은 이는 이를 상상하기 어려움 → 행정도 제도 설계는 단순해 보여도 집행에서는 수많은 작은 장애물이 누적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841D3CF-E22E-2953-CC42-87B55679E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E8F20AE-D34A-58C5-3614-12A65D9E2B1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450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CFBB-8D49-8C7A-0A0C-556B5D9D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C9773E3-541C-4A8A-1473-E25E79C1C9B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6EA5C5-DEBB-6154-5646-818E07CBAC1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67793C-F659-8DF3-2E48-87C2AAE7FBCE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7F639-4F5B-5EDC-EA6D-0A53584661D6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마찰의 사례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0094D4-0552-E5D6-5059-78EF0C3E53DE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“안개는 적을 제때 발견하는 것을 방해하고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비는 행군을 지연시키며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… 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기병은 땅이 질어서 발이 묶인다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날씨</a:t>
            </a:r>
            <a:r>
              <a:rPr lang="en-US" altLang="ko-KR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병사들의 상태 등 수많은 변수가 마찰을 형성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작은 우연이 전체 작전을 지연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무산시킬 수도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집행에서도 환경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예상치 못한 사건이 실행력 약화 → 정태적 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계획된 매뉴얼을 그대로 따르는 방식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동태적 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환경 변화와 사건 발생에 따라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수정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통해 학습하는 방식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5C0DB9-ECBD-37A2-5FB9-9AAD923DA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F1D31BE-E011-844D-A848-A0D18ABDDA8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737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29FA8-6EF2-C8B0-766F-F7D904C3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8A83CDB-88E7-AA9A-BD15-CAE1B5CD006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7164EA-FE46-D043-514F-A81E249CFDC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76D07-835F-5B1E-46B7-D686CE6F7D96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28C4A9-4112-876C-8CAB-0F869F454178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마찰의 사례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5ED5C-1DA4-B68A-50CD-5992477B5B66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코로나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확산 초기에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확진자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동선 공개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마스크 공급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자가격리 관리 등에서 불확실성이 극대화됨  → 정부는 처음에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확진자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동선 전면 공개 원칙을 택했으나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 프라이버시 침해 문제가 제기되면서 곧 시간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장소 중심 공개로 수정함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마스크 공급 초기에 수요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공급 불균형이 심각했으나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출생연도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요일제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 방식을 도입해 혼잡을 완화함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이후 수급 안정화에 따라 요일제를 폐지하는 등 단계적 조정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코로나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대응은 사전 설계된 매뉴얼만으로는 대응할 수 없었고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현장의 혼란과 비판을 반영한 지속적 피드백과 적응적 학습이 성과의 주요 요인임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09EE7F2-3CE8-E8E3-CB78-99201D468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1B3D970-4ED7-833B-43B2-E615BAED63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968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131F7-2E9B-9B14-9C30-AD9E988D6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C3EF6C0-6AB3-9CFF-4F5D-FCA836DEBC7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EED85C-BA9B-19A9-B96A-E33A2598C4C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41DC2B-258D-FF30-32D4-7DFA7EB1CB0E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649DAA-9094-ED2B-3DC4-48B42CAE404E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마찰의 사례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7F4030-3B5D-2060-89D6-C45C6708C3B2}"/>
              </a:ext>
            </a:extLst>
          </p:cNvPr>
          <p:cNvSpPr txBox="1"/>
          <p:nvPr/>
        </p:nvSpPr>
        <p:spPr>
          <a:xfrm>
            <a:off x="1079999" y="1671814"/>
            <a:ext cx="10390741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 긴급재난지원금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(2020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상반기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전국민 지급으로 신속하게 집행되었으나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형평성 논란과 재정 부담 문제가 발생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 이후 지원금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(2020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하반기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~)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소득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피해 업종 중심으로 선별 지원으로 전환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신속성과 형평성 사이의 균형을 찾으려는 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중복 지원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소득 역전 현상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사각지대 등 현장에서 발생한 문제를 반영하여 제도 보완 → 지역화폐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온라인 지급 시스템 등도 시행착오 속에서 점차 보완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확산됨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지원금 정책은 정책 설계와 집행의 간극을 극명하게 보여주는 사례로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초기의 전국민 지급이라는 단순한 틀은 마찰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 제약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형평성 논란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부딪혔고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이후 적응적 학습을 통해 선별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혼합형 모델로 발전함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66D1302-3A7A-45A5-239D-E6E032FDE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8441C25-8334-4129-B12F-AA837DB0832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514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17C2-223E-F59B-F9CD-BA999F4B6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0CA7ADE-0B63-E1B4-AF9E-495B20DAAE9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4BA63C-A58A-2BB3-5554-B5241F7F96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B11EFC-148D-EDB9-38CD-D6E743124ECB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인간적 요소의 마찰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B0EE64-D488-443F-F923-9BE52EAB4625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“대대는 다수의 사람들로 구성되어 있으며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하찮은 개인 하나가 지연이나 무질서를 일으킬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군대라는 기계도 결국 개별 인간들로 구성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개인의 작은 일탈이나 실수가 전체 조직을 흔들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공직사회도 개인의 일탈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무사안일이 조직 전체의 성과를 약화 → 경우에 따라서는 조직의 생존에도 영향을 미칠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D6DBF4D-0AB0-2888-A8CB-7982D0BAF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A68B4C0-C32E-DFFE-0267-173B95DA65E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3DC2CE6-2900-36FA-EB57-E9B44EEE1A01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8594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75A3D-1B56-159B-1195-81F8DFEF0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4045F02-5226-D211-12BD-BB66486413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2C2CF4-DBF6-DF92-8FD6-EA12E9AFEB9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BF0CD0-6256-6D00-13FC-D30B5CFFA5FE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마찰과 경험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6F4B4E-9294-CF60-123E-1969B08FFEB5}"/>
              </a:ext>
            </a:extLst>
          </p:cNvPr>
          <p:cNvSpPr txBox="1"/>
          <p:nvPr/>
        </p:nvSpPr>
        <p:spPr>
          <a:xfrm>
            <a:off x="1080000" y="1671816"/>
            <a:ext cx="108000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“이 마찰에 대한 지식은 훌륭한 장군에게 요구되는 전쟁 경험의 주요 부분이다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“이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마찰이야말로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전쟁에서 겉보기에 쉬워 보이는 것을 실제로는 어렵게 만드는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마찰은 이론적으로 배우기 어렵고 경험을 통해서만 체득할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경험 많은 장군은 상황마다 적절히 대응하고 쉽게 곤란에 빠지지 않음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행정가도 경험적 학습과 직관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마인드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정책 실행의 성패 좌우 → 마찰을 관리할 수 있는 의지와 경험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적절한 리더십이 필요함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26DBA01-2A8E-3626-D7EB-04F348F01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216C046-B91F-7288-1A95-60E22F9F55A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93D50E-4F9A-B22B-9D9B-628B9AD18650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7169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5E747-B376-AA14-5803-1C59CCF3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50AA9BC-4E3A-A050-3146-BEA64CC04F7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FDB5FF-E333-6057-EE6F-B5632C75A90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2A2CD0-8AE5-AA63-76EE-0CFDDC46DA47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결론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8D68CC-AA8D-7248-D31F-28624953274B}"/>
              </a:ext>
            </a:extLst>
          </p:cNvPr>
          <p:cNvSpPr txBox="1"/>
          <p:nvPr/>
        </p:nvSpPr>
        <p:spPr>
          <a:xfrm>
            <a:off x="1080000" y="1671816"/>
            <a:ext cx="10800000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복잡성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불확실성 ↑ → 정부 정책은 언제나 불완전한 정보 위에 세워지므로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확률적 사고와 신중한 분별력이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계획은 명쾌해 보이지만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 과정에서 수많은 환경적 제약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돌발 상황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인적 변수로 실행력이 약화 → 집행에는 필연적으로 마찰이 발생하므로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전제로 한 유연한 설계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피드백과 적응적 학습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(adaptive learning)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필요함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의사결정자는 자기 신뢰와 경험적 학습을 바탕으로 균형 잡힌 결단을 내려야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5A3C027-4128-C96C-DC4D-758532AD7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A894729-1033-9507-BD03-1245FDD5F24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C958FF8-ADA4-3AE8-1860-8B94945398F5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299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3422</TotalTime>
  <Words>1146</Words>
  <Application>Microsoft Office PowerPoint</Application>
  <PresentationFormat>와이드스크린</PresentationFormat>
  <Paragraphs>101</Paragraphs>
  <Slides>17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c</cp:lastModifiedBy>
  <cp:revision>179</cp:revision>
  <dcterms:created xsi:type="dcterms:W3CDTF">2025-03-10T02:54:00Z</dcterms:created>
  <dcterms:modified xsi:type="dcterms:W3CDTF">2025-09-14T03:36:22Z</dcterms:modified>
</cp:coreProperties>
</file>