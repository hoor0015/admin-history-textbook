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25"/>
  </p:notesMasterIdLst>
  <p:sldIdLst>
    <p:sldId id="256" r:id="rId2"/>
    <p:sldId id="265" r:id="rId3"/>
    <p:sldId id="324" r:id="rId4"/>
    <p:sldId id="336" r:id="rId5"/>
    <p:sldId id="339" r:id="rId6"/>
    <p:sldId id="334" r:id="rId7"/>
    <p:sldId id="323" r:id="rId8"/>
    <p:sldId id="340" r:id="rId9"/>
    <p:sldId id="314" r:id="rId10"/>
    <p:sldId id="337" r:id="rId11"/>
    <p:sldId id="330" r:id="rId12"/>
    <p:sldId id="329" r:id="rId13"/>
    <p:sldId id="316" r:id="rId14"/>
    <p:sldId id="331" r:id="rId15"/>
    <p:sldId id="341" r:id="rId16"/>
    <p:sldId id="342" r:id="rId17"/>
    <p:sldId id="343" r:id="rId18"/>
    <p:sldId id="344" r:id="rId19"/>
    <p:sldId id="345" r:id="rId20"/>
    <p:sldId id="346" r:id="rId21"/>
    <p:sldId id="347" r:id="rId22"/>
    <p:sldId id="348" r:id="rId23"/>
    <p:sldId id="258" r:id="rId2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8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0498F0-E222-4130-B559-E26B0B605E46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3D4FCB-31F1-4D49-A262-D5EAFE6F4D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8811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36FE37-B45E-702D-9B96-4299560E33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6E08DEC-7BB0-FA22-8DA3-B1AB8DEFC9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83A6BA-1565-C464-F4EB-3906E7373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7C39A-0473-4F06-BAED-15A0495CDC03}" type="datetime1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BC19E9-6DDD-6434-8E6B-06EF96BBE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85B267-7A29-ED1D-ACA4-7E277B84F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755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8B7FEF-A226-AA76-1459-1FDB0A4E5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A804A3-2F1B-0A55-13C5-3650E2677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F0C730-8C26-635F-3C55-9A7C0301F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B99A3-FCEB-4DA1-9F62-29D8C0003628}" type="datetime1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B7EFE1-B630-48F3-8A5C-C662E88B8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2850C1-CA85-ED3E-2330-22B834CB7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9009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EE0D3C-3680-19BF-4C67-D4B4784C2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5C665B-B2AA-B08F-C279-912EC2D10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D66F2D-16A0-557C-3CCB-8FFB7554D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900D-BC70-4759-8B81-959479FDE631}" type="datetime1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FBDE22-BDA4-74CE-8C4C-E4E73812C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8D6EA0-E1DE-BF0E-0912-85915DD8D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0163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6F7B9F-6A11-CC5A-7A36-44D8AD919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783DDB-E592-C2D4-A180-B5DEDBF7BE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F51331B-C0B4-8EDC-103E-47B36BBE59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60767AC-DDFA-8913-983C-6DA9B0A67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5B54D-7A36-44B1-8C28-43CC23156252}" type="datetime1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DDBFE1A-421D-107D-5DF2-1870DCECC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52004D5-4E92-0B4C-7EE6-FAB9D429C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9766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D0A58D-AA06-16B9-3770-41AD164C9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96E662-B7C3-7FD5-CD89-C526ED31F5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8B9CFFF-D7AA-F586-9E75-BF93A17113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9418F7E-3EA8-DC1E-43BE-7D850C4686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F1E95F9-9077-E721-07CD-4CA2411616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CEFD06E-78D1-0213-E60C-58C7C880A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9D56D-5F5D-4386-8229-7B3FCE23A9DB}" type="datetime1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BA4C8D-33C2-7987-6D00-869244A5B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D2AB68B-4F6B-A0AD-F831-29C6E58A1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0982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AAD11A-F73C-0207-0712-CC5C19669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8CC1D79-BC19-4316-F46D-F86B3936C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DD53D-D905-4ACB-AC18-AA7FCF8F80DE}" type="datetime1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D50F371-759C-8971-0893-79AC08C88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A58D82D-21E7-57EF-BE11-B67FED116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3146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2DEECEE-D8EA-089C-FBE6-ADF6F763B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BD813-ACF2-4610-9984-BFC3E3445E99}" type="datetime1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56F723E-2C54-55A9-296D-F360D200E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62517F-6DF0-37E6-743B-70F38A8A8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4220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08B69-7F2C-A92C-998A-A211E4A43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C4434C-27A6-FC8C-2488-5BF688F521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907BAD0-6B32-5C64-3F97-CF151C3C79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F30F74-FB46-CA2D-CE2A-520ACD1A3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359E2-8CCE-47B9-BB7A-030AE3600AA0}" type="datetime1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9900CC-E9D2-5A28-AF25-307ADC6E3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CB32BB5-82AE-8482-2D75-FF89DE29E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5764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CA0DA8-0481-0840-93EF-373E4CAC2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35C5FCC-6E56-4B61-8A3A-806032224D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03281E-513F-2090-6B6C-30573828E1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5C8138-7D38-BAA2-991C-DD73FA9AC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E92EE-1CF8-4367-A084-DA2FF58DBBDB}" type="datetime1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8DCA6D2-D45C-5920-4860-B918D7BB0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E13D3DA-09E9-2079-3755-86D4E6609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5974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35BFF0-B5FD-B1C9-7990-6E39B598F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BA3334E-6A42-25D9-36F5-3E2B606E35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E5EBEB-6DD2-0DC1-0485-D095141E0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E0889-A16A-434F-93C1-A64A52D175C8}" type="datetime1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47268B-0A1F-2E11-B10F-6214EB64A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646C17-DF9E-4AA3-63E2-DF71DCBC8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1524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1D2B582-D262-AA95-51F3-7DB2368588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E71DB97-E146-2A4B-9A20-568C9C345A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D1D531-D2EA-FDE0-273E-A182CC962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027F3-8B5B-4B0E-A74B-00FCFC008BFB}" type="datetime1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F24463-153E-992E-0670-078E99ED1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574CB5-B661-FD9B-8604-B864DDCEA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4507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4896CC-D357-0B15-BD4E-82985503F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76DE65-3AA6-CB13-9141-59D0783E05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9FD434-1997-7C62-7EE2-A5C4A20CF3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04A376-E7CB-4754-856D-B8EF9D28E97C}" type="datetime1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F7F881-B52B-6E21-A008-2784312083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AB78CF-D66F-B729-696F-488DF175C1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6146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kdkim@kipa.re.kr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10ED8B-338F-5AA3-7E4C-9CE149942F70}"/>
              </a:ext>
            </a:extLst>
          </p:cNvPr>
          <p:cNvSpPr txBox="1"/>
          <p:nvPr/>
        </p:nvSpPr>
        <p:spPr>
          <a:xfrm>
            <a:off x="303023" y="5307578"/>
            <a:ext cx="198419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</a:rPr>
              <a:t>김경동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  <a:p>
            <a:r>
              <a:rPr lang="ko-KR" altLang="en-US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</a:rPr>
              <a:t>행정학과 조교수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  <a:p>
            <a:r>
              <a:rPr lang="en-US" altLang="ko-KR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  <a:hlinkClick r:id="rId2"/>
              </a:rPr>
              <a:t>kdkim@kw.ac.kr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9AC125-E49A-1BDE-4CB3-1DDFDD1917F7}"/>
              </a:ext>
            </a:extLst>
          </p:cNvPr>
          <p:cNvSpPr txBox="1"/>
          <p:nvPr/>
        </p:nvSpPr>
        <p:spPr>
          <a:xfrm>
            <a:off x="1938662" y="2215148"/>
            <a:ext cx="8314676" cy="160043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2025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년도 가을학기</a:t>
            </a:r>
            <a:endParaRPr lang="en-US" altLang="ko-KR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경기천년제목 Bold" panose="02020803020101020101" pitchFamily="18" charset="-127"/>
              <a:ea typeface="경기천년제목 Bold" panose="02020803020101020101" pitchFamily="18" charset="-127"/>
              <a:cs typeface="KoPubWorld돋움체 Bold" panose="00000800000000000000" pitchFamily="2" charset="-127"/>
            </a:endParaRPr>
          </a:p>
          <a:p>
            <a:pPr algn="ctr"/>
            <a:r>
              <a:rPr lang="ko-KR" altLang="en-US" sz="6600" b="1" dirty="0">
                <a:solidFill>
                  <a:srgbClr val="761F2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텍스트로 보는 행정사</a:t>
            </a:r>
            <a:endParaRPr lang="ko-KR" alt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경기천년제목 Bold" panose="02020803020101020101" pitchFamily="18" charset="-127"/>
              <a:ea typeface="경기천년제목 Bold" panose="02020803020101020101" pitchFamily="18" charset="-127"/>
              <a:cs typeface="KoPubWorld돋움체 Bold" panose="00000800000000000000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3C7D5DA-9E30-A35C-384A-368E3B235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F4A3564C-61B8-C23D-8A58-2BDFC3C0594F}"/>
              </a:ext>
            </a:extLst>
          </p:cNvPr>
          <p:cNvGrpSpPr/>
          <p:nvPr/>
        </p:nvGrpSpPr>
        <p:grpSpPr>
          <a:xfrm>
            <a:off x="361144" y="531548"/>
            <a:ext cx="1635639" cy="371258"/>
            <a:chOff x="303023" y="453495"/>
            <a:chExt cx="1357980" cy="305606"/>
          </a:xfrm>
        </p:grpSpPr>
        <p:grpSp>
          <p:nvGrpSpPr>
            <p:cNvPr id="9" name="그룹 1004">
              <a:extLst>
                <a:ext uri="{FF2B5EF4-FFF2-40B4-BE49-F238E27FC236}">
                  <a16:creationId xmlns:a16="http://schemas.microsoft.com/office/drawing/2014/main" id="{6E7012C1-2889-777F-5077-8BBDEF2B9805}"/>
                </a:ext>
              </a:extLst>
            </p:cNvPr>
            <p:cNvGrpSpPr/>
            <p:nvPr/>
          </p:nvGrpSpPr>
          <p:grpSpPr>
            <a:xfrm>
              <a:off x="303023" y="453495"/>
              <a:ext cx="305606" cy="305606"/>
              <a:chOff x="7252263" y="581291"/>
              <a:chExt cx="1251000" cy="1251000"/>
            </a:xfrm>
          </p:grpSpPr>
          <p:pic>
            <p:nvPicPr>
              <p:cNvPr id="12" name="Object 13">
                <a:extLst>
                  <a:ext uri="{FF2B5EF4-FFF2-40B4-BE49-F238E27FC236}">
                    <a16:creationId xmlns:a16="http://schemas.microsoft.com/office/drawing/2014/main" id="{E0BA23DB-DD41-E0E9-8BD7-770B6BCB4C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7252263" y="581291"/>
                <a:ext cx="1251000" cy="1251000"/>
              </a:xfrm>
              <a:prstGeom prst="rect">
                <a:avLst/>
              </a:prstGeom>
            </p:spPr>
          </p:pic>
        </p:grpSp>
        <p:grpSp>
          <p:nvGrpSpPr>
            <p:cNvPr id="10" name="그룹 1007">
              <a:extLst>
                <a:ext uri="{FF2B5EF4-FFF2-40B4-BE49-F238E27FC236}">
                  <a16:creationId xmlns:a16="http://schemas.microsoft.com/office/drawing/2014/main" id="{719BD9D4-EA27-8883-6C3A-3B4D22263CD7}"/>
                </a:ext>
              </a:extLst>
            </p:cNvPr>
            <p:cNvGrpSpPr/>
            <p:nvPr/>
          </p:nvGrpSpPr>
          <p:grpSpPr>
            <a:xfrm>
              <a:off x="681789" y="472805"/>
              <a:ext cx="979214" cy="286296"/>
              <a:chOff x="4978293" y="70686"/>
              <a:chExt cx="1725714" cy="504552"/>
            </a:xfrm>
          </p:grpSpPr>
          <p:pic>
            <p:nvPicPr>
              <p:cNvPr id="11" name="Object 22">
                <a:extLst>
                  <a:ext uri="{FF2B5EF4-FFF2-40B4-BE49-F238E27FC236}">
                    <a16:creationId xmlns:a16="http://schemas.microsoft.com/office/drawing/2014/main" id="{74972B61-1483-C590-C007-CB56962870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4978293" y="70686"/>
                <a:ext cx="1725714" cy="50455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999096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45CCE-E8F0-C135-35B6-0A0A5C055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074012D-53DC-5227-4460-626954FF1254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1540394-9316-A9FD-07B1-F3504BF6E4DE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EB9B39-7112-A97C-85D0-DCBF35580845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0F6F87-C845-7F65-1202-A67F08BC6536}"/>
              </a:ext>
            </a:extLst>
          </p:cNvPr>
          <p:cNvSpPr txBox="1"/>
          <p:nvPr/>
        </p:nvSpPr>
        <p:spPr>
          <a:xfrm>
            <a:off x="1235999" y="757300"/>
            <a:ext cx="534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앨런 </a:t>
            </a:r>
            <a:r>
              <a:rPr lang="ko-KR" altLang="en-US" sz="2800" dirty="0" err="1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시크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B1A806-ADFC-43B9-E601-626F15663F4D}"/>
              </a:ext>
            </a:extLst>
          </p:cNvPr>
          <p:cNvSpPr txBox="1"/>
          <p:nvPr/>
        </p:nvSpPr>
        <p:spPr>
          <a:xfrm>
            <a:off x="1079999" y="1671814"/>
            <a:ext cx="6383119" cy="397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앨런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시크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(1934-)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는 미국 메릴랜드 대학교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공공정책대학원 석좌교수로서 미국 의회조사국 선임연구원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브루킹스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연구소 객원 연구원을 역임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공공예산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의회 예산 과정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재정정책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연방 예산개혁 등에 관심을 가지고 연구함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→ 단순한 회계적 접근을 넘어 예산의 정치적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행정적 기능을 통합적으로 분석한 것으로 평가받고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0F52EA7D-03DC-1C9A-F825-E047209E39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E6F9F91F-8E91-CC61-BB60-43CBEEAE73DE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2">
            <a:extLst>
              <a:ext uri="{FF2B5EF4-FFF2-40B4-BE49-F238E27FC236}">
                <a16:creationId xmlns:a16="http://schemas.microsoft.com/office/drawing/2014/main" id="{6AEFBE43-5FAF-36CF-75A4-2DF4772A61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6896" y="2049620"/>
            <a:ext cx="3029373" cy="3029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3242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7E12E-ADA0-7259-2468-47250DD8E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ACB95F5-AE74-2386-0187-A01D5949FA31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92BE5E5-7FA3-9322-9C8F-35F44E099AE2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EC9073B-E4C0-C55E-62F1-69A6BC9EABBD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2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A1D850C-E30F-F7A9-32E0-AF61EABF3607}"/>
              </a:ext>
            </a:extLst>
          </p:cNvPr>
          <p:cNvSpPr txBox="1"/>
          <p:nvPr/>
        </p:nvSpPr>
        <p:spPr>
          <a:xfrm>
            <a:off x="1235999" y="757300"/>
            <a:ext cx="534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앨런 </a:t>
            </a:r>
            <a:r>
              <a:rPr lang="ko-KR" altLang="en-US" sz="2800" dirty="0" err="1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시크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(2)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310425-0E19-C9CC-3615-51232541E795}"/>
              </a:ext>
            </a:extLst>
          </p:cNvPr>
          <p:cNvSpPr txBox="1"/>
          <p:nvPr/>
        </p:nvSpPr>
        <p:spPr>
          <a:xfrm>
            <a:off x="1079999" y="1671814"/>
            <a:ext cx="10390741" cy="44596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 제도의 발전을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통제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(Control) →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관리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(Management) →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기획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(Planning)”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3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단계 진화 과정으로 체계화하였음 → 각 단계가 이전 단계를 대체하는 것이 아니라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누적되고 혼합된다는 점을 강조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 시스템이 당시의 행정 환경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정치적 요구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경제적 상황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에 어떻게 반응하며 변화했는지를 역사적으로 규명한 연구를 주로 수행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환경적 적응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『PPB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로 가는 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』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은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PPBS(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기획예산제도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를 단순한 기술적 기법이 아닌 예산 기능의 근본적 재정립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기획지향성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으로 보고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성공조건과 기존 관행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점증주의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와의 충돌 가능성을 분석함</a:t>
            </a:r>
            <a:endParaRPr lang="ko-KR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23706CF-52F4-DA56-5AAC-3E7DBA9D51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1ED881C1-CADA-71FE-54FF-705A17B829ED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4745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CF140-E839-F968-F8BD-78EB1E353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0275A78-AAD2-2ED1-2F99-D25BA1EE9252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C93C027-BEF6-0685-CC6A-A0F12FD4CD4A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EA0DDD-8C3C-00A0-16EC-3EA0FBC7E617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3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54C05F-D8E9-8056-32B3-C3DB920D5BDD}"/>
              </a:ext>
            </a:extLst>
          </p:cNvPr>
          <p:cNvSpPr txBox="1"/>
          <p:nvPr/>
        </p:nvSpPr>
        <p:spPr>
          <a:xfrm>
            <a:off x="1235998" y="757300"/>
            <a:ext cx="6106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PPBS(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기획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-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프로그래밍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-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예산 편성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)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의 등장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ABBB75D-7BF1-FF46-AB88-DA3B04C3A6A4}"/>
              </a:ext>
            </a:extLst>
          </p:cNvPr>
          <p:cNvSpPr txBox="1"/>
          <p:nvPr/>
        </p:nvSpPr>
        <p:spPr>
          <a:xfrm>
            <a:off x="1079999" y="1671814"/>
            <a:ext cx="10390741" cy="41826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현재 개발 중인 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PPB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시스템은 예산 편성의 중심 기능에 급진적인 변화를 예고하지만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이는 반세기에 걸친 전통과 진화에 닻을 내리고 있습니다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미래의 예산 시스템은 과거의 발전과 새롭게 등장하는 발전 모두의 산물이 될 것입니다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당시 신진 관료들은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PPB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를 기존의 주먹구구식 예산을 타파할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혁명적 도구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로 보았으나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현장의 예산 담당자들은 이를 기존 성과주의 예산의 연장선으로 보며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"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새로울 것이 없다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"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고 반응함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PPB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는 하늘에서 뚝 떨어진 것이 아님 →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지난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50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 동안 예산이 수행해 온 기능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통제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관리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위에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＇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기획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＇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이라는 기능을 얹은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진화의 산물임</a:t>
            </a:r>
            <a:endParaRPr lang="ko-KR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B0A0413-608E-05F3-0729-5172700383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0EC40F1B-DE9A-AAAB-F05F-55A910CFFF58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2357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90831-9FE4-7E2E-A94D-2E6794661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1825693-8A31-78BD-0DC2-0E94C75D29B0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0EEA7F4-36DD-AAF5-B98E-38E35E291FF1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20FB04-0E69-B5CD-A293-D62E184743CF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4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47550A-8A7A-99BB-1C79-F2ACC5655264}"/>
              </a:ext>
            </a:extLst>
          </p:cNvPr>
          <p:cNvSpPr txBox="1"/>
          <p:nvPr/>
        </p:nvSpPr>
        <p:spPr>
          <a:xfrm>
            <a:off x="1235999" y="757300"/>
            <a:ext cx="534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예산의 세 가지 기능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기획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·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관리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·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통제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B49ABDE-E92A-EE46-75E5-3643B9451D58}"/>
              </a:ext>
            </a:extLst>
          </p:cNvPr>
          <p:cNvSpPr txBox="1"/>
          <p:nvPr/>
        </p:nvSpPr>
        <p:spPr>
          <a:xfrm>
            <a:off x="1079999" y="1671814"/>
            <a:ext cx="10390741" cy="41826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"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모든 예산 시스템은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심지어 초보적인 것일지라도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기획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관리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통제 과정을 포함합니다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...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 편성의 맥락에서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기획은 목표의 결정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...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관리는 승인된 목표를 특정 프로젝트와 활동으로 프로그래밍하는 것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...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통제는 운영 관리자들을 그들의 상급자가 설정한 정책과 계획에 묶어두는 과정을 의미합니다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.“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통제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입법부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상급자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 명령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지출 한도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용도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을 준수하도록 강제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합법성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책임성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관리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주어진 자원을 사용하여 목표를 가장 효율적으로 달성하는 것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능률성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기획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무엇을 할 것인가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즉 목표를 결정하고 대안을 선택하는 것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효과성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정책결정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모든 예산은 이 세 가지 요소를 다 가지고 있으나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어느 기능이 주도권을 잡느냐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지향성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가 다를 뿐임</a:t>
            </a:r>
            <a:endParaRPr lang="ko-KR" altLang="ko-KR" sz="28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B46DBE7-484B-47DD-211D-68048B651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DE315467-7B95-F8E5-4437-E50C8246123E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26490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7E9EB-C508-CBC3-A40E-FDEAEF112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177E2DF-2BFE-199A-764E-AC047FED327D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9258E36-AEBE-77B4-546D-FF6330E626F4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8407C3-AD88-11E8-2513-9D9040F2CF2E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5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84D32E-4F6F-5A72-19C9-B9A48B2AEC37}"/>
              </a:ext>
            </a:extLst>
          </p:cNvPr>
          <p:cNvSpPr txBox="1"/>
          <p:nvPr/>
        </p:nvSpPr>
        <p:spPr>
          <a:xfrm>
            <a:off x="1235999" y="757300"/>
            <a:ext cx="534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기능 간의 경쟁과 지향성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5FD909C-BB21-4FF6-42FF-E4A43AF262FF}"/>
              </a:ext>
            </a:extLst>
          </p:cNvPr>
          <p:cNvSpPr txBox="1"/>
          <p:nvPr/>
        </p:nvSpPr>
        <p:spPr>
          <a:xfrm>
            <a:off x="1079999" y="1671814"/>
            <a:ext cx="10390741" cy="3776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"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현실적으로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기획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관리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통제는 예산 편성에서 참여자들 간의 기능 분할이 명확하지 않은 채 서로 경쟁하는 과정인 경향이 있었습니다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...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한 가지 유형의 관점이 다른 관점들보다 우세해지는 경향이 있습니다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.“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제로섬 게임으로서 속성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시간과 자원은 한정되어 있음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→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중앙 예산기관이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통제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감시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)'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에 집중하면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기획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장기 전략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)'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을 할 시간이 부족해짐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특정 시기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특정 예산 시스템은 세 가지 기능 중 하나를 최우선 순위로 두게 되는데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이것이 예산 개혁의 역사를 구분하는 기준이 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지배적 지향성 위주로 구분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E8961059-FE81-D1DC-D4A7-4A368C2247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7004E0E6-D418-F93C-C360-A4B9B6EFB38E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48766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86CEE-6DDC-D066-5398-CD94448F0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2888200A-4639-3BCE-1B9F-BF26BA3E283C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19C0912-D3F9-0D5B-E5CB-F78B6C6AB227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297742-F2CE-4675-6BFE-52341BFD3D8A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6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144E28-CAAA-E22A-66CC-AAF674A68AE7}"/>
              </a:ext>
            </a:extLst>
          </p:cNvPr>
          <p:cNvSpPr txBox="1"/>
          <p:nvPr/>
        </p:nvSpPr>
        <p:spPr>
          <a:xfrm>
            <a:off x="1235998" y="757300"/>
            <a:ext cx="60119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예산 개혁의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3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단계 개관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82C46E-0CEB-8DD5-3B22-8E2CC1BDCCCB}"/>
              </a:ext>
            </a:extLst>
          </p:cNvPr>
          <p:cNvSpPr txBox="1"/>
          <p:nvPr/>
        </p:nvSpPr>
        <p:spPr>
          <a:xfrm>
            <a:off x="1079999" y="1671814"/>
            <a:ext cx="10390741" cy="34547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"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세 가지 연속적인 개혁 단계를 식별하는 것이 가능합니다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대략 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1920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년부터 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1935</a:t>
            </a:r>
            <a:r>
              <a:rPr lang="ko-KR" altLang="en-US" sz="20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년까지에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이르는 첫 번째 단계에서는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적절한 지출 통제 시스템을 개발하는 데 지배적인 강조점이 주어졌습니다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...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두 번째 단계는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...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성과주의 예산 편성 운동으로 절정에 달했습니다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...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세 번째 단계는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...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기획과 예산 편성을 연결하려는 초기 노력들입니다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.“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단계 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통제 지향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): 1920~35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 제도의 태동기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예산이 딴 곳으로 새지 않게 막는 것이 목표</a:t>
            </a:r>
            <a:endParaRPr lang="en-US" altLang="ko-KR" sz="20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2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단계 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관리 지향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): 1930s~50s. 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뉴딜 정책 이후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커진 정부를 효율적으로 굴리는 것이 목표</a:t>
            </a:r>
            <a:endParaRPr lang="en-US" altLang="ko-KR" sz="20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3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단계 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기획 지향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): 1960s~. PPB 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도입기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예산을 통해 국가 정책 목표를 달성하는 것이 목표</a:t>
            </a:r>
            <a:endParaRPr lang="en-US" altLang="ko-KR" sz="20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07541C55-13CD-AE90-8ED8-1A17AAEE4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225F1030-7440-BD23-8A61-DA5BD6B822C0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35979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5B513-FCBA-0BB4-1FA7-3A35A41F0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97381701-D201-F0F2-3262-EC97761BB5F0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5F5F18F-3267-BB42-C824-1C418A2856D4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6E751E-AF15-DE6B-55C1-45FA3E5EC762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7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DD3FFB7-E21C-894F-A1F4-24798975BA4B}"/>
              </a:ext>
            </a:extLst>
          </p:cNvPr>
          <p:cNvSpPr txBox="1"/>
          <p:nvPr/>
        </p:nvSpPr>
        <p:spPr>
          <a:xfrm>
            <a:off x="1235998" y="757300"/>
            <a:ext cx="6459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제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1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단계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-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통제 지향성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(1920-1935)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의 배경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8FF8DBA-0007-6D4E-B761-669B16C6915A}"/>
              </a:ext>
            </a:extLst>
          </p:cNvPr>
          <p:cNvSpPr txBox="1"/>
          <p:nvPr/>
        </p:nvSpPr>
        <p:spPr>
          <a:xfrm>
            <a:off x="1079999" y="1671814"/>
            <a:ext cx="10390741" cy="405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찰스 </a:t>
            </a:r>
            <a:r>
              <a:rPr lang="ko-KR" altLang="en-US" sz="24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비어드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(Charles Beard)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는 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‘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 개혁은 그것이 유래한 시대의 흔적을 지니고 있다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’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고 쓴 적이 있습니다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인사 및 구매 통제가 신뢰할 수 없었던 시대에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첫 번째 고려 사항은 행정적 부정행위를 방지하는 방법이었습니다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시대적 상황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20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세기 초반은 행정의 부패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엽관주의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비효율이 만연했던 시기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공무원을 믿을 수 없었으므로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그들의 재량권을 박탈하고 의회와 중앙 예산국이 정한 대로만 돈을 쓰게 만드는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신뢰할 수 있는 회계 시스템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구축이 급선무였음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→ 통제 위주의 예산편성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6881543-04D6-4D1F-35BA-2C2F43CAF6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C8CC1FE6-4C4C-B882-C35C-43E1E7379652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28158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15842-C94A-1C39-CD70-917FE1858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D18D179F-E3A3-8546-CBC0-AB3FB4AD2199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B3CFA1A-8D99-3995-32F2-6209AC4D5DF9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35AC49-4EB1-475E-7F12-4E3D3F1EE6F7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8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3DBC8F-0194-BF71-9551-0669E81F238F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품목별 예산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(Line-Item)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과 통제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BDE1AA-ED72-6B54-713F-94C7193A03B2}"/>
              </a:ext>
            </a:extLst>
          </p:cNvPr>
          <p:cNvSpPr txBox="1"/>
          <p:nvPr/>
        </p:nvSpPr>
        <p:spPr>
          <a:xfrm>
            <a:off x="1079999" y="1671814"/>
            <a:ext cx="10390741" cy="405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"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지출 대상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(objects-of-expenditure)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에 기반을 두었으며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...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인력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연료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임차료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사무용품 및 기타 투입물에 대한 상세한 목록을 포함했습니다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...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이러한 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품목별 세분화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위에 추계의 편찬 및 검토와 자금 지출을 위한 기술적 일상 업무가 구축되었습니다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지출 대상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(Object)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분류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예산을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무슨 사업을 하느냐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가 아니라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무엇을 샀느냐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인건비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재료비 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)'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로 분류함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구체적인 물품 구매 내역까지 통제함으로써 예산 유용을 원천 봉쇄함 →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그러나 이는 예산이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＇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어떤 목적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＇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으로 쓰이는지는 보여주지 못함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F87504C4-8781-1D03-2141-4DD0BE19D8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73797DF-774A-9FBE-AE5E-E20365477FA7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07420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FA4D1-0F3B-A77F-7266-8885E060C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EC594D4-C063-927D-D5AD-7B71875E19D5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A390876-2EB5-B721-72B8-45190C8B994A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6A1410-F4AF-1EBA-84F9-7BA9A8AAA8E0}"/>
              </a:ext>
            </a:extLst>
          </p:cNvPr>
          <p:cNvSpPr txBox="1"/>
          <p:nvPr/>
        </p:nvSpPr>
        <p:spPr>
          <a:xfrm>
            <a:off x="359999" y="722826"/>
            <a:ext cx="644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9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4932A6-F3AF-BAEA-E643-44FBF211AB66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초기 기능별 분류 시도의 좌절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A3D82BC-483C-549C-1BDE-C8C3E0FDB8BF}"/>
              </a:ext>
            </a:extLst>
          </p:cNvPr>
          <p:cNvSpPr txBox="1"/>
          <p:nvPr/>
        </p:nvSpPr>
        <p:spPr>
          <a:xfrm>
            <a:off x="1079999" y="1671814"/>
            <a:ext cx="10390741" cy="4515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</a:t>
            </a:r>
            <a:r>
              <a:rPr lang="ko-KR" altLang="en-US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행정에 대한 효과적인 통제의 시급한 필요성에 직면했을 때</a:t>
            </a:r>
            <a:r>
              <a:rPr lang="en-US" altLang="ko-KR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연구국은 이 필요성이 기획 기능적 강조의 필요성보다 더 중요하다고 결론 내릴 수밖에 없었습니다</a:t>
            </a:r>
            <a:r>
              <a:rPr lang="en-US" altLang="ko-KR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  <a:r>
              <a:rPr lang="ko-KR" altLang="en-US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en-US" altLang="ko-KR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"</a:t>
            </a:r>
            <a:r>
              <a:rPr lang="ko-KR" altLang="en-US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만약 입법부가 지출 대상별로 세출을 승인한다면</a:t>
            </a:r>
            <a:r>
              <a:rPr lang="en-US" altLang="ko-KR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예산도 지출 대상별로 분류될 가능성이 매우 높습니다</a:t>
            </a:r>
            <a:r>
              <a:rPr lang="en-US" altLang="ko-KR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반대로</a:t>
            </a:r>
            <a:r>
              <a:rPr lang="en-US" altLang="ko-KR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기능별 회계가 없다면</a:t>
            </a:r>
            <a:r>
              <a:rPr lang="en-US" altLang="ko-KR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그러한 데이터를 예산에 포함시킬 가능성은 상당히 줄어듭니다</a:t>
            </a:r>
            <a:r>
              <a:rPr lang="en-US" altLang="ko-KR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거의 항상 그래왔듯이</a:t>
            </a:r>
            <a:r>
              <a:rPr lang="en-US" altLang="ko-KR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예산은 세출 법안을 반영하게 되었습니다</a:t>
            </a:r>
            <a:r>
              <a:rPr lang="en-US" altLang="ko-KR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."</a:t>
            </a: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뉴욕시립연구국 등 초기 개혁가들은 품목별 예산제도가 비효율적이라는 것을 알았지만 당장의 부패 방지와 통제가 너무 시급했기 때문에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합리적인 기획 기능을 포기하고 강력한 통제를 선택할 수밖에 없었음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예산서는 법적 구속력이 있는 세출 법안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(Appropriations)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 형식을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따라감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미국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→ 의회가 통제를 위해 품목별 승인을 고집하는 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행정부의 예산 편성도 품목별로 이루어질 수밖에 없는 구조적 한계가 존재함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A3E5160A-FBDE-4C71-4221-E09DD2ECA5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0E3D2FEB-91BA-898C-8A6F-30C0C835713F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99038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A6D8E-F7FC-346F-74CE-B74843E27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4BB7B10-DB17-47C7-D232-DB13AC67C4C1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6FB1F90-3DDF-5D7C-6C7C-F6C99D159D27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996759-4C1A-6725-ED13-DFC97317678E}"/>
              </a:ext>
            </a:extLst>
          </p:cNvPr>
          <p:cNvSpPr txBox="1"/>
          <p:nvPr/>
        </p:nvSpPr>
        <p:spPr>
          <a:xfrm>
            <a:off x="359999" y="722826"/>
            <a:ext cx="644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10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660569-2F38-E836-6D1A-AAB3F38B29C9}"/>
              </a:ext>
            </a:extLst>
          </p:cNvPr>
          <p:cNvSpPr txBox="1"/>
          <p:nvPr/>
        </p:nvSpPr>
        <p:spPr>
          <a:xfrm>
            <a:off x="1235998" y="757300"/>
            <a:ext cx="6812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제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2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단계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-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관리 지향성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(1930s-1950s)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의 도래</a:t>
            </a:r>
            <a:endParaRPr lang="en-US" altLang="ko-KR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A2CE1B2-CF06-A39C-C384-810E486A706A}"/>
              </a:ext>
            </a:extLst>
          </p:cNvPr>
          <p:cNvSpPr txBox="1"/>
          <p:nvPr/>
        </p:nvSpPr>
        <p:spPr>
          <a:xfrm>
            <a:off x="1079999" y="1671814"/>
            <a:ext cx="10390741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공공 기관의 업무와 성과가 편익으로 간주되면서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 편성의 과업은 편익 달성을 위한 재정 및 조직 자원의 효과적인 결집으로 재정의되었습니다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...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 모든 요인들이 뉴딜 시대에 수렴되었습니다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정부관의 변화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정부 지출을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세금 낭비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필요악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)'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로 보던 시각에서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대공황 극복을 위해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필요한 서비스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편익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)'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를 제공하는 주체로 인식이 바뀜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뉴딜 정책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정부 사업이 거대해지고 복잡해짐에 따라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단순 통제보다는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사업을 얼마나 효율적으로 관리하느냐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가 핵심 이슈로 부상함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1C25958C-A614-03F3-2333-A0062B356C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C2E4064-7E16-7EBB-FD63-DA2BF7285A6E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97725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D5511-3BC0-5684-BD69-7763DD6EC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1872919-28D0-DB3B-F09E-12FF5518B115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00718E5-FFD2-B994-457C-54BD7E84F169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86780A0-4906-C1A2-5207-B8E2495027A3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11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D5E8BC-708C-FFAB-90A9-5242D0B17CE6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성과주의 예산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(Performance Budgeting)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5A25C0C-9216-6DEB-ADEF-2AA5BF341E5D}"/>
              </a:ext>
            </a:extLst>
          </p:cNvPr>
          <p:cNvSpPr txBox="1"/>
          <p:nvPr/>
        </p:nvSpPr>
        <p:spPr>
          <a:xfrm>
            <a:off x="1079999" y="1671814"/>
            <a:ext cx="10390741" cy="419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1949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 후버 위원회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(Hoover Commission)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는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... '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기능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활동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그리고 프로젝트에 기반한 예산의 채택을 통해 연방 정부의 전체 예산 개념을 재구성해야 한다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고 권고했습니다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"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성과주의 예산 편성은 수많은 작업비용 측정 탐구들을 파생시켰습니다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...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예산국은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...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작업 측정 핸드북 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3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부작 발간을 시작으로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...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생산성 측정 연구에서 최고조에 달하는 등 오랜 기간 관여해왔습니다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."</a:t>
            </a: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후버 위원회는 관리 지향성의 정점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 구조를 품목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물건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중심에서 활동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(Activity)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과 기능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(Function)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중심으로 뜯어고칠 것을 주문함 →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관리자가 자신이 맡은 부서의 업무량과 비용을 파악하여 효율성을 높이도록 유도함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예산에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원가 회계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개념을 도입 →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도로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1km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포장 비용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환자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명 진료 비용 등을 측정하여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 산정의 객관적 근거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단위 원가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x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업무량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를 마련하려 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BE3B067-2146-B6F1-3880-C35240A7F2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C39375AF-9073-BDBD-BC4C-6750CAFBD0D8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5411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D80FB-96E6-3EEF-106E-D5987B336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141A375-16A0-5198-0811-AD26EA531CDF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77812A6-0340-B183-29E2-3BCF0DB82698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4772C2-77E3-3978-A51F-3E1D9F367B00}"/>
              </a:ext>
            </a:extLst>
          </p:cNvPr>
          <p:cNvSpPr txBox="1"/>
          <p:nvPr/>
        </p:nvSpPr>
        <p:spPr>
          <a:xfrm>
            <a:off x="360000" y="722826"/>
            <a:ext cx="6440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12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E57C49-EC34-A8AA-87D0-6B14093DD1F9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성과주의 예산의 한계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6F31C6-B60E-FD30-FD6C-5777E1E1B5E9}"/>
              </a:ext>
            </a:extLst>
          </p:cNvPr>
          <p:cNvSpPr txBox="1"/>
          <p:nvPr/>
        </p:nvSpPr>
        <p:spPr>
          <a:xfrm>
            <a:off x="1079999" y="1671814"/>
            <a:ext cx="10390741" cy="405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세탁물 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파운드를 세탁하는 데 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0.07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달러가 </a:t>
            </a:r>
            <a:r>
              <a:rPr lang="ko-KR" altLang="en-US" sz="24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든다거나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...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그것이 최고위급 관리들에게 정말 도움이 될까요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? ...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미래의 행동 방침을 계획하는 것이 기능인 정책 결정자에게는 감당하기 힘든 부담을 줄 것입니다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운영 관리자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과장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국장급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에게는 효율성 체크에 유용하지만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장관이나 대통령 같은 정책 결정자에게는 너무 세세한 정보임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성과주의 예산은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＂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일을 싸게 잘 하는가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(Efficiency)＂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는 알려주지만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＂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 일을 계속해야 하는가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(Effectiveness)＂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에 대한 답은 주지 못함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7E848FC7-6CBC-62DA-0539-8DC61B9F3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AC6DAC0-4344-37EA-931C-E6DEFB5CA6A0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93343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ACE0E-ECA5-A9F6-3A78-6F7D12C98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267BBF1-5022-9A52-AAF5-14A756BF28A4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DE002B4-0508-DD5F-C77B-BAE8E724F9B4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9D9D5D3-2528-E72A-833C-32450F4F96B2}"/>
              </a:ext>
            </a:extLst>
          </p:cNvPr>
          <p:cNvSpPr txBox="1"/>
          <p:nvPr/>
        </p:nvSpPr>
        <p:spPr>
          <a:xfrm>
            <a:off x="359999" y="722826"/>
            <a:ext cx="644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13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F899601-DFDA-0E08-751A-64DB773FC95C}"/>
              </a:ext>
            </a:extLst>
          </p:cNvPr>
          <p:cNvSpPr txBox="1"/>
          <p:nvPr/>
        </p:nvSpPr>
        <p:spPr>
          <a:xfrm>
            <a:off x="1235998" y="757300"/>
            <a:ext cx="79080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성과주의 예산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vs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프로그램 예산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중요 구분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2171BD-191C-C5D6-34DC-F6F5E23F7A34}"/>
              </a:ext>
            </a:extLst>
          </p:cNvPr>
          <p:cNvSpPr txBox="1"/>
          <p:nvPr/>
        </p:nvSpPr>
        <p:spPr>
          <a:xfrm>
            <a:off x="1079999" y="1671814"/>
            <a:ext cx="10390741" cy="4108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일반적인 규칙으로서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성과주의 예산 편성은 작업의 과정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어떤 방법을 사용해야 하는가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과 관련되는 반면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프로그램 예산 편성은 작업의 목적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어떤 활동이 승인되어야 하는가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과 관련됩니다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성과주의 예산제도는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과정 중심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이미 정해진 목표를 어떻게 하면 최소 비용으로 달성할까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? 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관리적 시각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프로그램 예산제도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(PPB)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목적 중심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목표 달성을 위해 도로 건설이 나은가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철도 건설이 나은가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? (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기획적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시각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대안 비교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두 예산 제도는 지향점 자체가 다른 예산제도임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31D8713E-4C46-112C-8712-EE8542646C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A812B06D-2C89-5264-6CB7-E0C9D46E2BF5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22721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C39C8-50FF-1312-E61E-A040B51BA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C7E3731F-3778-C8B0-3714-D84317D1F17F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CC18A0C-FF54-6E23-82D5-E5A9732AA6CC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0F1F09B-D4FB-DBAA-A6A9-700CDC704344}"/>
              </a:ext>
            </a:extLst>
          </p:cNvPr>
          <p:cNvSpPr txBox="1"/>
          <p:nvPr/>
        </p:nvSpPr>
        <p:spPr>
          <a:xfrm>
            <a:off x="359999" y="722826"/>
            <a:ext cx="644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14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9DF0CA-F86A-DC16-8D61-E43548C6AB39}"/>
              </a:ext>
            </a:extLst>
          </p:cNvPr>
          <p:cNvSpPr txBox="1"/>
          <p:nvPr/>
        </p:nvSpPr>
        <p:spPr>
          <a:xfrm>
            <a:off x="1235998" y="757300"/>
            <a:ext cx="79080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제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3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단계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-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기획 지향성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(1960s~)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의 등장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7C9720C-0945-B93D-C619-CC36EA39330E}"/>
              </a:ext>
            </a:extLst>
          </p:cNvPr>
          <p:cNvSpPr txBox="1"/>
          <p:nvPr/>
        </p:nvSpPr>
        <p:spPr>
          <a:xfrm>
            <a:off x="1079999" y="1671814"/>
            <a:ext cx="10390741" cy="3961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경제 분석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거시 및 미시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 재정 및 예산 정책 형성에 점점 더 큰 역할을 해왔습니다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...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새로운 정보 및 의사결정 기술의 발전은 정책 결정에 대한 객관적 분석의 적용 가능성을 확대했습니다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 "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케인즈주의자들은 중앙 예산 기능의 주요한 재진술을 촉발시켰습니다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...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후생 경제학은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... '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활동 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B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대신 활동 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A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에 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x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달러를 배분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할지 여부를 결정할 이론의 부재를 지적했던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... V. O.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키의 논문의 개념적 토대를 제공했습니다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경제학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케인즈주의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+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후생경제학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과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정보기술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시스템분석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컴퓨터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 진보가 예산 제도에 도입됨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→ 거시적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재정정책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미시적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배분적 효율성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경제분석을 수행하는 도구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;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계량경제학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비용편익분석 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를 적극적으로 활용하게 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4D8862DF-C397-E176-E977-E554FCE667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D4ECF80F-809E-ABA3-A7F0-615F3FB56AEC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80123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571CE-DF7F-9700-8575-FC38070C6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3545257-E302-2DB3-F9AE-BC13017351B4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53CCB2A-F342-D73C-6AC4-0A95CE51C326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948CCF-5183-9350-FFE4-465DC6E619FF}"/>
              </a:ext>
            </a:extLst>
          </p:cNvPr>
          <p:cNvSpPr txBox="1"/>
          <p:nvPr/>
        </p:nvSpPr>
        <p:spPr>
          <a:xfrm>
            <a:off x="359999" y="722826"/>
            <a:ext cx="644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15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69A170-A4C2-81EB-6C8C-AAE9BCA6795E}"/>
              </a:ext>
            </a:extLst>
          </p:cNvPr>
          <p:cNvSpPr txBox="1"/>
          <p:nvPr/>
        </p:nvSpPr>
        <p:spPr>
          <a:xfrm>
            <a:off x="1235998" y="757300"/>
            <a:ext cx="79080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시스템 분석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(Systems Analysis)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의 역할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4FD03C7-B2F9-124F-8567-E3D7DB1D7917}"/>
              </a:ext>
            </a:extLst>
          </p:cNvPr>
          <p:cNvSpPr txBox="1"/>
          <p:nvPr/>
        </p:nvSpPr>
        <p:spPr>
          <a:xfrm>
            <a:off x="1079999" y="1671814"/>
            <a:ext cx="10390741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시스템 분석은 국방부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(DOD)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에서 무기 시스템의 선택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...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에 적용되었습니다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국방부에서의 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성공 사례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가 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PPB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 도래를 몇 년 또는 그 이상 앞당겼다는 것은 의심할 여지가 없습니다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국방부 장관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맥나마라는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무기 체계 선정에 시스템 분석을 도입해 비효율을 제거함 → 복잡한 정책 목표와 수단 간의 관계를 분석하고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최적의 대안을 찾아내는 과학적 방법론이 예산 과정에 통합된 결과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0B97EBA5-FB3C-6438-8BD7-E2ACA0B302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3E504A2A-CB7C-7A24-DA1B-20BEFFC36490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93180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F7F88-441F-3A3F-6F80-B57397A53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D0E3FBD7-E86E-1900-BC10-DCBA7DA4071D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3DED11B-C967-B911-5394-30CE669A6D48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2816B0-2528-9E19-402A-1DAAF182543B}"/>
              </a:ext>
            </a:extLst>
          </p:cNvPr>
          <p:cNvSpPr txBox="1"/>
          <p:nvPr/>
        </p:nvSpPr>
        <p:spPr>
          <a:xfrm>
            <a:off x="359999" y="722826"/>
            <a:ext cx="644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16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50868E1-C1E5-E447-82B4-725E0E4F3C7C}"/>
              </a:ext>
            </a:extLst>
          </p:cNvPr>
          <p:cNvSpPr txBox="1"/>
          <p:nvPr/>
        </p:nvSpPr>
        <p:spPr>
          <a:xfrm>
            <a:off x="1235998" y="757300"/>
            <a:ext cx="79080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기획과 예산의 융합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(PPB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의 본질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350EBE-EE04-EAD7-1239-98C4824E4CFA}"/>
              </a:ext>
            </a:extLst>
          </p:cNvPr>
          <p:cNvSpPr txBox="1"/>
          <p:nvPr/>
        </p:nvSpPr>
        <p:spPr>
          <a:xfrm>
            <a:off x="1079999" y="1671814"/>
            <a:ext cx="10390741" cy="40349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</a:t>
            </a:r>
            <a:r>
              <a:rPr lang="ko-KR" altLang="en-US" sz="24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기획가들의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운영 규약에는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... (1)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기획은 미래 지향적입니다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... (2)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기획은 포괄성을 위해 노력합니다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... (3)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기획은 수단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-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목표 지향적입니다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...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기획 지향성으로의 이행 과정에서 나타나는 몇 가지 추세들을 개괄했습니다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기존의 문제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기획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장기 계획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과 예산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(1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년짜리 돈 배정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 따로 놀았음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→ 계획은 예산 없이 공허했고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예산은 계획 없이 근시안적이었음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PPB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 해결책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기획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(Planning)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을 통해 목표를 세우고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이를 프로그램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(Programming)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화 하여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(Budgeting)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으로 뒷받침하는 일원화된 시스템 구축됨으로써 예산의 비효율을 최소화할 수 있게 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845AD545-2779-02A4-7135-E40D01AB2F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EB8BAA58-9A5B-D719-E091-BB5FFB5581F2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05943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20291-DAA6-83D1-F740-550A0BB65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DB8BF52-470F-8E1E-104F-48BF7DB999A2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B798A29-9219-8601-5113-0E738A182C27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232C28-A38F-390C-6DCD-8937F5704920}"/>
              </a:ext>
            </a:extLst>
          </p:cNvPr>
          <p:cNvSpPr txBox="1"/>
          <p:nvPr/>
        </p:nvSpPr>
        <p:spPr>
          <a:xfrm>
            <a:off x="359999" y="722826"/>
            <a:ext cx="644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17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32A733-3502-E78E-7684-6DF0E4C0EDF7}"/>
              </a:ext>
            </a:extLst>
          </p:cNvPr>
          <p:cNvSpPr txBox="1"/>
          <p:nvPr/>
        </p:nvSpPr>
        <p:spPr>
          <a:xfrm>
            <a:off x="1235998" y="757300"/>
            <a:ext cx="79080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의사결정의 변화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(1) -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정당화에서 분석으로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65CA939-9C98-F26E-E6E2-050473C45F76}"/>
              </a:ext>
            </a:extLst>
          </p:cNvPr>
          <p:cNvSpPr txBox="1"/>
          <p:nvPr/>
        </p:nvSpPr>
        <p:spPr>
          <a:xfrm>
            <a:off x="1079999" y="1671814"/>
            <a:ext cx="10390741" cy="3074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모든 차이점들은 예산 편성의 정신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(ethos)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 정당화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(justification)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에서 분석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(analysis)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으로 이동할 것이라는 진술로 요약될 수 있습니다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과거에는 부처는 예산을 더 따내기 위해 자신의 요구를 방어하고 합리화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(Justification)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하는 데 급급했음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PPB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이후의 예산과정은 객관적인 데이터와 비용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-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편익 분석을 통해 어떤 대안이 국가 목표에 부합하는지를 따지는 과정이 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8BDBA8BB-C928-18E5-8BED-15F55F79C6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8AD88302-76A8-2205-6C2C-23EFAFA8516B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74257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C0A7C-D685-1E4E-4A52-F45FFD26A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BD303B4F-44E6-677B-C2FE-A27DF2718992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1E030D6-7DE1-839A-2D2B-35E39AE72745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695A38-25C4-3093-A71F-C4106858B33A}"/>
              </a:ext>
            </a:extLst>
          </p:cNvPr>
          <p:cNvSpPr txBox="1"/>
          <p:nvPr/>
        </p:nvSpPr>
        <p:spPr>
          <a:xfrm>
            <a:off x="359999" y="722826"/>
            <a:ext cx="644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18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C687A4-BB9B-FC73-47EA-CE1E2986D35C}"/>
              </a:ext>
            </a:extLst>
          </p:cNvPr>
          <p:cNvSpPr txBox="1"/>
          <p:nvPr/>
        </p:nvSpPr>
        <p:spPr>
          <a:xfrm>
            <a:off x="1235998" y="757300"/>
            <a:ext cx="79080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의사결정의 변화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(2) -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점증주의에서 목적 지향으로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C89AE76-2DD7-293F-9A37-C755831FA601}"/>
              </a:ext>
            </a:extLst>
          </p:cNvPr>
          <p:cNvSpPr txBox="1"/>
          <p:nvPr/>
        </p:nvSpPr>
        <p:spPr>
          <a:xfrm>
            <a:off x="1079999" y="1671814"/>
            <a:ext cx="10390741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"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전통적인 환경 하에서의 선택의 환경은 점증적입니다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PPB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에서의 그것은 목적 지향적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en-US" altLang="ko-KR" sz="24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teletic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입니다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... PPB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는 예산의 목표와 목적의 관점에서 그 임무를 정의합니다 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- '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우리는 어디로 가고 싶은가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?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거기에 도달하기 위해 무엇을 할 것인가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?’”</a:t>
            </a: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점증주의 예산에서는 작년 예산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(Base)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은 건드리지 않고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증액분만 논의함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보수적 관점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→ 하지만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PPB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개혁 하에서 예산 편성은 목적 지향적임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즉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목표 달성을 위해서라면 기존 사업도 원점에서 재검토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(Zero-base)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할 수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PPBS, ZBB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와 비용편익분석 등 분석적 방법은 매우 밀접한 관련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FC1FE62A-343F-0372-B87B-5099BFBEE2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680F911A-79AB-7874-03EE-9F292C5CC4B4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14699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F9054-4F71-89BC-8BFC-D09DC3862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CEBC5CC4-A817-20F3-ED85-44085BAB5752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54F5121-F9D0-9A39-E584-9FC63F5DC0CD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D41913F-3A7A-ECD5-1B63-DF0EA63055CE}"/>
              </a:ext>
            </a:extLst>
          </p:cNvPr>
          <p:cNvSpPr txBox="1"/>
          <p:nvPr/>
        </p:nvSpPr>
        <p:spPr>
          <a:xfrm>
            <a:off x="359999" y="722826"/>
            <a:ext cx="644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19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63B09C-D428-F40C-8927-AB05B145FF41}"/>
              </a:ext>
            </a:extLst>
          </p:cNvPr>
          <p:cNvSpPr txBox="1"/>
          <p:nvPr/>
        </p:nvSpPr>
        <p:spPr>
          <a:xfrm>
            <a:off x="1235998" y="757300"/>
            <a:ext cx="79080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의사결정의 변화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(3) -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상향식에서 하향식으로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F31142B-6938-E35A-BD61-6CF7CA6AC000}"/>
              </a:ext>
            </a:extLst>
          </p:cNvPr>
          <p:cNvSpPr txBox="1"/>
          <p:nvPr/>
        </p:nvSpPr>
        <p:spPr>
          <a:xfrm>
            <a:off x="1079999" y="1671814"/>
            <a:ext cx="10390741" cy="40349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확립된 기준선에 전념하는 예산 편성에서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 결정의 흐름은 상향식이며 집합적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(aggregative)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입니다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... PPB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는 정보 및 의사결정의 흐름을 역전시킵니다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...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목적과 계획을 결정하는 비판적인 의사결정 과정은 하향식이며 분해적인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en-US" altLang="ko-KR" sz="24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disaggregative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흐름을 갖습니다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상향식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(Bottom-up):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아래에서 올라온 요구를 합산하여 예산 편성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통제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/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관리 지향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하향식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(Top-down):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위에서 국가 목표와 정책 지침을 먼저 내리면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아래에서 구체적 사업을 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기획 지향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상향식 예산제도는 점증적 예산 팽창에 취약한 특성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7A22749A-1233-4512-8A49-279727FB59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69F036C5-37BA-74E5-8E8E-5194F9EF7068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30186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16105-3758-3032-B4E9-188B95093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E06148BE-504A-B570-0197-8FA8C64EE5D1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7BDEB6E-FB2B-7E62-02CC-558EAAD8B30A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A9C299-8012-8F2A-9CF7-428F79F22E08}"/>
              </a:ext>
            </a:extLst>
          </p:cNvPr>
          <p:cNvSpPr txBox="1"/>
          <p:nvPr/>
        </p:nvSpPr>
        <p:spPr>
          <a:xfrm>
            <a:off x="359999" y="722826"/>
            <a:ext cx="644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20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C6E10C-2294-D6A5-055D-E9EDCB19177D}"/>
              </a:ext>
            </a:extLst>
          </p:cNvPr>
          <p:cNvSpPr txBox="1"/>
          <p:nvPr/>
        </p:nvSpPr>
        <p:spPr>
          <a:xfrm>
            <a:off x="1235998" y="757300"/>
            <a:ext cx="79080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'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예산적 인간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'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의 가정과 한계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16D2D1C-2AC0-E302-AD9F-81C1D900205E}"/>
              </a:ext>
            </a:extLst>
          </p:cNvPr>
          <p:cNvSpPr txBox="1"/>
          <p:nvPr/>
        </p:nvSpPr>
        <p:spPr>
          <a:xfrm>
            <a:off x="1079999" y="1671814"/>
            <a:ext cx="10390741" cy="459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“PPB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는 각 참여자가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...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일종의 예산적 인간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(Budgetary Man)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처럼 행동할 것을 함축합니다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예산적 인간은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...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효율성 규칙에 대한 확고한 헌신에 의해 인도된다고 가정됩니다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... PPB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는 아마도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...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 편성의 전략적이고 의지적인 측면을 과소평가합니다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매몰 비용의 정치적 표현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즉 기득권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(vested interests)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 급진적인 </a:t>
            </a:r>
            <a:r>
              <a:rPr lang="ko-KR" altLang="en-US" sz="20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이탈로부터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벗어나는 방향으로 결정을 </a:t>
            </a:r>
            <a:r>
              <a:rPr lang="ko-KR" altLang="en-US" sz="20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편향시킬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것입니다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따라서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정치 시스템의 보수성은 전통적인 접근 방식과 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PPB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접근 방식 간의 의사결정 차이를 최소화하는 경향이 있을 것입니다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PPB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는 모든 관료가 경제학자처럼 합리적이고 효율성을 추구할 것이라 보지만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현실의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관료와 정치인은 자신의 부서 이익이나 정치적 목적을 위해 데이터를 왜곡하거나 분석 결과를 무시할 수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PPB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가 아무리 합리적인 분석 결과를 내놓아도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이미 예산을 받고 있는 기득권 세력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매몰 비용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 저항 때문에 급격한 예산 변경은 어려움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F5D28393-3ECB-CB6D-5714-19A6714A08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569AC806-CFC7-40EB-AC8E-F8BBABB5F902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70701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E48E2-7A28-5F1D-EF0D-9B5283691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115F4A1C-EF18-F801-7987-94A3BE580EAE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AE198B0-1072-CED2-C1DC-EBE6904F52F9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A2EEA3-48A5-6376-8799-BB288FF56205}"/>
              </a:ext>
            </a:extLst>
          </p:cNvPr>
          <p:cNvSpPr txBox="1"/>
          <p:nvPr/>
        </p:nvSpPr>
        <p:spPr>
          <a:xfrm>
            <a:off x="359999" y="722826"/>
            <a:ext cx="644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21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1DC131-778F-F4C6-E3EF-1989753C588B}"/>
              </a:ext>
            </a:extLst>
          </p:cNvPr>
          <p:cNvSpPr txBox="1"/>
          <p:nvPr/>
        </p:nvSpPr>
        <p:spPr>
          <a:xfrm>
            <a:off x="1235998" y="757300"/>
            <a:ext cx="79080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결론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-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미래의 예산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7F4621-4608-86B0-E7B6-797BCE090029}"/>
              </a:ext>
            </a:extLst>
          </p:cNvPr>
          <p:cNvSpPr txBox="1"/>
          <p:nvPr/>
        </p:nvSpPr>
        <p:spPr>
          <a:xfrm>
            <a:off x="1079999" y="1671814"/>
            <a:ext cx="10390741" cy="419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“PPB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하에서 이러한 에너지는 우리가 사전준비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en-US" altLang="ko-KR" sz="20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prepreparation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라고 부를 수 있는 단계 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-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즉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정책을 다루고 예산 준비에 선행하는 예산 편성 단계에 집중될 것입니다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...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미래의 예산 시스템은 과거의 발전과 새롭게 등장하는 발전 모두의 산물이 될 것입니다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즉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그것은 예산 개혁의 초기 단계 동안 도입된 예산 </a:t>
            </a:r>
            <a:r>
              <a:rPr lang="ko-KR" altLang="en-US" sz="20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기능들뿐만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아니라 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PPB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에 의해 강조되는 기획 기능까지도 포용할 것입니다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예산국은 각 부처가 예산을 요구하기 전에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국가적 차원의 목표와 정책 지침을 수립하는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사전 기획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과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정책 분석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 사령탑이 되어야 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PPB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가 모든 것을 대체하는 것이 아니며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통제의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책임성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관리의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효율성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기획의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효과성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 조화를 이루는 다목적 예산 시스템으로 나아가는 것이 예산 개혁의 최종 지향점임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4116F18A-0FCB-8927-44C1-D4A2C6CB5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6957E3FE-C98A-5DB6-83B9-324874F37CCB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22888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C8635D4-D3E2-C1C1-2DF9-711C09D1EC0A}"/>
              </a:ext>
            </a:extLst>
          </p:cNvPr>
          <p:cNvCxnSpPr>
            <a:cxnSpLocks/>
          </p:cNvCxnSpPr>
          <p:nvPr/>
        </p:nvCxnSpPr>
        <p:spPr>
          <a:xfrm>
            <a:off x="2152783" y="717177"/>
            <a:ext cx="9727217" cy="2823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DE01540-6402-0BA0-5B48-1A12659FE302}"/>
              </a:ext>
            </a:extLst>
          </p:cNvPr>
          <p:cNvSpPr txBox="1"/>
          <p:nvPr/>
        </p:nvSpPr>
        <p:spPr>
          <a:xfrm>
            <a:off x="4874350" y="3075057"/>
            <a:ext cx="2443298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rtlCol="0">
            <a:spAutoFit/>
          </a:bodyPr>
          <a:lstStyle/>
          <a:p>
            <a:pPr algn="dist"/>
            <a:r>
              <a:rPr lang="ko-KR" altLang="en-US" sz="40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감사합니다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D89A27F3-6396-4A24-947F-2EDC13EB62AA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3755EA48-AAC8-8D9F-CFA6-5208CD71E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C8A388A4-7040-6B9A-9AE1-834C88364A48}"/>
              </a:ext>
            </a:extLst>
          </p:cNvPr>
          <p:cNvGrpSpPr/>
          <p:nvPr/>
        </p:nvGrpSpPr>
        <p:grpSpPr>
          <a:xfrm>
            <a:off x="361144" y="531548"/>
            <a:ext cx="1635639" cy="371258"/>
            <a:chOff x="303023" y="453495"/>
            <a:chExt cx="1357980" cy="305606"/>
          </a:xfrm>
        </p:grpSpPr>
        <p:grpSp>
          <p:nvGrpSpPr>
            <p:cNvPr id="9" name="그룹 1004">
              <a:extLst>
                <a:ext uri="{FF2B5EF4-FFF2-40B4-BE49-F238E27FC236}">
                  <a16:creationId xmlns:a16="http://schemas.microsoft.com/office/drawing/2014/main" id="{C2047555-F6C8-2082-96FB-974FF14E9C11}"/>
                </a:ext>
              </a:extLst>
            </p:cNvPr>
            <p:cNvGrpSpPr/>
            <p:nvPr/>
          </p:nvGrpSpPr>
          <p:grpSpPr>
            <a:xfrm>
              <a:off x="303023" y="453495"/>
              <a:ext cx="305606" cy="305606"/>
              <a:chOff x="7252263" y="581291"/>
              <a:chExt cx="1251000" cy="1251000"/>
            </a:xfrm>
          </p:grpSpPr>
          <p:pic>
            <p:nvPicPr>
              <p:cNvPr id="12" name="Object 13">
                <a:extLst>
                  <a:ext uri="{FF2B5EF4-FFF2-40B4-BE49-F238E27FC236}">
                    <a16:creationId xmlns:a16="http://schemas.microsoft.com/office/drawing/2014/main" id="{A816CA28-ED33-29B0-8851-0B9BAB3111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7252263" y="581291"/>
                <a:ext cx="1251000" cy="1251000"/>
              </a:xfrm>
              <a:prstGeom prst="rect">
                <a:avLst/>
              </a:prstGeom>
            </p:spPr>
          </p:pic>
        </p:grpSp>
        <p:grpSp>
          <p:nvGrpSpPr>
            <p:cNvPr id="10" name="그룹 1007">
              <a:extLst>
                <a:ext uri="{FF2B5EF4-FFF2-40B4-BE49-F238E27FC236}">
                  <a16:creationId xmlns:a16="http://schemas.microsoft.com/office/drawing/2014/main" id="{E80146EE-C903-87DE-0B04-EFB7BD1B165A}"/>
                </a:ext>
              </a:extLst>
            </p:cNvPr>
            <p:cNvGrpSpPr/>
            <p:nvPr/>
          </p:nvGrpSpPr>
          <p:grpSpPr>
            <a:xfrm>
              <a:off x="681789" y="472805"/>
              <a:ext cx="979214" cy="286296"/>
              <a:chOff x="4978293" y="70686"/>
              <a:chExt cx="1725714" cy="504552"/>
            </a:xfrm>
          </p:grpSpPr>
          <p:pic>
            <p:nvPicPr>
              <p:cNvPr id="11" name="Object 22">
                <a:extLst>
                  <a:ext uri="{FF2B5EF4-FFF2-40B4-BE49-F238E27FC236}">
                    <a16:creationId xmlns:a16="http://schemas.microsoft.com/office/drawing/2014/main" id="{2EBFA3EB-50D2-8153-CCB7-97A94AEAF1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978293" y="70686"/>
                <a:ext cx="1725714" cy="504552"/>
              </a:xfrm>
              <a:prstGeom prst="rect">
                <a:avLst/>
              </a:prstGeom>
            </p:spPr>
          </p:pic>
        </p:grpSp>
      </p:grp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948503B-7E35-726A-03B0-63A0FC981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0505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4638</TotalTime>
  <Words>2214</Words>
  <Application>Microsoft Office PowerPoint</Application>
  <PresentationFormat>와이드스크린</PresentationFormat>
  <Paragraphs>113</Paragraphs>
  <Slides>23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9" baseType="lpstr">
      <vt:lpstr>경기천년제목 Bold</vt:lpstr>
      <vt:lpstr>경기천년제목 Light</vt:lpstr>
      <vt:lpstr>맑은 고딕</vt:lpstr>
      <vt:lpstr>이사만루체 Bold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KKD</dc:creator>
  <cp:lastModifiedBy>KKD</cp:lastModifiedBy>
  <cp:revision>1096</cp:revision>
  <dcterms:created xsi:type="dcterms:W3CDTF">2025-03-10T02:54:00Z</dcterms:created>
  <dcterms:modified xsi:type="dcterms:W3CDTF">2025-11-24T01:14:24Z</dcterms:modified>
</cp:coreProperties>
</file>