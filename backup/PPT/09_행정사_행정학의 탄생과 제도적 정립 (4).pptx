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31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25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서론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“이제 행정 연구의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대상’과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목적’을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살펴보았으니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그에 맞는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방법’을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검토해야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정부는 시민의 생활에 너무 밀착되어 있어 연구의 거리를 확보하기 어려움 → 너무 오래 서 있어 이제 와서 ‘걷는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배우기 어려운 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민주정은 성숙했지만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새로운 조건 속에서 제도 설계가 여전히 미완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단순한 이론이 아니라 운영의 과학적 방법을 통해 실천적 토대를 다져야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훈련되지 않은 민주주의자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“우리는 통치를 연구하지 않는다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통치한다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미국인은 오랜 실험과 훈련으로 자치에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능숙해졌으나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운영에서는 아직 준비 부족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민주정은 오래되었지만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현대적 조건에 맞는 조직과 기법은 불완전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도시화가 가져온 거대한 행정 부담에 대응할 지식과 기술이 절실하게 요구됨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비교연구 없이는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행정이 민주국가에서는 비민주국가와 ‘본질적으로 다른’ 토대 위에 선다고 하는 오해를 떨쳐 버릴 수 없음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정부에 공통되는 좋은 행정의 규칙은 오직 하나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비교 연구의 필요성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 기능의 본질에서 모든 정부는 강한 구조적 유사성을 지닌다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민주정과 군주정은 정치 원리가 다르지만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치안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 같은 행정 과제는 유사함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보편적 행정 규칙은 체제와 상관없이 모든 정부에 적용 가능한 것임 → 행정의 과학화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비교 연구를 통해 이러한 구조적 유사성을 밝히는 것이 민주정의 완성을 위한 안전한 방법이라고 할 수 있음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외국 제도의 차용 논리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“쌀을 빌려 왔지만 젓가락으로 먹지는 않는다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외국의 제도를 그대로 이식하는 것은 불가능 → 그러나 특정한 장치나 절차는 선택적으로 수용할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핵심은 정치적 원리를 유지하면서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운영의 기술적 요소만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자기화하는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규제영향분석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(Regulatory Impact Analysis)?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A0F6-E109-6122-3E13-362F01A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ACFCFFF-FE2C-BBD9-10BA-C98AF04D338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44B15F-59E9-F14B-2947-BF7AF50D91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60B18F-312A-9621-7279-63D6BF8671E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C0B88-53C8-F9A0-71C8-7221E7DA2B2D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비교연구의 안전성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44B1C-87A6-7582-9E47-4FB042196665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“행정과 정치의 구분이 비교연구를 안전하게 만든다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“살의를 가진 자가 칼을 가는 것을 본다면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살인의 의도는 빌리지 않고 칼 가는 기술만 빌린다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정치의 의지를 집행하는 영역이므로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외국 제도를 연구해도 정치 원리는 흔들리지 않음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효율적 운영방식은 어디에서나 민주정 운영을 강화하는 데 활용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군주정의 행정 방식도 민주정에 그대로 적용할 수 있는 부분이 있으며 정치적 의도는 차용하지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 방법만 학습하는 것이 가능함  → 행정학은 바로 이런 운영 기술의 정제와 선택적 도입을 학문적 과제로 삼는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F8D5C67-ABDF-1662-789A-2EEAEF046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4306CA-1E43-5DAC-579C-5FCB4FE5B14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4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8E37-5942-CDDC-72D0-5E35CAA7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50C8DF-1023-2124-B504-6400A6552E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341D4-E068-1AA2-2FC4-F947CAF940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DE3D0-7B27-DF19-1A0F-D24647756329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6F0FA-CD7A-BA27-33C9-D9A4A7200EF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행정학의 미국화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4D1D9-2CCD-68EA-98D6-CE9AA14BBC59}"/>
              </a:ext>
            </a:extLst>
          </p:cNvPr>
          <p:cNvSpPr txBox="1"/>
          <p:nvPr/>
        </p:nvSpPr>
        <p:spPr>
          <a:xfrm>
            <a:off x="1079999" y="1671814"/>
            <a:ext cx="10390741" cy="425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“외국의 가스를 증류해 날려 버리고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우리의 헌법으로 걸러내야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“읍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연방 정부가 각기 자기 주인인 동시에 상호부조로 연결된다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외국 학문을 무비판적으로 도입하는 것은 위험 → 모든 제도와 이론은 헌법적 필터링을 거쳐 미국 민주정에 맞게 재구성해야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행정의 특수성은 다층적 자치와 상호의존적 구조에 있음 → 각 수준의 정부가 독립성과 상호부조를 동시에 확보해야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민주적 헌법과 미국인의 습속에 맞춘 자기화 과정이자 다층적 구조를 효율적으로 설계하는 과학이라고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E3E145-7785-5969-7C09-3EA7D9DF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60FEBB-100C-D6A4-73A4-DA17D8C0BD9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2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808F-3E2D-45D7-2C97-EE05CF3D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B04F608-7489-91D9-0368-6C05E758957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5A918D-E15C-720A-6A57-DC8DB1F35C2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21A9F-F2EE-6A0E-1833-D9B58B0535F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663FD-9C20-25CB-3F43-65AE1F1A8ED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교의와 실천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7326A6-E9E1-BC31-FDF7-05FD15A8985D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“교의는 언제나 뒤로 물러나야 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실천적 국정운영이 맨 앞에 와야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추상적 교의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(doctrine)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 구체적이고 검증된 운영 방식이 우선되어야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공리주의적 이론도 실제 상황에서의 유용성과 적합성이 전제될 때 의미를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교리를 따지는 철학이 아니라 실천적 운영 기술의 과학임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예송논쟁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E027483-F2AF-C8F5-0CD3-E46996EC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3C03DAE-B350-D3E6-822F-3F1FB22A1E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85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5CFE0-56C0-26C3-E83D-2C416C45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74748D-F92B-9567-8879-328379BDFDE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13847B-FDE1-A645-1963-60DA10865F3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F6D843-7A07-7EB1-47B2-7E6C9D68DE9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05EA29-62F8-0428-CC3C-01F72E7CAEC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공직자와 공동체 봉사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208204-435E-E3EA-06DB-6C7D7842164D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“공직자는 상관만이 아니라 공동체 전체를 섬겨야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“정부 기계의 새 힘은 새 구동부품을 필요로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공직자의 생계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야심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명예가 공동체 봉사와 연결되도록 제도 설계가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개인의 동기와 공익이 충돌하지 않게 조율해야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민주정은 이러한 윤리적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조건이 보장될 때 안정적으로 작동할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공무원은 단순한 충성심이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전문적 역량을 갖추어야 함 → 기술적으로 훈련된 공직자 집단은 민주행정의 필수 기반임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9D0135-4D5E-8437-AF60-1DCBC895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128D68E-0B88-48DB-AA3E-190C9828A92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7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9FE1-40E9-D1CA-58E1-DCCE7471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D1A9F5-81D4-6582-7B07-7FB096B2212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276625-CE89-A5AD-415A-DE28F5444ED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E2262-6249-FB18-F13B-FD46F443F73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547B87-4FBC-1091-5D89-B2C8C0AC919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세계적 연합의 경향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E0D33-21E5-ECA1-25F4-4398970DD5B0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“경향은 결국 거대한 국가들의 연합으로 향한다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“행정은 정치적 삶의 일부이지만 동시에 정치적 진리들과 직접 연결된다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미래는 권력집중이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민주국가 간 협력적 연합으로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나아감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미국식 행정 모델은 국제 협력과 연합체제의 표준이 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민주정의 불완전성을 보완하는 운영의 과학임 → 행정학은 국제적 제도 설계와 거버넌스 체계 구축에 기여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자유와 공익을 보장하는 책임 있는 민주행정이 행정학의 최종 과제임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7401234-E97A-6ECF-2A94-C6DE603E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245F903-BF61-B0E6-D03D-F7E78B68FAE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34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5D0B-B85A-9701-9193-26C65CD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63D78E-B149-6DB5-D1F6-7751D587C0E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A9D4C-0879-ED7D-48B8-B1B679A8494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3AD09-9485-9C7A-A5A1-801FE9F47B2A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1E5AF-862C-33CA-71C2-E28E50D043A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정부의 두가지 기능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6BCDBC-F3BB-0E8A-8B0A-8EF25198113F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“정부에는 두 가지 구별되는 기능이 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두 가지 기능은 각각 정치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(Politics)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행정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(Administration)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의지를 표명하는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무엇을 할지 결정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결정된 국가 의지를 실제로 집행하는 과정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정치행정이원론의 핵심은 단순히 양자가 분리되어 있다 내지는 분리되어야 한다가 아니라 기능적 구분을 통한 조화 필요성을 강조하는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B9D105-70F1-9BF9-41F5-90516CBF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E076EE-9BC6-080E-F576-7AFE744845D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567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3F92-CF96-FB5A-A732-F83DEF6B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B48B62-6BCC-987B-C00F-A674245D9C6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5812C3-E4A5-0A1B-BBD6-D1237481A44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0AD75-7559-21F0-6F55-54155297D029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3F0D7-DB62-A63A-9546-A4E6D8A81BB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 의지 집행의 세 권한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10D869-9AA2-9BEA-BE77-3C89A31FE7FC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“국가 의지의 집행에 종사하는 세 종류의 권한 당국이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행정 당국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(judicial):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구체적 사건에 법 적용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권리 침해 분쟁 해결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행정감독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(executive):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정책 집행에 대한 일반적 감독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(administrative):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서비스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상업적 활동 담당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세 권한은 서로 분화되어 있으면서도 모두 집행 기능에 속함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00767EE-365C-05D8-FC0E-47DD0778F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9658A27-7131-3A76-753C-2F75330CBD6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79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F188-CDE0-F6ED-D9F0-D1DEC9E7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B49054-0676-4FD6-FCF9-61A82EDC11C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1116E9-10C9-9EAE-0966-456274E820D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A5BAF-4738-AC86-A923-E163805EF5FD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6253F-A667-A2B4-AD5E-08D902AE845D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감독과 집행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E83C597-11A6-B7BC-F757-3A1582770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3B92F40-F458-5D92-EAF4-8A2B0C2462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BDBE43B-0D3B-E2F4-49BE-A1B6CC7A3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33502"/>
              </p:ext>
            </p:extLst>
          </p:nvPr>
        </p:nvGraphicFramePr>
        <p:xfrm>
          <a:off x="838200" y="2054721"/>
          <a:ext cx="10750236" cy="3017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2160">
                  <a:extLst>
                    <a:ext uri="{9D8B030D-6E8A-4147-A177-3AD203B41FA5}">
                      <a16:colId xmlns:a16="http://schemas.microsoft.com/office/drawing/2014/main" val="1779041121"/>
                    </a:ext>
                  </a:extLst>
                </a:gridCol>
                <a:gridCol w="4128381">
                  <a:extLst>
                    <a:ext uri="{9D8B030D-6E8A-4147-A177-3AD203B41FA5}">
                      <a16:colId xmlns:a16="http://schemas.microsoft.com/office/drawing/2014/main" val="451811408"/>
                    </a:ext>
                  </a:extLst>
                </a:gridCol>
                <a:gridCol w="4689695">
                  <a:extLst>
                    <a:ext uri="{9D8B030D-6E8A-4147-A177-3AD203B41FA5}">
                      <a16:colId xmlns:a16="http://schemas.microsoft.com/office/drawing/2014/main" val="1585048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Executive Authority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Administrative Authority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087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/>
                        <a:t>국가 의지 집행에 대한 일반적 감독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/>
                        <a:t>정부의 과학적</a:t>
                      </a:r>
                      <a:r>
                        <a:rPr lang="en-US" altLang="ko-KR" b="0"/>
                        <a:t>·</a:t>
                      </a:r>
                      <a:r>
                        <a:rPr lang="ko-KR" altLang="en-US" b="0"/>
                        <a:t>기술적</a:t>
                      </a:r>
                      <a:r>
                        <a:rPr lang="en-US" altLang="ko-KR" b="0"/>
                        <a:t>·</a:t>
                      </a:r>
                      <a:r>
                        <a:rPr lang="ko-KR" altLang="en-US" b="0"/>
                        <a:t>상업적 활동 수행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98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/>
                        <a:t>정치적 의사결정과 밀접 → 대통령</a:t>
                      </a:r>
                      <a:r>
                        <a:rPr lang="en-US" altLang="ko-KR" b="0"/>
                        <a:t>·</a:t>
                      </a:r>
                      <a:r>
                        <a:rPr lang="ko-KR" altLang="en-US" b="0"/>
                        <a:t>총리 등 최고 집행기관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/>
                        <a:t>공공 서비스 및 세부 집행기관</a:t>
                      </a:r>
                      <a:r>
                        <a:rPr lang="en-US" altLang="ko-KR" b="0"/>
                        <a:t>(</a:t>
                      </a:r>
                      <a:r>
                        <a:rPr lang="ko-KR" altLang="en-US" b="0"/>
                        <a:t>관료조직</a:t>
                      </a:r>
                      <a:r>
                        <a:rPr lang="en-US" altLang="ko-KR" b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09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성격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정치적 요소 강함</a:t>
                      </a:r>
                      <a:r>
                        <a:rPr lang="en-US" altLang="ko-KR" b="0" dirty="0"/>
                        <a:t>: </a:t>
                      </a:r>
                      <a:r>
                        <a:rPr lang="ko-KR" altLang="en-US" b="0" dirty="0"/>
                        <a:t>거부권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고위직 인사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정책 결정에 영향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기술적</a:t>
                      </a:r>
                      <a:r>
                        <a:rPr lang="en-US" altLang="ko-KR" b="0" dirty="0"/>
                        <a:t>·</a:t>
                      </a:r>
                      <a:r>
                        <a:rPr lang="ko-KR" altLang="en-US" b="0" dirty="0"/>
                        <a:t>운영적 성격 강함</a:t>
                      </a:r>
                      <a:r>
                        <a:rPr lang="en-US" altLang="ko-KR" b="0" dirty="0"/>
                        <a:t>: </a:t>
                      </a:r>
                      <a:r>
                        <a:rPr lang="ko-KR" altLang="en-US" b="0" dirty="0"/>
                        <a:t>법률 집행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세금 징수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우편</a:t>
                      </a:r>
                      <a:r>
                        <a:rPr lang="en-US" altLang="ko-KR" b="0" dirty="0"/>
                        <a:t>·</a:t>
                      </a:r>
                      <a:r>
                        <a:rPr lang="ko-KR" altLang="en-US" b="0" dirty="0"/>
                        <a:t>교통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19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Goodnow </a:t>
                      </a:r>
                      <a:r>
                        <a:rPr lang="ko-KR" altLang="en-US" b="1" dirty="0"/>
                        <a:t>시각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/>
                        <a:t>정치와 밀착</a:t>
                      </a:r>
                      <a:r>
                        <a:rPr lang="en-US" altLang="ko-KR" b="0"/>
                        <a:t>, </a:t>
                      </a:r>
                      <a:r>
                        <a:rPr lang="ko-KR" altLang="en-US" b="0"/>
                        <a:t>국민대표성과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전문성</a:t>
                      </a:r>
                      <a:r>
                        <a:rPr lang="en-US" altLang="ko-KR" b="0" dirty="0"/>
                        <a:t>·</a:t>
                      </a:r>
                      <a:r>
                        <a:rPr lang="ko-KR" altLang="en-US" b="0" dirty="0"/>
                        <a:t>효율성을 기반으로 한 집행 실무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294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현대적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/>
                        <a:t>대통령</a:t>
                      </a:r>
                      <a:r>
                        <a:rPr lang="en-US" altLang="ko-KR" b="0"/>
                        <a:t>·</a:t>
                      </a:r>
                      <a:r>
                        <a:rPr lang="ko-KR" altLang="en-US" b="0"/>
                        <a:t>장관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공무원조직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독립 규제기관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기술 관료조직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341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4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C2064-3AA1-3923-AC91-5CC40CD5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BE68A7-F20C-4266-B2B7-2C210456C86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C31BB0-2A83-05AB-0928-0B8E31439BF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C5D86-AB7E-04F5-1299-344880CF69B1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5818B-167A-B948-5FF2-757A0F012E2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정부의 분화 경향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A0A03C-745B-BD04-6780-710AD5DF4EED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“정부가 더욱 복잡해지면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세 권한 당국은 점점 더 분화되는 경향이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사법적 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가장 빠르고 명확하게 독립 → 독자적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권력’으로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인정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분화는 사법의 분화에 비해서는 상대적으로 늦지만 근대 정부의 핵심 발전 과정을 형성하고 있음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복잡성이 커질수록 기능 전문화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분화가 제도적으로 불가피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1DC0390-E460-B9A4-D885-20ADD3C54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163E356-520A-3DED-EECA-93A3789408E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636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17A6-E1E3-2C69-57C9-8A67C5A1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F4285A5-064E-648B-67A8-534E00B36E5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917994-B9B3-421F-4EF2-BD8DE0B749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CAFDA-9776-6CA1-FC92-4A319AE0AC4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971FA-5625-F3ED-D554-2F5C267509CA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정치의 현실적 의미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0255B-D648-72DE-D7E4-3D6C7082ED5F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“정치는 여론에 영향을 미치고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유권자를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끌어모으며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공직을 분배하는 기술을 포함한다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‘이념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논쟁’이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여론 동원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 관리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 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지속을 위해 유권자 설득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후원 네트워크 필요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기능은 본질적으로 대표성과 정당성 확보와 직결됨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3BAE584-21C2-BA89-E995-9252EC24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2F8430-DE62-C938-62DE-F80E637CD69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826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6419-5A2F-9679-061B-C2A38A04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133D24E-C584-F6EA-C507-0804F36432D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1DBEA1-E354-1D4A-B94D-85FF6A4A74B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49DA8-2D33-D67B-0FB9-DD9B07DE4A1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312ECA-6988-2F4A-12E5-A012E91F728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정의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BBBBB-580B-7B9C-F34C-5E518F0BFB7F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“행정은 정부의 의도를 실행하고 일반적 이익을 위한 법률을 적용하는 데 기여하는 공공 서비스의 총체이다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사법을 제외한 모든 집행적 기능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 적용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서비스 제공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 운영 관리 포함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오늘날로 치면 세금 징수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 서비스 등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819AB93-C0C3-6A5F-E264-32A7D91D8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8AB4EA5-E749-15D2-8176-6EDCB400890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93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FA1B-5510-E355-21AB-D2E24B51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52C0C9-BC8A-D6A3-5CE2-A8859B14783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1EDAF1-AC8A-C964-9FEC-4F299CE6A04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25FD97-E022-6183-3EDB-9DD6AA6A4795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DB111-1E13-8ED4-3A39-DDDF5DDDA3C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용어의 혼동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44EC31-9A51-E6B5-B8B5-4CD60067DB0A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“‘행정부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(the administration)’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특정 권한 당국을 의미하지만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기능은 더 포괄적이다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행정’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기능으로서의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집행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실질적 프로세스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행정부’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권한 당국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지칭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혼동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기능을 특정 기관의 활동으로만 한정하는 협의적 오해 발생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CF9E16B-6CF6-F1F9-0F46-952399B6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6C8F2BD-4E34-8805-B461-ECB0C65EE6F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12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04DC6-BA05-3B60-D96F-C69A5623E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30A83E9-9C22-DC61-4C14-3880D0BAD1F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73B2D0E-5570-0CDE-B735-4782048E59E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CB5AB0-E378-24DE-3EAB-65F441AA8B7B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203AFD-D3D8-ADCD-3919-3F8ED6389E95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권력분립 원칙의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B24E1F-BC39-130B-5D39-041B2F1C4A33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“권력 분립의 원칙은 극단적 형태에서는 어떤 정치 조직의 기초가 될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“법과 그 집행 사이에 조화가 부족하면 정치적 마비를 초래한다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사법의 완전한 분리는 현실적으로 불가능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분리를 고집하면 법과 집행 사이 불협화음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마비 초래 → 정치적 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집행 없이는 공허한 선언에 불과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집행이 법적 근거 없이 독립하면 권력 남용 발생 → 정치와 행정은 상호 종속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조율 관계를 맺어야 함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E48C73-97BC-F9D5-3211-A684B99A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B154F5-D8D5-BA10-3F39-2312B1097BA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765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AE58A-9FDC-9F5E-1ADA-DA13D14B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1C30CF1-11AA-5C99-9363-2B3324C71BB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68BBB5-7499-808E-52F7-E6DDA14C9D5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871D76-1EBE-E4DA-1B0E-D803F9B10D5E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131B1-90BF-555F-BF18-E196FEF19EA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민주정부의 원리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1CCB5F-8D67-93EC-8882-8C3975F1C5B2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“인민 정부는 집행 권한 당국이 표명 권한 당국에 종속되어야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“필요한 통제는 정당 체제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(party system)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내에서 발전했다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민주주의에서는 입법부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국민의 직접 대표 → 행정은 국민과 거리가 있기 때문에 정치의 통제를 받아야 정당성 확보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헌법의 권력분립은 지나치게 경직 → 공식적 통제 어려움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정치와 행정의 연결고리를 정당 체제가 보완 → 정당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정책을 매개하며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사실상 조화 장치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161E14A-6B1F-6728-5A32-6179A2276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538ACAA-505A-A0C4-B06E-A6259D5934C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546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6BC3-4397-7244-B68E-4A1C8CF0D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7B6B23E-1493-D794-E5C7-CBE666A0142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2CBA23-5F1F-44B7-2641-2AA6E644B8E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0D0B0-DAC2-B0DB-9AED-68FA52201E7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FE04A-79BF-49B0-6D4E-355020E0D04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 관계의 핵심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04B55-ECCE-D079-06A8-260191C630FA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정치와 행정은 구분되지만 절대적 분리는 불가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민주정부에서는 정치가 행정을 통제해야 조화 가능함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정치가 행정을 어떻게 통제할 것인가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 논쟁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공공봉사동기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행정개혁의 역사는 정치의 행정 통제와 밀접한 관련이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성공적 정부 운영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정치와 행정의 균형 설계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A2B3AF-2DD3-C962-D4EA-49C788090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8AC42A8-E7D9-29CA-B5AF-E78BF49F8F4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526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</TotalTime>
  <Words>1384</Words>
  <Application>Microsoft Office PowerPoint</Application>
  <PresentationFormat>와이드스크린</PresentationFormat>
  <Paragraphs>138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378</cp:revision>
  <dcterms:created xsi:type="dcterms:W3CDTF">2025-03-10T02:54:00Z</dcterms:created>
  <dcterms:modified xsi:type="dcterms:W3CDTF">2025-09-27T09:37:03Z</dcterms:modified>
</cp:coreProperties>
</file>