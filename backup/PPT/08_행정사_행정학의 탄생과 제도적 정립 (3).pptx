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3" r:id="rId15"/>
    <p:sldId id="25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행정의 구분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“행정의 영역은 ‘사업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(business)’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영역이다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정치의 분주함과 다툼으로부터 떨어져 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연구의 목적은 집행 방법을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안정된 원칙 속에 깊게 놓인 토대 위에 올려놓는 데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정치의 투쟁에서 분리된 ‘운영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기술’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시행착오의 비용을 줄이고 원칙 기반의 집행 표준 확립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공무원제 개혁은 포문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조직의 전면 개혁이 다음 단계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 나열을 넘어서 실행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설계 원리를 체계화된 지식으로 정립하는 것이 목적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0B9D-E00A-7BF8-3E7A-66C8022F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BCC9CF0-AAE4-92D9-3613-BD4A49D09E0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B13842-DAC0-4F85-7B6E-FB44FCE5F44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964C2E-A9EA-6767-DC87-3960447432A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3E1AA3-0976-4F64-53A8-835BD3F87723}"/>
              </a:ext>
            </a:extLst>
          </p:cNvPr>
          <p:cNvSpPr txBox="1"/>
          <p:nvPr/>
        </p:nvSpPr>
        <p:spPr>
          <a:xfrm>
            <a:off x="1235998" y="757300"/>
            <a:ext cx="4860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공무원제 개혁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E9A199-23D6-011F-D8E7-9B445B436B4E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“공무원제도 개혁은 이어질 것에 대한 도덕적 준비에 불과하다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복무를 비당파적으로 만듦으로써 그 복무를 ‘업무처럼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(businesslike)’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만들 길을 연다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공정성은 시작점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목적은 업무화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 표준화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연고주의 축소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조직과 운영 방법의 개선으로 이어져야 의미가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채용만으로 성과 보장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프로세스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 구조의 설계가 진짜 개혁의 핵심 동력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역설적으로 채용의 공정성이 확보되지 않는다면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A94A4BF-B62F-F436-8D76-BCA66DD80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5C2C4C-6C08-7646-4B7C-F046628B319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19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03DA-52F4-C0F8-99C2-824BC49F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EA38F73-6F72-3A4F-84C1-78155C9F674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157BC3-74DD-C5B0-7F7B-3887C7FAFED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4774E9-2218-93C2-31FD-8C3FE6FFF00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2F2BC-B3AB-BE31-F57E-1492CBAE502B}"/>
              </a:ext>
            </a:extLst>
          </p:cNvPr>
          <p:cNvSpPr txBox="1"/>
          <p:nvPr/>
        </p:nvSpPr>
        <p:spPr>
          <a:xfrm>
            <a:off x="1235999" y="757300"/>
            <a:ext cx="616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정치와 행정의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308B5-BDBC-1AC4-B267-33BB33218907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“행정은 정치의 적절한 영역 밖에 놓여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정치는 국가의 ‘크고 보편적인 일들’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행정은 ‘개별적이고 소소한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일들’에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있어서의 국가 활동이다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방향과 대원칙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그 방향을 실행하는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전문적 수단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정책은 행정의 도움 없이는 무력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행정≠정치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이분론은 정책결정의 정치적 책임과 집행의 행정적 전문성을 동시에 보장하려는 목적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하지만 현실에서 정책과 행정은 상호작용하며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경계는 모호해짐 → 오히려 현대 거버넌스에서는 명확한 경계보다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시민사회의 협력이 더 중요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B92AF13-C433-5C64-CA42-FCDBE2AC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814FC50-4942-94C6-F5C9-C1AF03E4D73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82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9815-EC91-034C-4B8C-27E9EF2A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090E23F-43FC-1B4D-8DCD-FA8E08F64F1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B0E0E7-FDBA-3F5E-37C5-9C34D7202F8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2F24D1-C6DE-36D0-546F-90CE98B94729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18D2E-9469-6C6C-8BDA-9705DEB3F17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혼동의 위험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C63630-31D7-D708-6733-207C9A8AA031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“행정의 상당 부분은 ‘익명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(incognito)’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돌아다니며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때로는 정치적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매니지먼트’와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 때로는 헌정 원리와 혼동된다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보이지 않는 인프라 → 정치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PR/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 게임과 쉽게 혼동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혼동은 행정의 본질인 전문성과 기술의 문제를 권력분립 논쟁과 뒤섞는 경향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혼동이 심화될수록 정책 실패의 책임 소재가 모호해지거나 서로에게 전가됨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PR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행정 실무의 분리는 단순한 책임 소재 규명의 문제를 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투명한 정보 공유와 명확한 역할 분담을 통해 행정의 가치를 재정립하는 것이 중요하다는 것을 시사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235CB85-9C69-AA74-A2C8-01B8C4833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A2EAE40-6823-7696-7517-A4F0C7DE792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399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78C3-5C5A-173D-9C52-F8AEBF47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5EF80E1-E249-3941-D50C-13EDD2E653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E1E05C-763B-0A0D-7D91-A70C1E24DCC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DDEC49-5613-8127-ABA3-BF44E678B13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82465-85D0-5D58-153A-D3DAD428A7E7}"/>
              </a:ext>
            </a:extLst>
          </p:cNvPr>
          <p:cNvSpPr txBox="1"/>
          <p:nvPr/>
        </p:nvSpPr>
        <p:spPr>
          <a:xfrm>
            <a:off x="1235999" y="757300"/>
            <a:ext cx="5517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법치행정과 민주행정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A64D18-D504-934C-BA96-B3AB1668540F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“자유는 헌정에 비할 바 없이 더 많이 행정에 달려 있다”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니부어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자유의 존재 자체를 보장하는 것은 오직 헌정적 보장이다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아무리 행정이 완전하고 자유롭다 해도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비자유적 정부 원리에 기대고 있다면 그것은 자유의 빈약한 모조품일 뿐이다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국민이 체감하는 자유는 법보다 행정의 실제 운영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행정서비스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방식에 좌우됨 → 하지만 헌정원리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권력분립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기본권보장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기초해야만 진정한 자유를 보장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효율성이라는 가치는 절대적 가치가 아님 → 민주행정의 필요성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65C02D6-7A2D-6C53-2294-33199699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726340-E56A-9648-29FB-59525F91ABB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97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51B2-F0D9-CC60-0F33-4F80768A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E42B9ED-1A8F-4961-27E7-C29BA85D590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61B0B2-E04F-5140-5DF3-1159D475142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4970C-D36C-4212-7C14-AF16EF86CCB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15EE33-F907-4FBD-D55A-A2E874875CCC}"/>
              </a:ext>
            </a:extLst>
          </p:cNvPr>
          <p:cNvSpPr txBox="1"/>
          <p:nvPr/>
        </p:nvSpPr>
        <p:spPr>
          <a:xfrm>
            <a:off x="1235999" y="757300"/>
            <a:ext cx="5146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설계와 수단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30512D-50E8-A35B-BA41-81FEBB5DE964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“행정가는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수단을 선택함에 있어 그 나름의 의지를 가져야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구분은 ‘일반적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설계’와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‘특별한 수단’ 사이의 구분이다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행정가도 재량과 판단을 가진다 → ‘기계적 집행자’ 아님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다만 재량의 범위는 설계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안에서의 수단 선택으로 이해함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선택재량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권한의 배분은 헌정에 관한 이야기지만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행정과도 밀접하게 연관되는 핵심 문제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재량은 책임과 동시에 설계할 필요가 있음 → 책임은 재량의 크기에 비례함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256608-C2D1-51D5-D761-799FBDEB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446E8D-3480-41FB-67BE-D1F7021ADA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35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6010-74EB-88AF-3F2B-92045A11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C667A50-5710-9012-1A7A-D81F8816D58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596B76-FC5D-656B-E628-2EDC5677CF5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5E4542-29D5-3551-CFFF-6DC5ECB6FE0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7E757-8939-5F7A-0E41-17DDE4F02127}"/>
              </a:ext>
            </a:extLst>
          </p:cNvPr>
          <p:cNvSpPr txBox="1"/>
          <p:nvPr/>
        </p:nvSpPr>
        <p:spPr>
          <a:xfrm>
            <a:off x="1235998" y="757300"/>
            <a:ext cx="5834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권한 배분과 책임 설계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F354FF-4DEE-65F4-2175-DB9129F0AAD3}"/>
              </a:ext>
            </a:extLst>
          </p:cNvPr>
          <p:cNvSpPr txBox="1"/>
          <p:nvPr/>
        </p:nvSpPr>
        <p:spPr>
          <a:xfrm>
            <a:off x="1079999" y="1671814"/>
            <a:ext cx="1039074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“행정이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능률적이려면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권한을 훼손하지 않으면서 분할하고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책임을 흐리지 않으면서 분담하는 최선의 방법을 찾아내야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“권력이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여럿에게 분배되면 가려지고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반대로 권력이 복무의 수장과 각 부문의 수장에게 집중되면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권력은 쉽게 감시되고 책임을 물을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다부처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다단계 구조에서는 권한과 책임의 명확한 매핑이 핵심 과제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 분할은 불가피하지만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책임의 연속성이 단절되면 무능과 무책임으로 귀결 반면 전략적 집중과 책임자 명시는 감시와 평가를 용이하게 만들기도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“큰 권한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재량”은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오히려 책임 윤리와 성과 동기를 강화하는 조건이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7412DE2-D45B-E3DD-B9C8-73EC1BCA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511CA5F-75DB-49F8-DB2C-A3E9FDC712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93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6BAA-7D9C-7B70-69AF-B919E975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47E9BB6-147E-6ECE-56C0-446B04579A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9791EB-740E-71DE-C4EB-76DF87D8DA5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17D10-AB06-689A-A967-D5B51A799009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217165-AECB-3E27-9EB8-4A1B8228564F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 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여론의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F5093D-3157-5E06-54F9-25BAF2C41CDB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“여론은 행정의 수행에서 어떤 몫을 가져야 하는가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올바른 답은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여론이 ‘권위 있는 비평가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(authoritative critic)’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몫을 맡아야 한다는 것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여론의 역할은 상시적 감독과 평가이지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 집행 수단에 직접 개입하는 것이 아님 → 직접 개입하는 경우 효율성을 훼손함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민주정은 효율성을 훼손하지 않으면서도 시민의 비판과 감시 기능을 제도화해야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지표 합의에 시민 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실행 수단은 전문가의 재량으로 맡기는 균형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0443CD-D1EC-1152-45E4-F18CAC75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5C6C3F4-5E3E-5262-8584-8BE3727B5C6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22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A05C-66BA-7CC5-5E6F-61876AE2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1019535-F3D6-A316-AFA1-69B328EB5F0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3AEF76-E6F0-3E1D-136E-38803B7EF05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FBFB17-ED58-1F30-6CB6-4584976B3ED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7D19E-4B33-D63F-CD45-D86AA8784C43}"/>
              </a:ext>
            </a:extLst>
          </p:cNvPr>
          <p:cNvSpPr txBox="1"/>
          <p:nvPr/>
        </p:nvSpPr>
        <p:spPr>
          <a:xfrm>
            <a:off x="1235998" y="757300"/>
            <a:ext cx="5662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여론과 행정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2300D-2C96-9273-7AF0-704AC3146650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“우리의 고질적 오류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곧 ‘투표로 너무 많은 일을 하려 드는 오류’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자치’란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모든 일에 손을 얹는 데 있지 않다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 민주주의의 특징은 직접민주적 흡인력이 강해 행정의 자율성을 쉽게 침식함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사안을 투표로 결정하려는 경향은 책임 분산과 품질 저하로 이어지게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기술적 운영의 자율성을 보장해야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시민참여는 범위와 깊이를 규율할 필요가 있음 → 일종의 자제가 필요한 시점도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A397660-E3F6-9925-855A-78E75B93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56DB5DA-F339-9003-974A-AB04E9062D0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55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665A-1114-FD27-AE00-BAF771C9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D76D6AA-A6FF-D550-79E5-594A8C2195F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69B71-6026-22E9-849D-05767B494C3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E342D-704F-0326-7D84-FEC9593CE0C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28DBD-16F3-3DD7-2C97-993117FB71A5}"/>
              </a:ext>
            </a:extLst>
          </p:cNvPr>
          <p:cNvSpPr txBox="1"/>
          <p:nvPr/>
        </p:nvSpPr>
        <p:spPr>
          <a:xfrm>
            <a:off x="1235999" y="757300"/>
            <a:ext cx="5898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직업공무원제의 필요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94147C-D809-01E3-6089-E1EE3053DA55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“보편적 정치교육은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비평가’를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늘리지만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유능한 행정가 집단을 만들지는 못한다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“민주정을 조직하려면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기술적으로 교육된 공무원제를 경쟁시험으로 ‘올려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보내’야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시민과 정치인을 위한 교육은 운영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데이터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조달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가르치지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민주정의 지속성은 실무적 전문성을 갖춘 공무원제 확보에 달려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데이터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프로젝트 관리 능력 등 이 핵심 자격이 되어야 함 → 승진에 있어서도 연공보다 성과와 숙련 곡선을 반영하는 제도로 전환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AD1631D-CE7C-C7BA-0D50-BF2A158E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689C365-BBB5-9337-1E4D-0EBD810661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22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B28E-AD8E-AF62-0BF7-B1B9AAF5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814C6A2-8928-045D-3B9F-6CC0D1E3E17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4CD451-9920-2FDA-4C36-0B2F4861522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ED6CA-FAF3-4FBB-0236-960A5C9EBB1A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82F6C-967C-4FFD-5BE1-F9B767826255}"/>
              </a:ext>
            </a:extLst>
          </p:cNvPr>
          <p:cNvSpPr txBox="1"/>
          <p:nvPr/>
        </p:nvSpPr>
        <p:spPr>
          <a:xfrm>
            <a:off x="1235999" y="757300"/>
            <a:ext cx="5726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(11):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관료주의에 대한 우려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E44793-302D-EEA6-7316-E47FF1608248}"/>
              </a:ext>
            </a:extLst>
          </p:cNvPr>
          <p:cNvSpPr txBox="1"/>
          <p:nvPr/>
        </p:nvSpPr>
        <p:spPr>
          <a:xfrm>
            <a:off x="1079999" y="1671814"/>
            <a:ext cx="10390741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“독선적이고 비자유적인 관료주의가 생길 것이라는 두려움은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내가 특히 강조하고자 하는 원리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미국의 행정은 모든 지점에서 여론에 민감해야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놓치는 일이다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 관료제가 곧바로 독선적 관료주의로 이어진다는 인식은 과도한 우려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핵심은 전문성이 아니라 여론 민감성과 정치적 책임을 어떻게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제도화하느냐에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 공개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 루프 등 같은 투명성 메커니즘이 관료주의의 위험을 완화할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FE704E8-AF31-EE3C-6004-E234593E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EF8FB6-A9C1-2E7C-2256-2ACAABE82F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158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064B-D787-F3C6-0AEA-0E14581E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CBB2913-56A1-0016-D1D6-128B396D856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5128E7-34F7-D180-8DB3-7550F92F228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AA11F2-39CA-C665-6800-387D25788F6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4C99A2-4101-0DFD-54BF-433BDA2EA6D4}"/>
              </a:ext>
            </a:extLst>
          </p:cNvPr>
          <p:cNvSpPr txBox="1"/>
          <p:nvPr/>
        </p:nvSpPr>
        <p:spPr>
          <a:xfrm>
            <a:off x="1235999" y="757300"/>
            <a:ext cx="5726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연구의 대상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성실복무의 재정의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4B8374-88E9-FF51-5297-473F992C4FC8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“성실복무란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정책’에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대한 꾸준하고도 성실한 충성이다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“부서의 장이 ‘정말로 국민을 섬기는’ 곳에서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관청들을 ‘정의로운 정부의 공공정신적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도구’로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바꾸어 놓은 사례들을 제시하기는 쉽다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공무원의 충성은 특정 정권이 아니라 합법적 정책 목표와 법치 원리에 바쳐져야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중립은 곧 정책목표에 대한 직업적 충성을 의미 → 정책 변동 속에서도 연속성과 안정성을 유지하는 절차적 장치가 필요함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신분보장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공공정신은 형식주의를 넘어 문제 해결 지향으로 행정을 전환시킴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4256E9D-AE54-682C-7A12-AF80407A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A5BEF23-C9A1-85F9-FBD4-335AC774295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737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F605-373A-8B83-3967-D74C9CE1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4558BA-6FBD-9699-F79A-39B4043C8F2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4708CD-8384-6A0E-45C0-3EB9934C969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6D3664-5404-5561-E6E6-78BE6D340D8A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C79D5-6224-7C42-EC17-6D43E313C4D8}"/>
              </a:ext>
            </a:extLst>
          </p:cNvPr>
          <p:cNvSpPr txBox="1"/>
          <p:nvPr/>
        </p:nvSpPr>
        <p:spPr>
          <a:xfrm>
            <a:off x="1235999" y="757300"/>
            <a:ext cx="5726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책임성의 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5B3C9D-0208-CC65-7F9C-E80F23A331BD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“좋은 행정이든 나쁜 행정이든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공적 관심이 칭찬이나 비난을 받아야 할 바로 그 사람에게 쉽사리 향하도록 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성패는 결국 책임의 명확한 귀속에 달려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권한과 성과를 체계적으로 매핑하고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책임자를 명시하며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결과를 투명하게 공개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실패의 원인과 개선 과정을 기록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추적함으로써만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신뢰받는 행정이 완성되는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기술이 아니라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자유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공익을 담아내는 정치적 의미를 지닌 운영의 과학적 설계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5D57E74-639B-0C7F-A200-2B1338BC9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DCFBB8-99B4-315F-39BA-36D27CB7268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01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</TotalTime>
  <Words>1122</Words>
  <Application>Microsoft Office PowerPoint</Application>
  <PresentationFormat>와이드스크린</PresentationFormat>
  <Paragraphs>90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330</cp:revision>
  <dcterms:created xsi:type="dcterms:W3CDTF">2025-03-10T02:54:00Z</dcterms:created>
  <dcterms:modified xsi:type="dcterms:W3CDTF">2025-09-22T11:42:42Z</dcterms:modified>
</cp:coreProperties>
</file>