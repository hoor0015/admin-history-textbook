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21"/>
  </p:notesMasterIdLst>
  <p:sldIdLst>
    <p:sldId id="256" r:id="rId2"/>
    <p:sldId id="265" r:id="rId3"/>
    <p:sldId id="324" r:id="rId4"/>
    <p:sldId id="336" r:id="rId5"/>
    <p:sldId id="334" r:id="rId6"/>
    <p:sldId id="323" r:id="rId7"/>
    <p:sldId id="314" r:id="rId8"/>
    <p:sldId id="337" r:id="rId9"/>
    <p:sldId id="315" r:id="rId10"/>
    <p:sldId id="330" r:id="rId11"/>
    <p:sldId id="329" r:id="rId12"/>
    <p:sldId id="316" r:id="rId13"/>
    <p:sldId id="331" r:id="rId14"/>
    <p:sldId id="326" r:id="rId15"/>
    <p:sldId id="328" r:id="rId16"/>
    <p:sldId id="327" r:id="rId17"/>
    <p:sldId id="335" r:id="rId18"/>
    <p:sldId id="338" r:id="rId19"/>
    <p:sldId id="258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73" autoAdjust="0"/>
    <p:restoredTop sz="94660"/>
  </p:normalViewPr>
  <p:slideViewPr>
    <p:cSldViewPr snapToGrid="0">
      <p:cViewPr varScale="1">
        <p:scale>
          <a:sx n="71" d="100"/>
          <a:sy n="71" d="100"/>
        </p:scale>
        <p:origin x="60" y="3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0498F0-E222-4130-B559-E26B0B605E46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3D4FCB-31F1-4D49-A262-D5EAFE6F4D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8811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36FE37-B45E-702D-9B96-4299560E33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6E08DEC-7BB0-FA22-8DA3-B1AB8DEFC9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83A6BA-1565-C464-F4EB-3906E7373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7C39A-0473-4F06-BAED-15A0495CDC03}" type="datetime1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BC19E9-6DDD-6434-8E6B-06EF96BBE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85B267-7A29-ED1D-ACA4-7E277B84F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755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8B7FEF-A226-AA76-1459-1FDB0A4E5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A804A3-2F1B-0A55-13C5-3650E2677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F0C730-8C26-635F-3C55-9A7C0301F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B99A3-FCEB-4DA1-9F62-29D8C0003628}" type="datetime1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B7EFE1-B630-48F3-8A5C-C662E88B8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2850C1-CA85-ED3E-2330-22B834CB7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9009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EE0D3C-3680-19BF-4C67-D4B4784C2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5C665B-B2AA-B08F-C279-912EC2D10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D66F2D-16A0-557C-3CCB-8FFB7554D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900D-BC70-4759-8B81-959479FDE631}" type="datetime1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FBDE22-BDA4-74CE-8C4C-E4E73812C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8D6EA0-E1DE-BF0E-0912-85915DD8D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0163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6F7B9F-6A11-CC5A-7A36-44D8AD919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783DDB-E592-C2D4-A180-B5DEDBF7BE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F51331B-C0B4-8EDC-103E-47B36BBE59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0767AC-DDFA-8913-983C-6DA9B0A67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5B54D-7A36-44B1-8C28-43CC23156252}" type="datetime1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DDBFE1A-421D-107D-5DF2-1870DCECC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2004D5-4E92-0B4C-7EE6-FAB9D429C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9766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D0A58D-AA06-16B9-3770-41AD164C9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96E662-B7C3-7FD5-CD89-C526ED31F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8B9CFFF-D7AA-F586-9E75-BF93A17113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9418F7E-3EA8-DC1E-43BE-7D850C4686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F1E95F9-9077-E721-07CD-4CA2411616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CEFD06E-78D1-0213-E60C-58C7C880A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9D56D-5F5D-4386-8229-7B3FCE23A9DB}" type="datetime1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BA4C8D-33C2-7987-6D00-869244A5B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D2AB68B-4F6B-A0AD-F831-29C6E58A1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982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AAD11A-F73C-0207-0712-CC5C19669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8CC1D79-BC19-4316-F46D-F86B3936C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DD53D-D905-4ACB-AC18-AA7FCF8F80DE}" type="datetime1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D50F371-759C-8971-0893-79AC08C88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A58D82D-21E7-57EF-BE11-B67FED116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3146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2DEECEE-D8EA-089C-FBE6-ADF6F763B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BD813-ACF2-4610-9984-BFC3E3445E99}" type="datetime1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56F723E-2C54-55A9-296D-F360D200E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62517F-6DF0-37E6-743B-70F38A8A8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4220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08B69-7F2C-A92C-998A-A211E4A43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C4434C-27A6-FC8C-2488-5BF688F521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07BAD0-6B32-5C64-3F97-CF151C3C79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F30F74-FB46-CA2D-CE2A-520ACD1A3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359E2-8CCE-47B9-BB7A-030AE3600AA0}" type="datetime1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9900CC-E9D2-5A28-AF25-307ADC6E3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CB32BB5-82AE-8482-2D75-FF89DE29E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5764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CA0DA8-0481-0840-93EF-373E4CAC2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35C5FCC-6E56-4B61-8A3A-806032224D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03281E-513F-2090-6B6C-30573828E1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5C8138-7D38-BAA2-991C-DD73FA9AC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92EE-1CF8-4367-A084-DA2FF58DBBDB}" type="datetime1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8DCA6D2-D45C-5920-4860-B918D7BB0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E13D3DA-09E9-2079-3755-86D4E6609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5974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35BFF0-B5FD-B1C9-7990-6E39B598F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BA3334E-6A42-25D9-36F5-3E2B606E35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E5EBEB-6DD2-0DC1-0485-D095141E0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E0889-A16A-434F-93C1-A64A52D175C8}" type="datetime1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47268B-0A1F-2E11-B10F-6214EB64A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646C17-DF9E-4AA3-63E2-DF71DCBC8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1524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1D2B582-D262-AA95-51F3-7DB2368588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E71DB97-E146-2A4B-9A20-568C9C345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D1D531-D2EA-FDE0-273E-A182CC962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027F3-8B5B-4B0E-A74B-00FCFC008BFB}" type="datetime1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F24463-153E-992E-0670-078E99ED1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574CB5-B661-FD9B-8604-B864DDCEA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4507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4896CC-D357-0B15-BD4E-82985503F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76DE65-3AA6-CB13-9141-59D0783E05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9FD434-1997-7C62-7EE2-A5C4A20CF3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04A376-E7CB-4754-856D-B8EF9D28E97C}" type="datetime1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F7F881-B52B-6E21-A008-2784312083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AB78CF-D66F-B729-696F-488DF175C1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146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kdkim@kipa.re.kr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10ED8B-338F-5AA3-7E4C-9CE149942F70}"/>
              </a:ext>
            </a:extLst>
          </p:cNvPr>
          <p:cNvSpPr txBox="1"/>
          <p:nvPr/>
        </p:nvSpPr>
        <p:spPr>
          <a:xfrm>
            <a:off x="303023" y="5307578"/>
            <a:ext cx="198419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</a:rPr>
              <a:t>김경동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  <a:p>
            <a:r>
              <a:rPr lang="ko-KR" altLang="en-US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</a:rPr>
              <a:t>행정학과 조교수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  <a:p>
            <a:r>
              <a:rPr lang="en-US" altLang="ko-KR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  <a:hlinkClick r:id="rId2"/>
              </a:rPr>
              <a:t>kdkim@kw.ac.kr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9AC125-E49A-1BDE-4CB3-1DDFDD1917F7}"/>
              </a:ext>
            </a:extLst>
          </p:cNvPr>
          <p:cNvSpPr txBox="1"/>
          <p:nvPr/>
        </p:nvSpPr>
        <p:spPr>
          <a:xfrm>
            <a:off x="1938662" y="2215148"/>
            <a:ext cx="8314676" cy="160043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2025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년도 가을학기</a:t>
            </a:r>
            <a:endParaRPr lang="en-US" altLang="ko-KR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경기천년제목 Bold" panose="02020803020101020101" pitchFamily="18" charset="-127"/>
              <a:ea typeface="경기천년제목 Bold" panose="02020803020101020101" pitchFamily="18" charset="-127"/>
              <a:cs typeface="KoPubWorld돋움체 Bold" panose="00000800000000000000" pitchFamily="2" charset="-127"/>
            </a:endParaRPr>
          </a:p>
          <a:p>
            <a:pPr algn="ctr"/>
            <a:r>
              <a:rPr lang="ko-KR" altLang="en-US" sz="6600" b="1" dirty="0">
                <a:solidFill>
                  <a:srgbClr val="761F2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텍스트로 보는 행정사</a:t>
            </a:r>
            <a:endParaRPr lang="ko-KR" alt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경기천년제목 Bold" panose="02020803020101020101" pitchFamily="18" charset="-127"/>
              <a:ea typeface="경기천년제목 Bold" panose="02020803020101020101" pitchFamily="18" charset="-127"/>
              <a:cs typeface="KoPubWorld돋움체 Bold" panose="00000800000000000000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3C7D5DA-9E30-A35C-384A-368E3B235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F4A3564C-61B8-C23D-8A58-2BDFC3C0594F}"/>
              </a:ext>
            </a:extLst>
          </p:cNvPr>
          <p:cNvGrpSpPr/>
          <p:nvPr/>
        </p:nvGrpSpPr>
        <p:grpSpPr>
          <a:xfrm>
            <a:off x="361144" y="531548"/>
            <a:ext cx="1635639" cy="371258"/>
            <a:chOff x="303023" y="453495"/>
            <a:chExt cx="1357980" cy="305606"/>
          </a:xfrm>
        </p:grpSpPr>
        <p:grpSp>
          <p:nvGrpSpPr>
            <p:cNvPr id="9" name="그룹 1004">
              <a:extLst>
                <a:ext uri="{FF2B5EF4-FFF2-40B4-BE49-F238E27FC236}">
                  <a16:creationId xmlns:a16="http://schemas.microsoft.com/office/drawing/2014/main" id="{6E7012C1-2889-777F-5077-8BBDEF2B9805}"/>
                </a:ext>
              </a:extLst>
            </p:cNvPr>
            <p:cNvGrpSpPr/>
            <p:nvPr/>
          </p:nvGrpSpPr>
          <p:grpSpPr>
            <a:xfrm>
              <a:off x="303023" y="453495"/>
              <a:ext cx="305606" cy="305606"/>
              <a:chOff x="7252263" y="581291"/>
              <a:chExt cx="1251000" cy="1251000"/>
            </a:xfrm>
          </p:grpSpPr>
          <p:pic>
            <p:nvPicPr>
              <p:cNvPr id="12" name="Object 13">
                <a:extLst>
                  <a:ext uri="{FF2B5EF4-FFF2-40B4-BE49-F238E27FC236}">
                    <a16:creationId xmlns:a16="http://schemas.microsoft.com/office/drawing/2014/main" id="{E0BA23DB-DD41-E0E9-8BD7-770B6BCB4C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7252263" y="581291"/>
                <a:ext cx="1251000" cy="1251000"/>
              </a:xfrm>
              <a:prstGeom prst="rect">
                <a:avLst/>
              </a:prstGeom>
            </p:spPr>
          </p:pic>
        </p:grpSp>
        <p:grpSp>
          <p:nvGrpSpPr>
            <p:cNvPr id="10" name="그룹 1007">
              <a:extLst>
                <a:ext uri="{FF2B5EF4-FFF2-40B4-BE49-F238E27FC236}">
                  <a16:creationId xmlns:a16="http://schemas.microsoft.com/office/drawing/2014/main" id="{719BD9D4-EA27-8883-6C3A-3B4D22263CD7}"/>
                </a:ext>
              </a:extLst>
            </p:cNvPr>
            <p:cNvGrpSpPr/>
            <p:nvPr/>
          </p:nvGrpSpPr>
          <p:grpSpPr>
            <a:xfrm>
              <a:off x="681789" y="472805"/>
              <a:ext cx="979214" cy="286296"/>
              <a:chOff x="4978293" y="70686"/>
              <a:chExt cx="1725714" cy="504552"/>
            </a:xfrm>
          </p:grpSpPr>
          <p:pic>
            <p:nvPicPr>
              <p:cNvPr id="11" name="Object 22">
                <a:extLst>
                  <a:ext uri="{FF2B5EF4-FFF2-40B4-BE49-F238E27FC236}">
                    <a16:creationId xmlns:a16="http://schemas.microsoft.com/office/drawing/2014/main" id="{74972B61-1483-C590-C007-CB56962870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4978293" y="70686"/>
                <a:ext cx="1725714" cy="50455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999096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45CCE-E8F0-C135-35B6-0A0A5C055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074012D-53DC-5227-4460-626954FF1254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1540394-9316-A9FD-07B1-F3504BF6E4DE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EB9B39-7112-A97C-85D0-DCBF35580845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0F6F87-C845-7F65-1202-A67F08BC6536}"/>
              </a:ext>
            </a:extLst>
          </p:cNvPr>
          <p:cNvSpPr txBox="1"/>
          <p:nvPr/>
        </p:nvSpPr>
        <p:spPr>
          <a:xfrm>
            <a:off x="1235999" y="757300"/>
            <a:ext cx="534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Herbert A. Simon (1)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B1A806-ADFC-43B9-E601-626F15663F4D}"/>
              </a:ext>
            </a:extLst>
          </p:cNvPr>
          <p:cNvSpPr txBox="1"/>
          <p:nvPr/>
        </p:nvSpPr>
        <p:spPr>
          <a:xfrm>
            <a:off x="1079999" y="1671814"/>
            <a:ext cx="6383119" cy="397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사이먼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(1916-2001)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은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컴퓨터과학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경제학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인지심리학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경영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정치학 등 분야에 큰 영향을 미친 미국의 학자 → 인공지능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정보처리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의사결정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문제해결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조직이론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복잡계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등 현대 과학의 선구자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『Administrative Behavior(1947)』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에서 “제한된 합리성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(bounded rationality)”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을 제시하며 행정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조직 연구의 인지적 전환을 견인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0F52EA7D-03DC-1C9A-F825-E047209E3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E6F9F91F-8E91-CC61-BB60-43CBEEAE73DE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Herbert A. Simon - The Simon Initiative - Carnegie Mellon University">
            <a:extLst>
              <a:ext uri="{FF2B5EF4-FFF2-40B4-BE49-F238E27FC236}">
                <a16:creationId xmlns:a16="http://schemas.microsoft.com/office/drawing/2014/main" id="{25DC84FA-2E5C-BA1B-2DDB-973CEA737F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7598" y="1295918"/>
            <a:ext cx="2860269" cy="4266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3242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7E12E-ADA0-7259-2468-47250DD8E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ACB95F5-AE74-2386-0187-A01D5949FA31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92BE5E5-7FA3-9322-9C8F-35F44E099AE2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C9073B-E4C0-C55E-62F1-69A6BC9EABBD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1D850C-E30F-F7A9-32E0-AF61EABF3607}"/>
              </a:ext>
            </a:extLst>
          </p:cNvPr>
          <p:cNvSpPr txBox="1"/>
          <p:nvPr/>
        </p:nvSpPr>
        <p:spPr>
          <a:xfrm>
            <a:off x="1235999" y="757300"/>
            <a:ext cx="534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Herbert A. Simon (2)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310425-0E19-C9CC-3615-51232541E795}"/>
              </a:ext>
            </a:extLst>
          </p:cNvPr>
          <p:cNvSpPr txBox="1"/>
          <p:nvPr/>
        </p:nvSpPr>
        <p:spPr>
          <a:xfrm>
            <a:off x="1079999" y="1671814"/>
            <a:ext cx="10390741" cy="33516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「행정의 격언들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(1946)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」에서 통설적 “원리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(principles)”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 실제로는 서로 상충하는 “격언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(proverbs)”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임을 논증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『Organizations(1958, March &amp; Simon)』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로 의사결정의 전제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(premises)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와 조직적 영향 구조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권한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의사소통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전문화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 상호작용을 체계화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1978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 노벨경제학상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의사결정 이론과 조직행동의 경제학적 통합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을 수상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23706CF-52F4-DA56-5AAC-3E7DBA9D5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ED881C1-CADA-71FE-54FF-705A17B829ED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4745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CF140-E839-F968-F8BD-78EB1E353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0275A78-AAD2-2ED1-2F99-D25BA1EE9252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C93C027-BEF6-0685-CC6A-A0F12FD4CD4A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EA0DDD-8C3C-00A0-16EC-3EA0FBC7E617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3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54C05F-D8E9-8056-32B3-C3DB920D5BDD}"/>
              </a:ext>
            </a:extLst>
          </p:cNvPr>
          <p:cNvSpPr txBox="1"/>
          <p:nvPr/>
        </p:nvSpPr>
        <p:spPr>
          <a:xfrm>
            <a:off x="1235999" y="757300"/>
            <a:ext cx="534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Herbert A. Simon (3)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BBB75D-7BF1-FF46-AB88-DA3B04C3A6A4}"/>
              </a:ext>
            </a:extLst>
          </p:cNvPr>
          <p:cNvSpPr txBox="1"/>
          <p:nvPr/>
        </p:nvSpPr>
        <p:spPr>
          <a:xfrm>
            <a:off x="1079999" y="1671814"/>
            <a:ext cx="10390741" cy="3905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사이먼의 핵심 문제의식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설득용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격언”을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“검증 가능한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이론”으로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대체해야 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이론은 ‘무엇이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참인가’뿐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아니라 ‘무엇이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거짓인가’를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말해야 하며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상충 기준들 사이의 가중치와 적용 조건을 밝혀야 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행정조직 서술은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권한선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나열을 넘어 실제 의사결정의 배분과 영향 경로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의사소통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비공식규범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를 포착해야 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관료제의 규칙준수는 ‘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수단’이지만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제도적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정서적 강화 속에 ‘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목적’으로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전치될 수 있음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형식주의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레드테이프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→ 사이먼은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형식주의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’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 구조적 기제를 이론이나 방법 차원에서 분석하려는 시도로 이해할 수 있음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규칙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원리의 맹신을 경계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endParaRPr lang="ko-KR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B0A0413-608E-05F3-0729-5172700383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0EC40F1B-DE9A-AAAB-F05F-55A910CFFF58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2357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7E9EB-C508-CBC3-A40E-FDEAEF112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177E2DF-2BFE-199A-764E-AC047FED327D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9258E36-AEBE-77B4-546D-FF6330E626F4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8407C3-AD88-11E8-2513-9D9040F2CF2E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4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84D32E-4F6F-5A72-19C9-B9A48B2AEC37}"/>
              </a:ext>
            </a:extLst>
          </p:cNvPr>
          <p:cNvSpPr txBox="1"/>
          <p:nvPr/>
        </p:nvSpPr>
        <p:spPr>
          <a:xfrm>
            <a:off x="1235999" y="757300"/>
            <a:ext cx="534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격언과 이론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문제의식의 출발점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5FD909C-BB21-4FF6-42FF-E4A43AF262FF}"/>
              </a:ext>
            </a:extLst>
          </p:cNvPr>
          <p:cNvSpPr txBox="1"/>
          <p:nvPr/>
        </p:nvSpPr>
        <p:spPr>
          <a:xfrm>
            <a:off x="1079999" y="1671814"/>
            <a:ext cx="10390741" cy="4219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“격언의 인용 가능성을 크게 높여주는 사실 하나는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격언이 거의 언제나 서로 모순되는 짝으로 존재한다는 점이다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“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돌다리도 두들겨 보고 건너라”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—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그런데 “망설이는 자는 실패한다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 …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그러나 격언을 과학적 이론의 토대로 삼고자 할 때 상황은 그리 즐겁지 않다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격언이 표현하는 명제가 부족해서가 아니라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너무나 많은 것을 ‘</a:t>
            </a:r>
            <a:r>
              <a:rPr lang="ko-KR" altLang="en-US" sz="20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증명’해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버리기 때문이다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과학적 이론은 무엇이 참인지뿐 아니라 무엇이 거짓인지도 말해 주어야 한다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이론은 상충 격언들 사이에서 적용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배제 조건을 제시해야 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반증가능성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‘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원리’의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언어는 보편 처방이 아니라 조건부 선택규칙의 언어로 전환되어야 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“신속”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vs “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신중”은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위기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복잡성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피드백 구조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맥락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에 따라 처방이 달라짐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E8961059-FE81-D1DC-D4A7-4A368C224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7004E0E6-D418-F93C-C360-A4B9B6EFB38E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4876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86CEE-6DDC-D066-5398-CD94448F0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2888200A-4639-3BCE-1B9F-BF26BA3E283C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19C0912-D3F9-0D5B-E5CB-F78B6C6AB227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297742-F2CE-4675-6BFE-52341BFD3D8A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5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144E28-CAAA-E22A-66CC-AAF674A68AE7}"/>
              </a:ext>
            </a:extLst>
          </p:cNvPr>
          <p:cNvSpPr txBox="1"/>
          <p:nvPr/>
        </p:nvSpPr>
        <p:spPr>
          <a:xfrm>
            <a:off x="1235998" y="757300"/>
            <a:ext cx="60119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원리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(principles)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에서 기준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(criteria)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으로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82C46E-0CEB-8DD5-3B22-8E2CC1BDCCCB}"/>
              </a:ext>
            </a:extLst>
          </p:cNvPr>
          <p:cNvSpPr txBox="1"/>
          <p:nvPr/>
        </p:nvSpPr>
        <p:spPr>
          <a:xfrm>
            <a:off x="1079999" y="1671814"/>
            <a:ext cx="10390741" cy="41457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“어려움은 ‘행정의 </a:t>
            </a:r>
            <a:r>
              <a:rPr lang="ko-KR" altLang="en-US" sz="20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원리들’로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취급되어 온 것들의 상당수가 사실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 상황을 묘사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진단하는 ‘기준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(criteria)’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일 </a:t>
            </a:r>
            <a:r>
              <a:rPr lang="ko-KR" altLang="en-US" sz="20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뿐인데서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비롯된다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옷장 공간은 성공적인 주택 설계에서 확실히 중요한 항목이다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그러나 ‘최대의 옷장 공간 </a:t>
            </a:r>
            <a:r>
              <a:rPr lang="ko-KR" altLang="en-US" sz="20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확보’만을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겨냥해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—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다른 모든 고려를 잊은 채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—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설계된 집은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좋게 말해도 ‘다소 균형 잡히지 않은’ 것으로 여겨질 것이다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마찬가지로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‘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명령통일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목적에 따른 전문화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분권화’는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모두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효율적 행정조직 설계에서 고려해야 할 항목들이다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‘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원리’는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단일 공리가 아니라 상충하는 평가기준의 목록임 → 설계의 핵심은 기준 간 교환관계를 명시하는 이론적 틀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예를 들어 ‘통솔범위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확대’만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추구하면 계층 단축의 이익은 있지만 감독 품질이 악화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07541C55-13CD-AE90-8ED8-1A17AAEE4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225F1030-7440-BD23-8A61-DA5BD6B822C0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3597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15842-C94A-1C39-CD70-917FE1858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D18D179F-E3A3-8546-CBC0-AB3FB4AD2199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B3CFA1A-8D99-3995-32F2-6209AC4D5DF9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35AC49-4EB1-475E-7F12-4E3D3F1EE6F7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6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3DBC8F-0194-BF71-9551-0669E81F238F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전문화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기만적 단순성과 선택의 문제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BDE1AA-ED72-6B54-713F-94C7193A03B2}"/>
              </a:ext>
            </a:extLst>
          </p:cNvPr>
          <p:cNvSpPr txBox="1"/>
          <p:nvPr/>
        </p:nvSpPr>
        <p:spPr>
          <a:xfrm>
            <a:off x="1079999" y="1671814"/>
            <a:ext cx="10390741" cy="42380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“전문화가 늘수록 행정 효율이 높아진다고들 한다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그런데 이것이 ‘전문화의 모든 증대가’ 효율을 높인다는 뜻인가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? …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전문화의 원리는 두 대안 사이에서 선택하는 데 아무 도움이 되지 못한다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전문화 원리의 단순성은 기만적 단순성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즉 근본적 모호성을 가린 단순성임이 드러난다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‘</a:t>
            </a:r>
            <a:r>
              <a:rPr lang="ko-KR" altLang="en-US" sz="20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전문화’는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효율적 행정의 조건이 아니라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효율적이든 비효율적이든 모든 집단적 노력의 불가피한 특징이기 때문이다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‘전문화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여부’는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가짜 쟁점이며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어느 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기능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지역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고객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목적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에서 어느 수준으로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분할할지가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핵심임 → 전문화는 본질적으로 조정 비용을 동반하기 때문임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간호조직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구역별 배치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vs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기능별 배정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학교검진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가정방문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결핵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중 무엇이 적합한지는 업무 상호의존성에 달려있는 것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F87504C4-8781-1D03-2141-4DD0BE19D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73797DF-774A-9FBE-AE5E-E20365477FA7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0742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FA4D1-0F3B-A77F-7266-8885E060C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EC594D4-C063-927D-D5AD-7B71875E19D5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A390876-2EB5-B721-72B8-45190C8B994A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6A1410-F4AF-1EBA-84F9-7BA9A8AAA8E0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7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4932A6-F3AF-BAEA-E643-44FBF211AB66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전문화의 진짜 문제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: ‘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특정한 방식과 선’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3D82BC-483C-549C-1BDE-C8C3E0FDB8BF}"/>
              </a:ext>
            </a:extLst>
          </p:cNvPr>
          <p:cNvSpPr txBox="1"/>
          <p:nvPr/>
        </p:nvSpPr>
        <p:spPr>
          <a:xfrm>
            <a:off x="1079999" y="1671814"/>
            <a:ext cx="10390741" cy="40349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“따라서 행정의 진짜 문제는 ‘</a:t>
            </a:r>
            <a:r>
              <a:rPr lang="ko-KR" altLang="en-US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전문화할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것인가’가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아니라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 효율로 이어질 ‘특정한 방식과 특정한 선’에서 </a:t>
            </a:r>
            <a:r>
              <a:rPr lang="ko-KR" altLang="en-US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전문화하는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일이다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그러나 이렇게 이 ‘</a:t>
            </a:r>
            <a:r>
              <a:rPr lang="ko-KR" altLang="en-US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원리’를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바꿔 말하면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 근본적 모호성이 드러난다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곧 ‘행정 효율은 집단 내 과업을 ‘더 큰 효율로 이어지는 방향으로’ </a:t>
            </a:r>
            <a:r>
              <a:rPr lang="ko-KR" altLang="en-US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전문화할수록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높아진다’는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식이 된다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최적의 분할점은 과업 상호의존성과 지식 모듈성의 함수임 → 동일한 ‘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전문화’도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선택한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분할축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에 따라 성과에 미치는 영향이 달라짐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허가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사후관리 기능을 목적별로 묶을지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절차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기준으로 묶을지에 따라 충돌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중복의 양상이 달라질 수밖에 없음 → 설계의 자율성이 필요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A3E5160A-FBDE-4C71-4221-E09DD2ECA5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0E3D2FEB-91BA-898C-8A6F-30C0C835713F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9903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22825-8801-0F46-DE56-A915584C2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2414DC9-1CBB-E071-069F-3E763F97B234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E509C18-53EA-9E06-FC45-F642A56B4C36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7FF883-952A-4371-FB6E-C31545D75AAC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8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3CB976-A9BF-3A4F-B05C-56AA84B6AEB4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권한의 조작적 정의와 명령통일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23A51D-69B2-7851-EA38-CEE72B17DB91}"/>
              </a:ext>
            </a:extLst>
          </p:cNvPr>
          <p:cNvSpPr txBox="1"/>
          <p:nvPr/>
        </p:nvSpPr>
        <p:spPr>
          <a:xfrm>
            <a:off x="1079999" y="1671814"/>
            <a:ext cx="10390741" cy="3499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“조직 구성원을 ‘명령의 </a:t>
            </a:r>
            <a:r>
              <a:rPr lang="ko-KR" altLang="en-US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통일’을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유지하도록 명확히 규정된 권한의 위계 속에 배열할수록 행정 효율이 높아진다고 한다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…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부하는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타인이 내린 결정이 자신의 판단과 상관없이 자신의 행동을 인도하도록 허용할 때 권한을 수용한다고 말할 수 있다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권한은 직제 선이 아니라 결정의 전제에 대한 인지적 수용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‘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명령통일’의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원칙은 물리적 모순 회피를 넘어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다양한 원천의 권위와의 긴장을 설명해야 할 필요가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85877581-EDDE-1894-E4C9-C9E3B5685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854237A-6642-BB22-16E8-CD3785D926DB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92355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A6D8E-F7FC-346F-74CE-B74843E27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4BB7B10-DB17-47C7-D232-DB13AC67C4C1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6FB1F90-3DDF-5D7C-6C7C-F6C99D159D27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996759-4C1A-6725-ED13-DFC97317678E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9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660569-2F38-E836-6D1A-AAB3F38B29C9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명령통일과 전문화의 긴장</a:t>
            </a:r>
            <a:endParaRPr lang="en-US" altLang="ko-KR" sz="2800" dirty="0" err="1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2CE1B2-CF06-A39C-C384-810E486A706A}"/>
              </a:ext>
            </a:extLst>
          </p:cNvPr>
          <p:cNvSpPr txBox="1"/>
          <p:nvPr/>
        </p:nvSpPr>
        <p:spPr>
          <a:xfrm>
            <a:off x="1079999" y="1671814"/>
            <a:ext cx="10390741" cy="405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“이 원리의 진짜 결함은 전문화 원리와 양립할 수 없다는 점이다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…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각 결정은 가장 전문적으로 내릴 수 있는 지점에서 이루어지게 된다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…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예컨대 개별 소방관이 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2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인치 호스를 쓸지 소화기를 쓸지 스스로 결정하지는 않는다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 결정은 장교들이 하고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명령의 형태로 그에게 전달된다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전문화는 결정의 분권화를 요구하고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이는 단선형 명령통로와 충돌함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교육청 회계담당은 교육전문가의 라인 아래 있으나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회계적 판단에서는 재무 부서의 전문 권위의 지배를 받는 상황이 발생함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1C25958C-A614-03F3-2333-A0062B356C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C2E4064-7E16-7EBB-FD63-DA2BF7285A6E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97725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D5511-3BC0-5684-BD69-7763DD6EC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1872919-28D0-DB3B-F09E-12FF5518B115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00718E5-FFD2-B994-457C-54BD7E84F169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86780A0-4906-C1A2-5207-B8E2495027A3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10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D5E8BC-708C-FFAB-90A9-5242D0B17CE6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권한의 ‘구획화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(zoning)’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와 최소한의 명령통일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A25C0C-9216-6DEB-ADEF-2AA5BF341E5D}"/>
              </a:ext>
            </a:extLst>
          </p:cNvPr>
          <p:cNvSpPr txBox="1"/>
          <p:nvPr/>
        </p:nvSpPr>
        <p:spPr>
          <a:xfrm>
            <a:off x="1079999" y="1671814"/>
            <a:ext cx="10390741" cy="342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“실제 행정 상황에서 권한은 ‘구획화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(zoning)’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되어 있다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… ‘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두 개의 권위 있는 명령이 충돌하는 경우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부하가 누구의 말을 들어야 하는지 단일하게 결정된 사람이 있어야 하며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권한의 제재는 그 한 사람에 대한 복종을 강제하는 데만 가해져야 한다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.’ …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그러나 이렇게 제한해 두면 풀어 주는 문제는 더 적어진다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권한은 기능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위험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규정 영역별로 다원화되어 있기 때문에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‘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최후결정권’의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단일화만으로는 구획 선택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전문화 방식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 행사 경로라는 핵심 문제가 남아있게 됨</a:t>
            </a:r>
            <a:endParaRPr lang="en-US" altLang="ko-KR" sz="2400" b="1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BE3B067-2146-B6F1-3880-C35240A7F2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C39375AF-9073-BDBD-BC4C-6750CAFBD0D8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5411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D80FB-96E6-3EEF-106E-D5987B336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141A375-16A0-5198-0811-AD26EA531CDF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77812A6-0340-B183-29E2-3BCF0DB82698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4772C2-77E3-3978-A51F-3E1D9F367B00}"/>
              </a:ext>
            </a:extLst>
          </p:cNvPr>
          <p:cNvSpPr txBox="1"/>
          <p:nvPr/>
        </p:nvSpPr>
        <p:spPr>
          <a:xfrm>
            <a:off x="360000" y="722826"/>
            <a:ext cx="644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11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E57C49-EC34-A8AA-87D0-6B14093DD1F9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통솔범위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vs </a:t>
            </a:r>
            <a:r>
              <a:rPr lang="ko-KR" altLang="en-US" sz="2800" dirty="0" err="1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단계수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최소화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: </a:t>
            </a:r>
            <a:r>
              <a:rPr lang="ko-KR" altLang="en-US" sz="2800" dirty="0" err="1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레드테이프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딜레마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6F31C6-B60E-FD30-FD6C-5777E1E1B5E9}"/>
              </a:ext>
            </a:extLst>
          </p:cNvPr>
          <p:cNvSpPr txBox="1"/>
          <p:nvPr/>
        </p:nvSpPr>
        <p:spPr>
          <a:xfrm>
            <a:off x="1079999" y="1671814"/>
            <a:ext cx="10390741" cy="405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“‘어떤 사안이 처리되기까지 거쳐야 하는 조직 단계의 수를 최소화할수록 행정 효율이 높아진다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.’ …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그러나 많은 상황에서 이 격언이 이끄는 결과는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통솔범위 원리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—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그리고 명령통일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전문화의 원리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—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 요구하는 것과 정면으로 충돌한다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통솔범위 확대는 단계 축소의 이익을 주되 감독 품질을 약화시킬 수 있고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 반대는 절차적 지연을 초래함 →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‘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범위’와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‘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단계’는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동시에 결정되어야 할 필요가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예를 들어 소규모 조직에서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(a)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중간관리자 신설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vs (b)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직접 보고 확대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—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각각 감독 품질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/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절차 지연의 상반된 위험이 존재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7E848FC7-6CBC-62DA-0539-8DC61B9F3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AC6DAC0-4344-37EA-931C-E6DEFB5CA6A0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93343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ACE0E-ECA5-A9F6-3A78-6F7D12C98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267BBF1-5022-9A52-AAF5-14A756BF28A4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DE002B4-0508-DD5F-C77B-BAE8E724F9B4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D9D5D3-2528-E72A-833C-32450F4F96B2}"/>
              </a:ext>
            </a:extLst>
          </p:cNvPr>
          <p:cNvSpPr txBox="1"/>
          <p:nvPr/>
        </p:nvSpPr>
        <p:spPr>
          <a:xfrm>
            <a:off x="359999" y="722826"/>
            <a:ext cx="644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12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899601-DFDA-0E08-751A-64DB773FC95C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목적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·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과정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·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고객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·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지역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관계적 정의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2171BD-191C-C5D6-34DC-F6F5E23F7A34}"/>
              </a:ext>
            </a:extLst>
          </p:cNvPr>
          <p:cNvSpPr txBox="1"/>
          <p:nvPr/>
        </p:nvSpPr>
        <p:spPr>
          <a:xfrm>
            <a:off x="1079999" y="1671814"/>
            <a:ext cx="10390741" cy="405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“‘</a:t>
            </a:r>
            <a:r>
              <a:rPr lang="ko-KR" altLang="en-US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목적’은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대략 어떤 활동이 수행되는 목표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종국을 뜻하고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‘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과정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(process)’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은 목적을 달성하는 수단을 뜻한다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…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따라서 같은 활동이 ‘</a:t>
            </a:r>
            <a:r>
              <a:rPr lang="ko-KR" altLang="en-US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목적’이자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‘</a:t>
            </a:r>
            <a:r>
              <a:rPr lang="ko-KR" altLang="en-US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과정’으로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묘사될 수 있다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…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산림청은 ‘</a:t>
            </a:r>
            <a:r>
              <a:rPr lang="ko-KR" altLang="en-US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산림보존’이라는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목적 조직이자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‘</a:t>
            </a:r>
            <a:r>
              <a:rPr lang="ko-KR" altLang="en-US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산림관리’라는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과정 조직이자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‘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공공림을 이용하는 제재업자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축산업자’라는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고객 조직이자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‘</a:t>
            </a:r>
            <a:r>
              <a:rPr lang="ko-KR" altLang="en-US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공유림’이라는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지역 조직으로 볼 수 있다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조직 분류는 고정 실체가 아니라 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하위 위계와 관계에 의해 규정됨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범주 간 경계는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다차원적이며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중첩적인 특성이 있음 →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범주화하기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어려움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31D8713E-4C46-112C-8712-EE8542646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A812B06D-2C89-5264-6CB7-E0C9D46E2BF5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22721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7AD03-9DCC-11ED-8F79-652A065CB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1196C124-A435-2767-8B15-46CAE7E449C4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B700A93-B17D-3A7A-3A7B-98EB085E6505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16B5A5-19D6-6C1E-4A6F-548BFFF6EDE0}"/>
              </a:ext>
            </a:extLst>
          </p:cNvPr>
          <p:cNvSpPr txBox="1"/>
          <p:nvPr/>
        </p:nvSpPr>
        <p:spPr>
          <a:xfrm>
            <a:off x="359999" y="722826"/>
            <a:ext cx="644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13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21FF2-3EBF-8817-BD9B-9FAEF70C0463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‘단일 </a:t>
            </a:r>
            <a:r>
              <a:rPr lang="ko-KR" altLang="en-US" sz="2800" dirty="0" err="1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목적’의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신화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2A5A91-4932-1A5D-130F-F3E12AD18E93}"/>
              </a:ext>
            </a:extLst>
          </p:cNvPr>
          <p:cNvSpPr txBox="1"/>
          <p:nvPr/>
        </p:nvSpPr>
        <p:spPr>
          <a:xfrm>
            <a:off x="1079999" y="1671814"/>
            <a:ext cx="10390741" cy="3499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“결론은 이렇다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‘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단일 목적’ 같은 것은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—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그리고 ‘단일 목적 조직’ 같은 것도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—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없다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무엇을 ‘단일 </a:t>
            </a:r>
            <a:r>
              <a:rPr lang="ko-KR" altLang="en-US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기능’으로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볼지는 전적으로 언어와 기술에 달려 있다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‘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목적’은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언어적 집합 범위의 산물로서 재구성 가능한 것임 → 설계 논쟁의 핵심은 본질을 무엇으로 규정하는지에 있는 것이 아니라 범위 설정의 문제로 이해할 수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‘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화재방지’는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독립 목적인가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‘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공공안전’의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하위 목적인가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—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명명 방식에 따라 달라지게 됨 → 따라서 단일 목적을 수행하기 위한 조직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?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조직설계의 원리라고 볼 수 없음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C8DBC322-1FD1-5DB0-6821-4C721ABD71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831313A9-9A3D-A1ED-085F-F5DC0DDE3983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24248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61193-BE04-23A0-559F-028C9ECDA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86FBE534-0C13-209B-F95B-BBE876DA7891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2392EB8-DE7B-66B7-647E-25A293308E21}"/>
              </a:ext>
            </a:extLst>
          </p:cNvPr>
          <p:cNvSpPr/>
          <p:nvPr/>
        </p:nvSpPr>
        <p:spPr>
          <a:xfrm>
            <a:off x="395860" y="720000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BEF440-C8F6-02CB-65B2-9DDB75EA6713}"/>
              </a:ext>
            </a:extLst>
          </p:cNvPr>
          <p:cNvSpPr txBox="1"/>
          <p:nvPr/>
        </p:nvSpPr>
        <p:spPr>
          <a:xfrm>
            <a:off x="360000" y="722826"/>
            <a:ext cx="644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14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E8AABD-E752-9733-1DE2-7B37418BF4E7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정확한 기술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관계를 명시하라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48B596-279B-4427-9E7E-16C98127BA46}"/>
              </a:ext>
            </a:extLst>
          </p:cNvPr>
          <p:cNvSpPr txBox="1"/>
          <p:nvPr/>
        </p:nvSpPr>
        <p:spPr>
          <a:xfrm>
            <a:off x="1079999" y="1671814"/>
            <a:ext cx="10390741" cy="405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“‘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A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국은 </a:t>
            </a:r>
            <a:r>
              <a:rPr lang="ko-KR" altLang="en-US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과정국이다’라고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말하는 것은 부정확하다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정확한 진술은 ‘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A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국은 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X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부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(Department X)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내부의 ‘</a:t>
            </a:r>
            <a:r>
              <a:rPr lang="ko-KR" altLang="en-US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과정국’이다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.’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 진술은 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A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국이 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X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부 안에서 특정 유형의 ‘과정’ 전부를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—X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부의 특정 하위 목적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하위 지역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하위 고객과 무관하게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—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포괄한다는 뜻이다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분류는 상위 맥락을 포함해 진술되어야 함 → 동일 단위도 상위 구조에 따라 다른 범주로 재분류되기 때문임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어떤 지역 조직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보건소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도 보건복지부 내부에서는 목적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/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과정조직이 될 수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880AD68D-1F40-2BA2-9529-035160034A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3686A400-2878-67E7-23D6-B9AE59790BED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07916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374DA-52AA-9947-67C5-F54D73E9F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1DB1550-991D-A3C7-0A6F-43309AF76AB9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6CAB8AE-4915-9A03-679E-0F13644FD469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55EE2E-B071-1331-A924-4F3082839717}"/>
              </a:ext>
            </a:extLst>
          </p:cNvPr>
          <p:cNvSpPr txBox="1"/>
          <p:nvPr/>
        </p:nvSpPr>
        <p:spPr>
          <a:xfrm>
            <a:off x="359999" y="722826"/>
            <a:ext cx="644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15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5E0CAC-741B-EC92-F680-A5F269CD3FAB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선택 근거의 결여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위원회 보고서 비판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FAB726-F96C-9C72-9585-25622F20B43F}"/>
              </a:ext>
            </a:extLst>
          </p:cNvPr>
          <p:cNvSpPr txBox="1"/>
          <p:nvPr/>
        </p:nvSpPr>
        <p:spPr>
          <a:xfrm>
            <a:off x="1079999" y="1671814"/>
            <a:ext cx="10390741" cy="4127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“‘</a:t>
            </a:r>
            <a:r>
              <a:rPr lang="ko-KR" altLang="en-US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목적’과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‘</a:t>
            </a:r>
            <a:r>
              <a:rPr lang="ko-KR" altLang="en-US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과정’의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경쟁적 요구를 판정할 근거가 제시되지 않았다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…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단위를 한 부서에서 다른 부서로 옮겨 놓는 것이 어떻게 그 업무의 질을 향상 또는 훼손하는지 설명이 없다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범주 선택에는 판정 규칙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결정 전제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 요구됨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부서 재편’ 자체가 능사가 아니라 결정 배분의 변화를 설명해야 할 필요가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아동보건 단위를 교육부로 이관한다고 해서 서비스 표준이 자동 향상된다는 보장은 없는 것임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전제 부재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→ 정부조직법 개편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?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EE766AB9-376E-A840-6222-AC1069907D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90405B6B-5651-187A-5D34-4CDDCF95E876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51185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7560E-8A3B-E457-46F8-0B04AA860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B0198B8C-D1FB-365C-F217-DCFD540AEED6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E07A6C7-A2B6-35D8-45A3-577FB3252A7C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D7785D-1DE9-41E9-62D8-0AAE1AAF0132}"/>
              </a:ext>
            </a:extLst>
          </p:cNvPr>
          <p:cNvSpPr txBox="1"/>
          <p:nvPr/>
        </p:nvSpPr>
        <p:spPr>
          <a:xfrm>
            <a:off x="359999" y="722826"/>
            <a:ext cx="644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16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28C417-99DD-796C-3341-405AA7E9F96E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효율성의 원리와 ‘행정적 인간’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2862CA9-BBF1-8541-6C61-483ADEABF49C}"/>
              </a:ext>
            </a:extLst>
          </p:cNvPr>
          <p:cNvSpPr txBox="1"/>
          <p:nvPr/>
        </p:nvSpPr>
        <p:spPr>
          <a:xfrm>
            <a:off x="1079999" y="1671814"/>
            <a:ext cx="10390741" cy="405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“‘효율성의 </a:t>
            </a:r>
            <a:r>
              <a:rPr lang="ko-KR" altLang="en-US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원리’는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…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행정이론의 특징이기도 하다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‘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행정적 인간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(administrative man)’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은 고전적 ‘경제적 인간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(economic man)’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 나란히 자신의 자리를 차지한다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사실 ‘효율성의 </a:t>
            </a:r>
            <a:r>
              <a:rPr lang="ko-KR" altLang="en-US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원리’는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원리라기보다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정의로 간주되어야 한다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…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행정이론은 그 극대화가 어떤 조건에서 일어나는지 밝혀야 한다고 말해 줄 뿐이다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효율성은 규범적 정의이며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실제 선택은 제약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인지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시간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하의 ‘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만족화’임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‘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조건’에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대한 이론화가 효율성 논의를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실질화함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 → 예산 편성은 ‘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최적화’보다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상한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규칙 기반의 ‘만족화’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따라서 이론은 만족화가 반복되는 조건을 찾는 것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5D5AD0C-7BB2-AD88-9297-F822CE820A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F0A6B72-E5D3-F7B8-04CA-59C6EC350EB4}"/>
              </a:ext>
            </a:extLst>
          </p:cNvPr>
          <p:cNvCxnSpPr>
            <a:cxnSpLocks/>
          </p:cNvCxnSpPr>
          <p:nvPr/>
        </p:nvCxnSpPr>
        <p:spPr>
          <a:xfrm flipV="1">
            <a:off x="360000" y="61006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37963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8FDCA-45E0-89F5-4B2B-D96612D0B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B795D7C-B65E-F284-FEE9-0A24FB77DC40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0BF1B20-F79B-A988-C524-2377E5AD26FA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8F8582-FC41-CF28-584B-2D6B4ADAC47E}"/>
              </a:ext>
            </a:extLst>
          </p:cNvPr>
          <p:cNvSpPr txBox="1"/>
          <p:nvPr/>
        </p:nvSpPr>
        <p:spPr>
          <a:xfrm>
            <a:off x="359999" y="722826"/>
            <a:ext cx="644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17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E51DF7-B19C-E14C-1241-F72AC4EDB1C2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결론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합리성의 한계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9C59CC-C31E-7AC5-4C47-08588C1D3D9F}"/>
              </a:ext>
            </a:extLst>
          </p:cNvPr>
          <p:cNvSpPr txBox="1"/>
          <p:nvPr/>
        </p:nvSpPr>
        <p:spPr>
          <a:xfrm>
            <a:off x="1079999" y="1671814"/>
            <a:ext cx="10390741" cy="4127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“행정이론은 조직 구성원이 어떤 기술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가치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지식을 가지고 일을 시작하게 되는지를 결정하는 요인들에 관심을 가져야 한다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이들이 바로 행정 원리가 상대해야 할 “합리성의 </a:t>
            </a:r>
            <a:r>
              <a:rPr lang="ko-KR" altLang="en-US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한계”이다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…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행정은 ‘</a:t>
            </a:r>
            <a:r>
              <a:rPr lang="ko-KR" altLang="en-US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과학’의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반열을 바랄 수 없고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 주제의 성격상 ‘기껏해야 기술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(art)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에 </a:t>
            </a:r>
            <a:r>
              <a:rPr lang="ko-KR" altLang="en-US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불과하다’는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반론이 제기될 수 있다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… ‘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기술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(art)’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이라도 ‘격언’ 위에 세울 수는 없다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합리성의 한계는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변수적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제약으로서 이론의 대상이라고 할 수 있음 → 행정이 ‘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기술’이더라도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그 전제와 논리는 격언이 아닌 이론 위에서만 성립함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53425507-3D61-2CB6-77B6-6BB80C7BFE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1CAACA1-128F-EC9D-3A5B-68A7268C6038}"/>
              </a:ext>
            </a:extLst>
          </p:cNvPr>
          <p:cNvCxnSpPr>
            <a:cxnSpLocks/>
          </p:cNvCxnSpPr>
          <p:nvPr/>
        </p:nvCxnSpPr>
        <p:spPr>
          <a:xfrm flipV="1">
            <a:off x="360000" y="61006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34926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C8635D4-D3E2-C1C1-2DF9-711C09D1EC0A}"/>
              </a:ext>
            </a:extLst>
          </p:cNvPr>
          <p:cNvCxnSpPr>
            <a:cxnSpLocks/>
          </p:cNvCxnSpPr>
          <p:nvPr/>
        </p:nvCxnSpPr>
        <p:spPr>
          <a:xfrm>
            <a:off x="2152783" y="717177"/>
            <a:ext cx="9727217" cy="2823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DE01540-6402-0BA0-5B48-1A12659FE302}"/>
              </a:ext>
            </a:extLst>
          </p:cNvPr>
          <p:cNvSpPr txBox="1"/>
          <p:nvPr/>
        </p:nvSpPr>
        <p:spPr>
          <a:xfrm>
            <a:off x="4874350" y="3075057"/>
            <a:ext cx="2443298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rtlCol="0">
            <a:spAutoFit/>
          </a:bodyPr>
          <a:lstStyle/>
          <a:p>
            <a:pPr algn="dist"/>
            <a:r>
              <a:rPr lang="ko-KR" altLang="en-US" sz="40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감사합니다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89A27F3-6396-4A24-947F-2EDC13EB62AA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3755EA48-AAC8-8D9F-CFA6-5208CD71E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C8A388A4-7040-6B9A-9AE1-834C88364A48}"/>
              </a:ext>
            </a:extLst>
          </p:cNvPr>
          <p:cNvGrpSpPr/>
          <p:nvPr/>
        </p:nvGrpSpPr>
        <p:grpSpPr>
          <a:xfrm>
            <a:off x="361144" y="531548"/>
            <a:ext cx="1635639" cy="371258"/>
            <a:chOff x="303023" y="453495"/>
            <a:chExt cx="1357980" cy="305606"/>
          </a:xfrm>
        </p:grpSpPr>
        <p:grpSp>
          <p:nvGrpSpPr>
            <p:cNvPr id="9" name="그룹 1004">
              <a:extLst>
                <a:ext uri="{FF2B5EF4-FFF2-40B4-BE49-F238E27FC236}">
                  <a16:creationId xmlns:a16="http://schemas.microsoft.com/office/drawing/2014/main" id="{C2047555-F6C8-2082-96FB-974FF14E9C11}"/>
                </a:ext>
              </a:extLst>
            </p:cNvPr>
            <p:cNvGrpSpPr/>
            <p:nvPr/>
          </p:nvGrpSpPr>
          <p:grpSpPr>
            <a:xfrm>
              <a:off x="303023" y="453495"/>
              <a:ext cx="305606" cy="305606"/>
              <a:chOff x="7252263" y="581291"/>
              <a:chExt cx="1251000" cy="1251000"/>
            </a:xfrm>
          </p:grpSpPr>
          <p:pic>
            <p:nvPicPr>
              <p:cNvPr id="12" name="Object 13">
                <a:extLst>
                  <a:ext uri="{FF2B5EF4-FFF2-40B4-BE49-F238E27FC236}">
                    <a16:creationId xmlns:a16="http://schemas.microsoft.com/office/drawing/2014/main" id="{A816CA28-ED33-29B0-8851-0B9BAB3111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7252263" y="581291"/>
                <a:ext cx="1251000" cy="1251000"/>
              </a:xfrm>
              <a:prstGeom prst="rect">
                <a:avLst/>
              </a:prstGeom>
            </p:spPr>
          </p:pic>
        </p:grpSp>
        <p:grpSp>
          <p:nvGrpSpPr>
            <p:cNvPr id="10" name="그룹 1007">
              <a:extLst>
                <a:ext uri="{FF2B5EF4-FFF2-40B4-BE49-F238E27FC236}">
                  <a16:creationId xmlns:a16="http://schemas.microsoft.com/office/drawing/2014/main" id="{E80146EE-C903-87DE-0B04-EFB7BD1B165A}"/>
                </a:ext>
              </a:extLst>
            </p:cNvPr>
            <p:cNvGrpSpPr/>
            <p:nvPr/>
          </p:nvGrpSpPr>
          <p:grpSpPr>
            <a:xfrm>
              <a:off x="681789" y="472805"/>
              <a:ext cx="979214" cy="286296"/>
              <a:chOff x="4978293" y="70686"/>
              <a:chExt cx="1725714" cy="504552"/>
            </a:xfrm>
          </p:grpSpPr>
          <p:pic>
            <p:nvPicPr>
              <p:cNvPr id="11" name="Object 22">
                <a:extLst>
                  <a:ext uri="{FF2B5EF4-FFF2-40B4-BE49-F238E27FC236}">
                    <a16:creationId xmlns:a16="http://schemas.microsoft.com/office/drawing/2014/main" id="{2EBFA3EB-50D2-8153-CCB7-97A94AEAF1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978293" y="70686"/>
                <a:ext cx="1725714" cy="504552"/>
              </a:xfrm>
              <a:prstGeom prst="rect">
                <a:avLst/>
              </a:prstGeom>
            </p:spPr>
          </p:pic>
        </p:grpSp>
      </p:grp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948503B-7E35-726A-03B0-63A0FC981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0505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4437</TotalTime>
  <Words>1733</Words>
  <Application>Microsoft Office PowerPoint</Application>
  <PresentationFormat>와이드스크린</PresentationFormat>
  <Paragraphs>91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5" baseType="lpstr">
      <vt:lpstr>경기천년제목 Bold</vt:lpstr>
      <vt:lpstr>경기천년제목 Light</vt:lpstr>
      <vt:lpstr>맑은 고딕</vt:lpstr>
      <vt:lpstr>이사만루체 Bold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KKD</dc:creator>
  <cp:lastModifiedBy>KKD</cp:lastModifiedBy>
  <cp:revision>819</cp:revision>
  <dcterms:created xsi:type="dcterms:W3CDTF">2025-03-10T02:54:00Z</dcterms:created>
  <dcterms:modified xsi:type="dcterms:W3CDTF">2025-11-11T03:16:43Z</dcterms:modified>
</cp:coreProperties>
</file>