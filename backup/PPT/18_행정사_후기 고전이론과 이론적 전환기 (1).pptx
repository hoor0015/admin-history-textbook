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5" r:id="rId3"/>
    <p:sldId id="324" r:id="rId4"/>
    <p:sldId id="336" r:id="rId5"/>
    <p:sldId id="339" r:id="rId6"/>
    <p:sldId id="334" r:id="rId7"/>
    <p:sldId id="323" r:id="rId8"/>
    <p:sldId id="340" r:id="rId9"/>
    <p:sldId id="314" r:id="rId10"/>
    <p:sldId id="337" r:id="rId11"/>
    <p:sldId id="315" r:id="rId12"/>
    <p:sldId id="330" r:id="rId13"/>
    <p:sldId id="329" r:id="rId14"/>
    <p:sldId id="316" r:id="rId15"/>
    <p:sldId id="331" r:id="rId16"/>
    <p:sldId id="326" r:id="rId17"/>
    <p:sldId id="328" r:id="rId18"/>
    <p:sldId id="327" r:id="rId19"/>
    <p:sldId id="25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2025-11-16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드와이트 왈도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6383119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(1913-2000)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미국의 행정학자로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예일대에서 박사학위를 받았으며 그 박사논문을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1948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행정국가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행정의 정치이론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출판함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1968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년에는 </a:t>
            </a:r>
            <a:r>
              <a:rPr lang="en-US" altLang="ko-KR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Minnowbrook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Conference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통해 청년 학자들과 함께 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Relevant Administration”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담론을 촉진했으며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이로써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영향력이 학문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실천 양쪽으로 확대됨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8E123C32-D12A-FD89-A70E-8E5222E74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880" y="1976614"/>
            <a:ext cx="3197070" cy="319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7E12E-ADA0-7259-2468-47250DD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ACB95F5-AE74-2386-0187-A01D5949FA3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BE5E5-7FA3-9322-9C8F-35F44E099AE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073B-E4C0-C55E-62F1-69A6BC9EABBD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D850C-E30F-F7A9-32E0-AF61EABF360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드와이트 왈도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310425-0E19-C9CC-3615-51232541E795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전통적 행정학이 효율 및 과학관리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(scientific management)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중심으로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발전해왔음을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비판하면서 “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효율성”이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단순히 수단이 아니라 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(value)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또는 정치적 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(political task)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라는 인식 전환을 제시함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‑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이원론이 분석적으로 유용하다고 보았지만 행정이 가진 정치적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규범적 성격을 강조하여 정치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일원론을 주장 → 행정가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(administrator)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단순히 정책 집행자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(policy implementer)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로만 보지 않고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(democracy)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공공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(public)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맥락 속에서 책임 있는 행위자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(agent)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로 보는 시각을 제시함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23706CF-52F4-DA56-5AAC-3E7DBA9D5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D881C1-CADA-71FE-54FF-705A17B82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45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CF140-E839-F968-F8BD-78EB1E35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0275A78-AAD2-2ED1-2F99-D25BA1EE925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93C027-BEF6-0685-CC6A-A0F12FD4CD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A0DDD-8C3C-00A0-16EC-3EA0FBC7E61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54C05F-D8E9-8056-32B3-C3DB920D5BDD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드와이트 왈도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BBB75D-7BF1-FF46-AB88-DA3B04C3A6A4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1960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행정학계에서는 기존의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‑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관리적 접근을 넘어 사회적 형평성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(equity),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(participation),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(change)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등을 강조하는 ‘신행정학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(New Public Administration)’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담론이 등장했고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이러한 흐름에 지적 토대를 제공함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시점에서 행정학은 단순히 조직이론이나 관리기술을 다루던 수동적 학문에서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사회변혁과 민주적 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(democratic accountability)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고민하는 보다 광범위한 학문으로 변화하고 있었으며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사상이 이 전환에 큰 기여를 했다는 평가가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있음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0A0413-608E-05F3-0729-51727003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C40F1B-DE9A-AAAB-F05F-55A910CFFF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3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90831-9FE4-7E2E-A94D-2E6794661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25693-8A31-78BD-0DC2-0E94C75D29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EEA7F4-36DD-AAF5-B98E-38E35E291FF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0FB04-0E69-B5CD-A293-D62E184743CF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7550A-8A7A-99BB-1C79-F2ACC5655264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드와이트 왈도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49ABDE-E92A-EE46-75E5-3643B9451D58}"/>
              </a:ext>
            </a:extLst>
          </p:cNvPr>
          <p:cNvSpPr txBox="1"/>
          <p:nvPr/>
        </p:nvSpPr>
        <p:spPr>
          <a:xfrm>
            <a:off x="1079999" y="1671814"/>
            <a:ext cx="10390741" cy="390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사이먼은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1950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 초반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 American Political Science Review』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학술지를 통해 과학적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(scientific administration)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규범적 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(normative administration)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갈등을 대표적으로 드러냄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사이먼 논쟁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사이먼은 “관리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과학적 사실과 의사결정을 중심으로 해야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한다”고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주장하며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‑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(fact–value)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구분을 강조하였음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이에 반해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왈도는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“행정가들이 가치 판단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(value judgement)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피할 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없다”고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주장하며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‑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관리적 논리만으로 행정을 이해하는 것을 경계하였음 → 과학인가 예술인가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기술인가 정치인가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endParaRPr lang="ko-KR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46DBE7-484B-47DD-211D-68048B651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E315467-7B95-F8E5-4437-E50C8246123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4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E9EB-C508-CBC3-A40E-FDEAEF112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77E2DF-2BFE-199A-764E-AC047FED32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258E36-AEBE-77B4-546D-FF6330E626F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07C3-AD88-11E8-2513-9D9040F2CF2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84D32E-4F6F-5A72-19C9-B9A48B2AEC37}"/>
              </a:ext>
            </a:extLst>
          </p:cNvPr>
          <p:cNvSpPr txBox="1"/>
          <p:nvPr/>
        </p:nvSpPr>
        <p:spPr>
          <a:xfrm>
            <a:off x="1235999" y="757300"/>
            <a:ext cx="5345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기원과 수용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FD909C-BB21-4FF6-42FF-E4A43AF262FF}"/>
              </a:ext>
            </a:extLst>
          </p:cNvPr>
          <p:cNvSpPr txBox="1"/>
          <p:nvPr/>
        </p:nvSpPr>
        <p:spPr>
          <a:xfrm>
            <a:off x="1079999" y="1671814"/>
            <a:ext cx="10390741" cy="431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행정국가’에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관해 가장 확실한 것은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그것이 ‘다른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(different)’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책이라는 점이다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책의 장점이나 단점이 아니다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‘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독창적 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아이디어’에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대한 어떤 주장도 아니다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관점의 독창성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주제 결합의 방식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중심 아이디어를 철저히 실행했다는 점에서의 독창성에 관한 것이다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그때에도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지금도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그것과 크게 닮은 책이 거의 없었다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『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행정국가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』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기존 행정학과 근본적으로 다른 독창적 저작임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정치이론적 렌즈에서 행정학 문헌을 분석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기반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(matrix)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책의 독창성은 아이디어 자체보다 관점과 주제 결합 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실행력에서 드러남 → 당시 유사 저작과 비교해 거의 독보적이며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후속 행정학 연구의 기준점으로 작용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8961059-FE81-D1DC-D4A7-4A368C22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004E0E6-D418-F93C-C360-A4B9B6EFB38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876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86CEE-6DDC-D066-5398-CD94448F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88200A-4639-3BCE-1B9F-BF26BA3E283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C0912-D3F9-0D5B-E5CB-F78B6C6AB2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297742-F2CE-4675-6BFE-52341BFD3D8A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44E28-CAAA-E22A-66CC-AAF674A68AE7}"/>
              </a:ext>
            </a:extLst>
          </p:cNvPr>
          <p:cNvSpPr txBox="1"/>
          <p:nvPr/>
        </p:nvSpPr>
        <p:spPr>
          <a:xfrm>
            <a:off x="1235998" y="757300"/>
            <a:ext cx="6011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물질적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이념적 배경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82C46E-0CEB-8DD5-3B22-8E2CC1BDCCCB}"/>
              </a:ext>
            </a:extLst>
          </p:cNvPr>
          <p:cNvSpPr txBox="1"/>
          <p:nvPr/>
        </p:nvSpPr>
        <p:spPr>
          <a:xfrm>
            <a:off x="1079999" y="1671814"/>
            <a:ext cx="10390741" cy="423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“‘위대한 사회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(Great Society)’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한 행정부의 규범적 슬로건이 되었으니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분명 업데이트가 필요하다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우리의 기업문명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(Our Business Civilization)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영향도 숙고하여 수정해야 한다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도시화는 너무 빠르게 진행되어 왔다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그래서 ‘도시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혁명’을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말해도 무방하다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자동화의 급속한 진전은 산업혁명 제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단계 목록에 반드시 추가해야 할 것이다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 연구와 교육은 현대 미국 사회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자동화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경제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반영 필요 → 적실성이 중요한 학문이기 때문에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기업화와 기술 발전이 행정에 미치는 영향을 평가할 필요가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설계와 조직 운영에서 환경적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이념적 배경 고려하는 것이 중요함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7541C55-13CD-AE90-8ED8-1A17AAEE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25F1030-7440-BD23-8A61-DA5BD6B822C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597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5B513-FCBA-0BB4-1FA7-3A35A41F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7381701-D201-F0F2-3262-EC97761BB5F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F5F18F-3267-BB42-C824-1C418A2856D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E751E-AF15-DE6B-55C1-45FA3E5EC762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D3FFB7-E21C-894F-A1F4-24798975BA4B}"/>
              </a:ext>
            </a:extLst>
          </p:cNvPr>
          <p:cNvSpPr txBox="1"/>
          <p:nvPr/>
        </p:nvSpPr>
        <p:spPr>
          <a:xfrm>
            <a:off x="1235998" y="757300"/>
            <a:ext cx="60119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운동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사람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,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모티프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F8DBA-0007-6D4E-B761-669B16C6915A}"/>
              </a:ext>
            </a:extLst>
          </p:cNvPr>
          <p:cNvSpPr txBox="1"/>
          <p:nvPr/>
        </p:nvSpPr>
        <p:spPr>
          <a:xfrm>
            <a:off x="1079999" y="1671814"/>
            <a:ext cx="10390741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“행정학 운동은 처음에는 ‘</a:t>
            </a:r>
            <a:r>
              <a:rPr lang="ko-KR" altLang="en-US" sz="20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행정법’에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더 주목하여 시작되었지만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1920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년대에 어느 정도 균열과 반발이 일어나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행정학이 반법률주의적 편향을 갖게 되었다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심리학 무지에 대한 나의 지적은 사실이었고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두 세대의 이론과 실천을 이해하는 데 중요했다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행정학의 발전은 역사적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맥락 속에서 이루어짐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초기 행정학 교육과 연구의 편향과 한계 분석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심리학적 요소 수용과 인간관계 연구의 영향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현대 행정학 연구와 교육에서 기존 편향을 재검토 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6881543-04D6-4D1F-35BA-2C2F43CA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8CC1FE6-4C4C-B882-C35C-43E1E737965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815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5842-C94A-1C39-CD70-917FE185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8D179F-E3A3-8546-CBC0-AB3FB4AD219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3CFA1A-8D99-3995-32F2-6209AC4D5DF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35AC49-4EB1-475E-7F12-4E3D3F1EE6F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DBC8F-0194-BF71-9551-0669E81F238F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계약정부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DE1AA-ED72-6B54-713F-94C7193A03B2}"/>
              </a:ext>
            </a:extLst>
          </p:cNvPr>
          <p:cNvSpPr txBox="1"/>
          <p:nvPr/>
        </p:nvSpPr>
        <p:spPr>
          <a:xfrm>
            <a:off x="1079999" y="1671814"/>
            <a:ext cx="10390741" cy="431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“‘계약을 통한 정부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(government-by-contract)’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혹은 ‘새 연방주의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(new federalism)’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발전을 들겠다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지난 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동안 가장 분명하고 의미심장한 전개 가운데 하나는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계약을 통한 정부의 확장이다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그것은 ‘기업처럼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(business-like)’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보이며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미국의 자유기업 이데올로기에 비교적 눈에 띄지 않게 맞아떨어진다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또한 여러 주의 각종 기관 및 대리인들과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특히 주립대학들과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조정도 그렇다</a:t>
            </a:r>
            <a:r>
              <a:rPr lang="en-US" altLang="ko-KR" sz="20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계약을 통한 정부 확장은 행정학 연구와 정책 집행에 큰 변화를 가져왔음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비영리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주립대 등 다양한 조직과 협력 구조의 등장도 마찬가지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조직과 정책 집행의 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 평가 방식이 변화하고 있음 → 행정가가 전략적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정책적 책임을 지는 새로운 패러다임으로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87504C4-8781-1D03-2141-4DD0BE19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73797DF-774A-9FBE-AE5E-E20365477F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42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A4D1-0F3B-A77F-7266-8885E060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C594D4-C063-927D-D5AD-7B71875E19D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390876-2EB5-B721-72B8-45190C8B994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6A1410-F4AF-1EBA-84F9-7BA9A8AAA8E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932A6-F3AF-BAEA-E643-44FBF211AB6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과학혁명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3D82BC-483C-549C-1BDE-C8C3E0FDB8BF}"/>
              </a:ext>
            </a:extLst>
          </p:cNvPr>
          <p:cNvSpPr txBox="1"/>
          <p:nvPr/>
        </p:nvSpPr>
        <p:spPr>
          <a:xfrm>
            <a:off x="1079999" y="1671814"/>
            <a:ext cx="10390741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“과학혁명에 의해 ‘손대지지 않은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것’은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앞으로도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없을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함의와 효과는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무엇을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하는지와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어떻게 하는지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즉 정부가 무엇을 하게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될지의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내용’과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그것이 어떻게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수행될지의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‘절차’ 모두에 미친다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개인과 집단 생활의 모든 측면으로 과학은 착수하는 바를 심대하게 바꿀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과학혁명은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운영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 절차 전반에 결정적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정부의 기능과 정책 목표 설정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절차적 운영 모두 재편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행정가와 학자는 과학적 접근과 혁신을 이해하고 실천에 반영해야 함 → 개인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수준에서 과학 기술 활용 능력이 행정 효율과 책임성에 직접적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3E5160A-FBDE-4C71-4221-E09DD2ECA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E3D2FEB-91BA-898C-8A6F-30C0C835713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903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2825-8801-0F46-DE56-A915584C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2414DC9-1CBB-E071-069F-3E763F97B23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509C18-53EA-9E06-FC45-F642A56B4C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7FF883-952A-4371-FB6E-C31545D75AA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CB976-A9BF-3A4F-B05C-56AA84B6AEB4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컴퓨터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·OR·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시뮬레이션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3A51D-69B2-7851-EA38-CEE72B17DB91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“본질적으로 그것은 혼성 덩어리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(conglomeration)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이론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조직현상이다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전개들에 대해 보다 광범위한 지식을 갖추어야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.”“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그렇지 않다면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역사에 의해 점점 더 비효율적이고 주변화될 것이 분명하다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컴퓨터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OR,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시뮬레이션 등 기술적 혁신을 행정에 통합해야 함 → 기술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 전문성 확보가 행정 혁신과 정책 효과성 결정적 요인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연구와 조직 운영에서 데이터와 기술 활용 능력 강화 필요 → 기술을 활용하지 않으면 행정은 비효율적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주변화 위험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5877581-EDDE-1894-E4C9-C9E3B568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854237A-6642-BB22-16E8-CD3785D926D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235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6D8E-F7FC-346F-74CE-B74843E2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B7B10-DB17-47C7-D232-DB13AC67C4C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6FB1F90-3DDF-5D7C-6C7C-F6C99D159D2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996759-4C1A-6725-ED13-DFC97317678E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660569-2F38-E836-6D1A-AAB3F38B29C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도시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광역 혁명</a:t>
            </a:r>
            <a:endParaRPr lang="en-US" altLang="ko-KR" sz="2800" dirty="0" err="1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CE1B2-CF06-A39C-C384-810E486A706A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“우리가 우리의 책임과 기회를 감당하고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관련성을 유지하며 뒤처지지 않으려면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‘도시주의자’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광역주의자’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혹은 적절한 다른 용어가 무엇이든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 학문과 전문직과의 관계는 문제의 핵심 가까이에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많은 문제들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규모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실체’의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성격 등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모학문인 정치학의 전통적 관심과 연결될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광역화는 행정학과 정책 설계의 필수 고려 사항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행정 연구와 실천에서 도시적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광역적 관점 통합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정책과 조직 운영에서 정치학과 사회과학적 연계 강조 → 분권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집권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정책결정과 참여구조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 새로운 문제들은 기존 정치학의 관심 대상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25958C-A614-03F3-2333-A0062B356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C2E4064-7E16-7EBB-FD63-DA2BF7285A6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772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5511-3BC0-5684-BD69-7763DD6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1872919-28D0-DB3B-F09E-12FF5518B11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0718E5-FFD2-B994-457C-54BD7E84F1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6780A0-4906-C1A2-5207-B8E2495027A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D5E8BC-708C-FFAB-90A9-5242D0B17CE6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능률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: 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수단인가 목적인가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25C0C-9216-6DEB-ADEF-2AA5BF341E5D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“개인 수준에서 보면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‘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 전치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(goal displacement)’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의해 수단적 가치로 출발한 것이 가치 그 자체가 되어버릴 수 있음이 이제 분명하다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 수준에서도 마찬가지다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어떤 사회가 능률을 그 수단적 가치 때문에 열심히 배양하다 보면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시간이 흐르고 중요하게 그것은 가치 그 자체가 될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능률은 단순 수단이 아니라 사회적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정치적 가치와 연결되어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목표 전치 현상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(goal displacement)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수단이 본래 목적을 대체하는 것은 당연한 것일 수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다만 개인적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조직적 수준에서 능률의 의미와 영향 차이를 이해해야 함 → 행정 실천과 정책 설계에서 객관성과 가치 판단을 모두 고려할 필요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endParaRPr lang="en-US" altLang="ko-KR" sz="2400" b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E3B067-2146-B6F1-3880-C35240A7F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9375AF-9073-BDBD-BC4C-6750CAFBD0D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41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D80FB-96E6-3EEF-106E-D5987B336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41A375-16A0-5198-0811-AD26EA531CD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7812A6-0340-B183-29E2-3BCF0DB8269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72C2-77E3-3978-A51F-3E1D9F367B0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57C49-EC34-A8AA-87D0-6B14093DD1F9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도구의 중립성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6F31C6-B60E-FD30-FD6C-5777E1E1B5E9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“‘도구의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중립성’은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여전히 곰곰이 생각하는 문제이다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예로 든 타자기는 이 문제를 잘 보여 준다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도구는 유사한 조건에서 유사한 능률을 가진다는 것이 사실인 듯하다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이는 서구적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관료적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참조틀을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전제하는 것은 아닌가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기술과 도구는 문화적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조직적 맥락과 결합되어 행정에 영향을 미치는 것이지 단순히 도구의 효율성만으로 행정을 평가할 수 없음을 시사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글로벌 행정 적용 시 문화적 적합성과 가치 차이를 고려해야 함 → 기술과 정책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구조 간의 상호작용을 분석할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E848FC7-6CBC-62DA-0539-8DC61B9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C6DAC0-4344-37EA-931C-E6DEFB5CA6A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334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ACE0E-ECA5-A9F6-3A78-6F7D12C9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267BBF1-5022-9A52-AAF5-14A756BF28A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002B4-0508-DD5F-C77B-BAE8E724F9B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D9D5D3-2528-E72A-833C-32450F4F96B2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99601-DFDA-0E08-751A-64DB773FC95C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행정원리와 격언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171BD-191C-C5D6-34DC-F6F5E23F7A34}"/>
              </a:ext>
            </a:extLst>
          </p:cNvPr>
          <p:cNvSpPr txBox="1"/>
          <p:nvPr/>
        </p:nvSpPr>
        <p:spPr>
          <a:xfrm>
            <a:off x="1079999" y="1671814"/>
            <a:ext cx="10390741" cy="40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“‘원리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(principles)’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사실 ‘격언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(proverbs)’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지나지 않는다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뒤로 물러나 선입견 없는 새로운 시각으로 현상을 다시 보고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주의 깊게 관찰하며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새로운 출발에서 조심스럽게 나아가야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오래된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원리’들을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가르치면서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그것들을 한껏 보정하고 비판하면서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불확실하게 흔들렸다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언젠가 성취될 ‘약속의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땅’을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바라보았다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그곳의 ‘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원리’는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규범적 훈계가 아니라 기술적 일반화일 터였다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전통적 행정 원리는 규범적 훈계보다 경험적 일반화 중심으로 재해석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오래된 원리들을 교육하고 비판하며 실제 행정 실천과 연결 → 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조직적 일반화를 통해 원리의 실용적 적용 가능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D8713E-4C46-112C-8712-EE854264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812B06D-2C89-5264-6CB7-E0C9D46E2BF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272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7AD03-9DCC-11ED-8F79-652A065C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96C124-A435-2767-8B15-46CAE7E449C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00A93-B17D-3A7A-3A7B-98EB085E650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16B5A5-19D6-6C1E-4A6F-548BFFF6EDE0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21FF2-3EBF-8817-BD9B-9FAEF70C0463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일반적 관점의 필요성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2A5A91-4932-1A5D-130F-F3E12AD18E93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“환경적 도전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지적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교의적 문제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문제로 나눌 수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계약을 통한 정부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군의 성장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과학혁명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컴퓨터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·OR·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시뮬레이션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광역혁명 등은 모두 고려되어야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 연구는 환경적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교의적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제도적 관점에서 다층적 접근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설계 및 조직 운영에서 변화하는 외부 조건 반영 필수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행정가와 학자는 새로운 환경에 대한 민감성과 이해력을 갖춰야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다양한 혁신 요소가 될 수 있는 환경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계약정부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과학혁명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도시화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 행정 실천과 연구에 적용되어야 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DBC322-1FD1-5DB0-6821-4C721ABD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31313A9-9A3D-A1ED-085F-F5DC0DDE39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424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61193-BE04-23A0-559F-028C9ECD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6FBE534-0C13-209B-F95B-BBE876DA7891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392EB8-DE7B-66B7-647E-25A293308E21}"/>
              </a:ext>
            </a:extLst>
          </p:cNvPr>
          <p:cNvSpPr/>
          <p:nvPr/>
        </p:nvSpPr>
        <p:spPr>
          <a:xfrm>
            <a:off x="395860" y="720000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BEF440-C8F6-02CB-65B2-9DDB75EA6713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E8AABD-E752-9733-1DE2-7B37418BF4E7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지적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·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교의적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8B596-279B-4427-9E7E-16C98127BA46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“논리실증주의의 사실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 이분법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행정의 원리에 관한 관념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경험적 일반화에 대한 재검토가 필요하다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특정 경험에서 도출된 일반화들을 특정 유형과 범주의 목표 달성에 연계시키는 일이다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논리실증주의와 행정 원리의 적용 및 한계를 평가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경험적 일반화를 행정 목표와 조직 목표에 연결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과학적 접근과 행정 실천의 균형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가치 판단을 고려한 행정 연구 설계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0AD68D-1F40-2BA2-9529-035160034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686A400-2878-67E7-23D6-B9AE59790B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791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374DA-52AA-9947-67C5-F54D73E9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1DB1550-991D-A3C7-0A6F-43309AF76AB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CAB8AE-4915-9A03-679E-0F13644FD46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55EE2E-B071-1331-A924-4F3082839717}"/>
              </a:ext>
            </a:extLst>
          </p:cNvPr>
          <p:cNvSpPr txBox="1"/>
          <p:nvPr/>
        </p:nvSpPr>
        <p:spPr>
          <a:xfrm>
            <a:off x="359999" y="722826"/>
            <a:ext cx="64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E0CAC-741B-EC92-F680-A5F269CD3FAB}"/>
              </a:ext>
            </a:extLst>
          </p:cNvPr>
          <p:cNvSpPr txBox="1"/>
          <p:nvPr/>
        </p:nvSpPr>
        <p:spPr>
          <a:xfrm>
            <a:off x="1235999" y="757300"/>
            <a:ext cx="656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제도적 문제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FAB726-F96C-9C72-9585-25622F20B43F}"/>
              </a:ext>
            </a:extLst>
          </p:cNvPr>
          <p:cNvSpPr txBox="1"/>
          <p:nvPr/>
        </p:nvSpPr>
        <p:spPr>
          <a:xfrm>
            <a:off x="1079999" y="1671814"/>
            <a:ext cx="1039074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“행정학은 데이터 묶음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 집합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또 다른 분과의 관점을 ‘받아들이는’ 방식으로 성장해 왔다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정체되어 </a:t>
            </a:r>
            <a:r>
              <a:rPr lang="ko-KR" altLang="en-US" sz="2400" i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있기는커녕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매우 역동적이다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새로운 종합은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전문직적 관점과 학문적 자료 통합을 기반으로 성장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다층적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분과적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구조 속에서도 새로운 종합 형성은 제한적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 학문과 전문직 통합을 통한 학문적 발전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 교육과 정책 설계에서 전문성과 실천적 이해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E766AB9-376E-A840-6222-AC106990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405B6B-5651-187A-5D34-4CDDCF95E8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11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4508</TotalTime>
  <Words>1595</Words>
  <Application>Microsoft Office PowerPoint</Application>
  <PresentationFormat>와이드스크린</PresentationFormat>
  <Paragraphs>99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898</cp:revision>
  <dcterms:created xsi:type="dcterms:W3CDTF">2025-03-10T02:54:00Z</dcterms:created>
  <dcterms:modified xsi:type="dcterms:W3CDTF">2025-11-16T07:37:33Z</dcterms:modified>
</cp:coreProperties>
</file>