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324" r:id="rId4"/>
    <p:sldId id="334" r:id="rId5"/>
    <p:sldId id="323" r:id="rId6"/>
    <p:sldId id="314" r:id="rId7"/>
    <p:sldId id="315" r:id="rId8"/>
    <p:sldId id="330" r:id="rId9"/>
    <p:sldId id="329" r:id="rId10"/>
    <p:sldId id="316" r:id="rId11"/>
    <p:sldId id="331" r:id="rId12"/>
    <p:sldId id="326" r:id="rId13"/>
    <p:sldId id="328" r:id="rId14"/>
    <p:sldId id="327" r:id="rId15"/>
    <p:sldId id="335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97" d="100"/>
          <a:sy n="97" d="100"/>
        </p:scale>
        <p:origin x="4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로버트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K.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머튼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머튼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(1910~2003)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현대 사회학의 창시자로서 과학사회학의 대중화에 기여함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중범위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자기실현적 예언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준거집단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역할갈등 등 주요 개념을 정립함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콜롬비아대 응용사회연구소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(BASR)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축으로 실증주의적 이론화 전통 확립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7A821808-08CC-0B5A-B304-E849EE419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751" y="1748362"/>
            <a:ext cx="23812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로버트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K.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머튼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중범위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거대이론과 단편적 경험주의 사이의 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 연계를 강화하는 설계도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구체적 사회현상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참조집단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사회이동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역할갈등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검증가능한 중간수준 명제들로 누적적 지식을 지향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기능분석의 재구성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잠재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기능’과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역기능’을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도입해 기능주의의 순기능 편향을 교정하고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행위 동기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구분하는 분석틀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예상하지 않은 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의도적 행위가 예기치 못한 결과를 낳는 메커니즘을 유형화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지식의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상반 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장기 효과의 괴리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정책의 부작용 분석의 원형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9EB-C508-CBC3-A40E-FDEAEF11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77E2DF-2BFE-199A-764E-AC047FED3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58E36-AEBE-77B4-546D-FF6330E626F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07C3-AD88-11E8-2513-9D9040F2CF2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84D32E-4F6F-5A72-19C9-B9A48B2AEC3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로버트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K.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머튼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909C-BB21-4FF6-42FF-E4A43AF262FF}"/>
              </a:ext>
            </a:extLst>
          </p:cNvPr>
          <p:cNvSpPr txBox="1"/>
          <p:nvPr/>
        </p:nvSpPr>
        <p:spPr>
          <a:xfrm>
            <a:off x="1079999" y="1671814"/>
            <a:ext cx="10390741" cy="429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자기실현적 예언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(Self-Fulfilling Prophecy):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잘못된 신념이라도 공적 정의와 행위의 연쇄를 통해 현실화될 수 있음을 논증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은행도산 공황 사례 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잠재 기능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역기능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제도의 표면적 목표와 잠재적 효과를 분리 분석하여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비합리적으로 보이는 관행도 잠재 기능을 통해 설명 가능함을 제시</a:t>
            </a:r>
            <a:endParaRPr lang="en-US" altLang="ko-KR" sz="22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관료제와 성격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규칙준수의 감정화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목표대치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형식주의 등 관료제 병리를 구조적으로 설명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이상형의 역기능 분석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준거집단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개인이 동일시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비교하는 준거집단 개념을 정교화하고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하나의 지위에 얽힌 다수의 상호기대망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역할집합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규범조정의 문제로 제시</a:t>
            </a:r>
            <a:endParaRPr lang="en-US" altLang="ko-KR" sz="22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961059-FE81-D1DC-D4A7-4A368C22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4E0E6-D418-F93C-C360-A4B9B6EFB3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베버의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이상형과 역기능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 조직의 긍정적 성취와 기능이 강조되고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그러한 구조의 내부적 긴장과 갈등은 거의 전적으로 간과된다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일반 사회는 ‘끔찍한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혼종’인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관료’가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독일어로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경멸어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Schimpfwort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되었음을 시사하듯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관료제의 결함을 분명히 강조한다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이상형을 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역기능의 양면성 틀로 재검토하여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 내부의 긴장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갈등을 분석 대상으로 전환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형식주의와 같은 현상은 개인 일탈이 아니라 구조적 결과로 이해해야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효율에 의한 관리는 이러한 구조적 문제에 대응하기 충분하지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않으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형식조직의 이상형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“위계적으로 배열된 권한 구조 안에서 ‘훈련되고 급여를 받는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전문가들’의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활동은 일반적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추상적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명확히 규정된 규칙에 의해 지배되며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규칙의 일반성은 지속적 범주화의 사용을 요구하며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통해 개별 문제와 사례는 지정된 기준에 따라 분류되고 그에 상응하여 처리된다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비인격적 권한과 일반규칙은 예측가능성과 마찰 최소화를 보장하지만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자격에 기초한 규칙은 개별 사례의 특수성을 약화시키며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범주화에 의한 처리 경향을 강화 → 사안의 특수성에 대한 고려가 미흡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기술적 효율성의 장점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—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그리고 그림자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“관료제는 정책에 대한 공적 논의가 있을 수는 있어도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기술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공적 논의를 거의 완전히 회피하는 행정이다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‘관료적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비밀주의’는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귀중한 정보를 경제적 경쟁자나 외국의 잠재적 적대 정치집단으로부터 지키기 위해 필요하다고 여겨진다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기법의 공개적 논쟁 회피는 성과 검증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학습의 경로를 축소할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“효율성의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제도화”가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투명성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책임성과 상충하는 정책 딜레마를 낳음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현대의 알고리즘 행정에서는 설명가능성 결여로 정당성 리스크가 증폭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위험 기반 차등공개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독립기구 조건부 열람 등 계층형 투명성이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역기능 분석의 철학적 토대</a:t>
            </a:r>
            <a:endParaRPr lang="en-US" altLang="ko-KR" sz="2800" dirty="0" err="1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“관료제의 부정적 측면에 대한 연구로의 전환은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베블런의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‘훈련된 무능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(trained incapacity)’,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듀이의 ‘직업적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정신증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(occupational psychosis)’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개념을 적용함으로써 가능해진다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과거에 유효했던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습관이 환경 변화에서 역기능으로 전환되는 메커니즘을 개념화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직업적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정신증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루틴이 인지적 편향을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구조화하여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판단의 범위를 협소화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‘습관화된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적응 실패를 낳는 경로를 개념화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훈련된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무능’의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작동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“과거에 성공적으로 적용되었던 훈련과 기술에 근거한 행위가 변화된 조건에서는 부적절한 반응을 초래할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 적용의 유연성이 부족하면 변화하는 환경에서 다소 심각한 부적응으로 이어진다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이에 관해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버크가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사용한 농장 비유를 빌리자면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닭들은 종소리를 먹이 신호로 쉽게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조건화될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동일한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절차의 반복 준수가 새로운 맥락에서는 오판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과잉 규범준수로 귀결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 불확실성 하에서 정형화된 절차 준수는 정보탐색과 예외처리를 위축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 단계에서의 신속한 전환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완충장치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실험적 허용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필요성을 시사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규율의 정서화와 ‘안전 여유’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“규율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정서가 관료에게 부과하는 규범적 의무 준수 압력에는 이른바 안전 여유가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바로 이러한 강조는 정서를 조직의 목표로부터 규칙이 요구하는 특정한 행위의 세부로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전이시키게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규율을 보장하려는 ‘과잉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안전계수’가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규칙 절대화로 치환되어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 전도를 유발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과도한 규범 압력은 위험 회피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 회피의 행태를 강화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 강도와 상황 적응성의 조화가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목표 대치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(Goal Displacement)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“‘수단적 가치가 종국적 가치로 전치되는’ 친숙한 목표 전치 과정이 발생한다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경직성과 신속한 적응의 결여로 발전한다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 준수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성과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대체하며 형식주의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의례주의가 심화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지표 중심 평가체계는 조직의 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노력을 측정가능한 항목으로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편향시키게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문자적 규정 준수는 공정성과 합목적성을 저해하는 경우가 많음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예외에 대한 성과지표를 도입하여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프레임을 교정할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AD03-9DCC-11ED-8F79-652A065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96C124-A435-2767-8B15-46CAE7E449C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00A93-B17D-3A7A-3A7B-98EB085E65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6B5A5-19D6-6C1E-4A6F-548BFFF6ED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1FF2-3EBF-8817-BD9B-9FAEF70C046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‘관료적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거장’의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역설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A5A91-4932-1A5D-130F-F3E12AD18E93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“목표 전치의 극단적 산물은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민원을 도울 수 없게 되는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관료적 거장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(virtuoso)’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“노동부의 판정에 따르면 번트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발첸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시민권 서류를 받을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미국 내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연속 거주 조건을 충족하지 못한 것으로 판단되었다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귀화국의 관점에서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발첸은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국외에 있었고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형식적으로 귀화법을 준수하지 못했다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절차의 기계적 적용은 특수사정을 고려한 합목적적 판단을 차단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 검토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 규정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 재량의 합리적 통로 설계가 필수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DBC322-1FD1-5DB0-6821-4C721ABD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1313A9-9A3D-A1ED-085F-F5DC0DDE39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2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1193-BE04-23A0-559F-028C9ECD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FBE534-0C13-209B-F95B-BBE876DA78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2EB8-DE7B-66B7-647E-25A293308E21}"/>
              </a:ext>
            </a:extLst>
          </p:cNvPr>
          <p:cNvSpPr/>
          <p:nvPr/>
        </p:nvSpPr>
        <p:spPr>
          <a:xfrm>
            <a:off x="395860" y="720000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EF440-C8F6-02CB-65B2-9DDB75EA671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AABD-E752-9733-1DE2-7B37418BF4E7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상징화와 성화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聖化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): 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겉보기에는 세속적’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8B596-279B-4427-9E7E-16C98127BA46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“처음에는 기술적 이유로 도입된 일부 관료 규범들이 경직화되고 성스러워지는 경향을 관찰할 수 있는데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뒤르켐의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말대로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그것들은 ‘겉보기에는 세속적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en-US" altLang="ko-KR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laïque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en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apparence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 규범이 ‘도덕적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금기’로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성화되면서 비판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수정의 가능성이 축소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규범의 상징화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내부 정체성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자긍심을 강화하나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정당성과 경직의 원천으로 작용하여 혁신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개혁과 상충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제도유지의 상징자본을 보존하면서 개선 여지를 확보하는 ‘점진적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개혁’이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요구됨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0AD68D-1F40-2BA2-9529-03516003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86A400-2878-67E7-23D6-B9AE59790B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91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74DA-52AA-9947-67C5-F54D73E9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DB1550-991D-A3C7-0A6F-43309AF76A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AB8AE-4915-9A03-679E-0F13644FD4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5EE2E-B071-1331-A924-4F308283971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0CAC-741B-EC92-F680-A5F269CD3FAB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비인격성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범주화와 시민과의 충돌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AB726-F96C-9C72-9585-25622F20B43F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“관계의 비개인화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추상적 규칙이 지배적 역할을 함으로써 생겨나는 범주화 경향과 더불어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관료가 대중 또는 민원인과 접촉할 때 갈등을 낳기 쉽다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개별성의 소거는 시민의 ‘사례 특수성’ 기대와 충돌하여 정당성 위기를 초래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표준화는 형평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예측가능성을 높이지만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사안별 변동성에 둔감하게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공공조직의 독점 구조는 이러한 문제를 더욱 심각하게 만듦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절차적 중립성과 맞춤형 대응 간 ‘규범적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균형’을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설계해야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766AB9-376E-A840-6222-AC106990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05B6B-5651-187A-5D34-4CDDCF95E8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18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560E-8A3B-E457-46F8-0B04AA86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0198B8C-D1FB-365C-F217-DCFD540AEED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07A6C7-A2B6-35D8-45A3-577FB3252A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7785D-1DE9-41E9-62D8-0AAE1AAF013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8C417-99DD-796C-3341-405AA7E9F96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관료제의 </a:t>
            </a:r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내생적 역기능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메커니즘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862CA9-BBF1-8541-6C61-483ADEABF49C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효과적인 관료제는 반응의 신뢰성과 규정에 대한 엄격한 헌신을 요구한다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(2)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그러한 규칙에의 헌신은 규칙을 절대적인 것으로 변형시키며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(3)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일반 규칙을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신속한 적응을 방해한다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규범강도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예외의 최적 구간 탐색이 핵심 설계 원칙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경로지표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 승인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반려 사유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재심률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처리시간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목표 대치를 조기 탐지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(ex ante)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예외 설계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사후 학습 루프를 결합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5D5AD0C-7BB2-AD88-9297-F822CE82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F0A6B72-E5D3-F7B8-04CA-59C6EC350EB4}"/>
              </a:ext>
            </a:extLst>
          </p:cNvPr>
          <p:cNvCxnSpPr>
            <a:cxnSpLocks/>
          </p:cNvCxnSpPr>
          <p:nvPr/>
        </p:nvCxnSpPr>
        <p:spPr>
          <a:xfrm flipV="1">
            <a:off x="360000" y="61006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796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</TotalTime>
  <Words>1163</Words>
  <Application>Microsoft Office PowerPoint</Application>
  <PresentationFormat>와이드스크린</PresentationFormat>
  <Paragraphs>88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720</cp:revision>
  <dcterms:created xsi:type="dcterms:W3CDTF">2025-03-10T02:54:00Z</dcterms:created>
  <dcterms:modified xsi:type="dcterms:W3CDTF">2025-11-08T11:04:25Z</dcterms:modified>
</cp:coreProperties>
</file>